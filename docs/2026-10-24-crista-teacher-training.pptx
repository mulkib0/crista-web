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선생님들. 오늘 연수에서는 학생들이 모둠별로 바이오 스타트업을 세우고, 실제 단백질 구조와 화합물 데이터를 다루며 표적 발굴부터 식약처·FDA 신약 허가까지 밟아 나가는 수업 플랫폼 'CRISTA 파이프라인 랩'을 처음부터 끝까지 살펴보겠습니다.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교실에서 신약 개발이나 생명공학 탐구를 해 보면 늘 비슷한 고민이 생깁니다. 인터넷 검색 발표로 끝나거나, 컴퓨터 한 대를 한 명만 만지거나, 아무 숫자나 찍어서 통과하는 게임이 되기 쉽습니다. 이 플랫폼은 학생 전원이 자기 화면에서 직접 데이터를 읽고 근거를 대야만 모둠이 앞으로 나아갈 수 있도록 설계했습니다.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학생들에게도 첫 시간에 보여 주는 신약 개발 전체 그림입니다. 약국에 있는 알약 하나가 나오려면 만 개의 후보 물질 중 가망 없는 것들을 단계마다 깎아 내는 깔때기를 지나야 합니다. 발견, 최적화, 전임상과 규제, 그리고 임상 1·2·3상까지 이어지는 이 네 묶음이 그대로 수업 화면의 왼쪽 메뉴가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교실 전체가 하나의 작은 바이오 시장이 됩니다. 모둠마다 회사를 세우면 화면 위쪽 검은색 LED 전광판에 다른 모둠의 성공과 실패 소식이 실시간으로 흐릅니다. 하지만 다른 모둠이 어떤 분자를 쓰는지, 연구 노트에 무엇을 적었는지는 비공개라서 베낄 수 없고, 오직 등록된 물질특허만 실제 특허청처럼 공개 원장에 올라옵니다.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선생님들께서 가장 궁금해하시는 부분입니다. 화면에 나오는 숫자는 임의로 만든 게임 숫자가 아닙니다. 1.1 단계의 질병-표적 점수는 유럽생물정보연구소의 Open Targets 데이터이고, 단백질 구조는 PDB에 등록된 실제 결정구조입니다. 학생들이 분자 구조를 고치면 오픈소스 화학 엔진인 RDKit이 즉시 분자량과 극성 표면적, 독성 위험 작용기를 계산해 돌려줍니다.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단계에서 도킹 버튼을 누르면 실제 연구실에서 가장 널리 쓰는 AutoDock Vina가 돌아가면서 결합 자유 에너지 델타 G를 구하고, PLIP이 어느 아미노산과 수소 결합을 했는지 찍어 줍니다. 이어서 2.2 단계에서는 그래프 신경망 기반의 ADMET-AI와 물성 신호로 간독성과 심장 독성을 점검하고, 3단계부터는 서버 규칙과 AI 심사관이 학생들의 서류를 심사합니다.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과학 선생님들께서 꼭 물어보시는 질문입니다. "노벨상 받은 알파폴드는 왜 없나요?" 답은 명확합니다. 우리가 다루는 타이레놀, 타미플루, 표적항암제 같은 저분자 합성신약은 이미 표적 단백질에 실제 약이 꽂힌 실측 X선 결정구조가 PDB에 있습니다. 실물 정밀 사진이 있는데 굳이 약물이 안 꽂힌 상태로 예측한 알파폴드 구조를 쓰면 오히려 결합 주머니가 닫혀 있어서 도킹이 부정확해집니다. 반대로 세상에 없던 새 단백질 서열을 만드는 '항체 신약'에서는 알파폴드가 꼭 필요하며, 이는 ProteinMPNN과 AlphaFold-Multimer를 묶은 두 번째 심화 트랙으로 준비되어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학교 현장에서 가장 큰 걸림돌이 학생 이메일 인증과 프로그램 설치입니다. 여기서는 선생님이 칠판에 적어 주신 여섯 자리 학급 코드만 치면 가입이 끝납니다. 가입 직후 2D 픽셀 거리인 사옥 지구에서 친구들과 만나 우리 제약회사 이름과 주식 티커를 등기하면 곧바로 연구실 화면이 열립니다.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사옥 지구는 조작 실력으로 경쟁하는 게임 맵이 아닙니다. 모든 실험과 서류 제출은 다음 슬라이드의 작업 화면에서 차분히 진행하고, 사옥 지구는 우리 모둠의 사옥이 Series A 투자와 신약 허가를 거치며 작은 건물에서 큰 본사 빌딩으로 자라나는 모습을 눈으로 확인하는 공간입니다.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작업 화면은 크게 위쪽의 LED 전광판과 아래쪽의 네 개 둥근 섬으로 나뉩니다. 특히 작업 영역을 왼쪽 '내 작업대 섬'과 오른쪽 '모둠 공유 섬'으로 칼같이 나눈 것이 핵심입니다. 왼쪽에서 내가 슬라이더를 움직이거나 분자 구조를 고쳐도 친구 화면이 흔들리지 않고, 내가 '제안하기'나 '도킹 실행'을 눌러야만 오른쪽 모둠 공유 섬에 내 이름과 직책 배지를 달고 올라갑니다.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모둠원 네 명이 각자 노트북이나 태블릿을 펴고 앉았을 때, 네 명 모두 매 순간 자기 할 일이 있습니다. 1.1에서는 네 개 질환군을 한 명씩 맡고, 1.2에서는 여섯 개 안건에 각자 제안을 올리고 투표하며, 2.1과 2.2에서는 자기 담당 분자를 도킹하고 다듬습니다. 3단계 서류 작업이나 연구 노트도 칸마다 따로 저장되기 때문에 네 명이 동시에 타이핑해도 서로의 글이 지워지지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아홉 단계 전체의 입력과 산출물, 비용표입니다. 지금부터 각 단계에서 학생들이 구체적으로 어떤 도구를 보고 무엇을 배우는지 차례대로 살펴보겠습니다.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질환이 네 개뿐이면 여덟 개 모둠이 모두 같은 병에 몰립니다. 그래서 신경계, 항암, 대사·심혈관, 면역·호흡기 네 개 질환군에 세 개씩 총 12개 질환과 표적을 준비했습니다. 신경계 질환을 고르면 뇌혈관장벽(BBB)을 넘어야 해서 분자 극성(TPSA) 기준이 까다로워지고, 당뇨나 고지혈증처럼 평생 먹는 만성 질환을 고르면 독성 기준이 중요해지는 식으로 질환마다 이후 단계의 전략이 달라집니다.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단계의 핵심 학습 목표는 '기준(컷오프)을 세우는 데는 대가가 따른다'는 것을 깨닫게 하는 것입니다. 학생들은 왼쪽 내 작업대의 '기준 설계실'과 '화학 공간 울타리'에서 기준선을 움직여 보며, 이 표적에 실제로 듣는다고 알려진 약 계열 12개가 내 기준에서 몇 개나 살아남는지(농축도)를 확인합니다. 그다음 근거를 골라 모둠에 제안하고 과반수 찬성 도장을 받아야만 스크리닝 실행 버튼이 열립니다.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합의한 기준으로 스크리닝을 돌리면 220개 분자가 여섯 개 관문을 지나며 몇 개씩 떨어져 나갔는지 막대그래프로 나옵니다. 이어서 통과한 분자만 진열된 쇼핑 화면에서 각자 두 개씩 후보를 찜하는데, 아무 이유나 눌러서 담을 수 없습니다. 분자의 실제 수치와 학생이 고른 근거가 어긋나면 서버가 왜 틀렸는지 설명하며 막아 줍니다.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단계에서는 도킹 숫자가 나왔다고 끝이 아닙니다. '수심계 눈금'과 '10배 계단' 도구로 기준 약보다 얼마나 더 강한지 약리학적 배수로 읽어 내고, '점수 카드'를 통해 도킹 점수만 높고 원래 다른 질병 약이거나 이미 시판되어 특허를 못 받는 물질을 구분해 냅니다. 그리고 작용기를 살짝 바꾼 변형체를 만들어 재도킹해 본 뒤, 진짜 유망한 분자만 2.2 대기열에 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결합력이 아무리 좋아도 장에서 흡수가 안 되거나 심장 칼륨 통로(hERG)를 막아 부정맥을 일으키면 약이 될 수 없습니다. 학생들은 네 가지 시각 도구로 자기 분자가 몸속 어디서 점수를 잃는지 확인하고, 모둠원 한 명당 하나씩 최대 네 개의 특허 후보를 추천합니다.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단계에서는 실제 제약사처럼 우리 신약 후보에 SEUM-101 같은 공식 코드명을 부여하고 특허 명세서를 씁니다. 여기서 아주 재미있는 학급 경쟁이 벌어집니다. 시판 약을 그대로 내면 신규성이 없다고 거절당하고, 다른 모둠과 똑같은 변형체를 냈다면 1초라도 먼저 심사를 통과한 모둠만 학급 특허 원장에 등록됩니다. 또한 도킹 점수가 기준 약보다 약한데 명세서에 '기준 약보다 강하다'고 거짓으로 쓰면 AI 심사관이 앞뒤가 맞지 않는다며 보완을 요구합니다.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생명과학 수업에서 절대 빼놓을 수 없는 동물실험 윤리 단계입니다. 동물보호법 제47조에 따라, 모둠에서 동물실험 실행 버튼을 누를 학생은 반드시 3R 원칙과 고통등급, 인도적 종료시점 교육을 이수해야 합니다. 또한 계획서에 '법이라서 한다'고 대충 적거나, 마릿수를 근거 없이 '많이'로 고르면 동물실험윤리위원회 심사에서 보완 판정을 받아 실험을 시작할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학생들은 깊은 과학적·윤리적 딜레마를 숫자로 겪습니다. 동물을 아끼겠다고 마릿수를 무조건 '적게(46마리)'로 줄이면, 독성 데이터의 불확실성이 커져서 사람에게 처음 투여할 때 나누는 안전계수를 10이 아니라 20으로 높여야 합니다. 그러면 다음 단계에서 사람에게 쓸 수 있는 최대 시작 용량(MRSD)이 반토막 나서 약효가 부족해질 수 있습니다. 왜 '통계적으로 신뢰할 수 있는 최소한의 마릿수(알맞게, 82마리)'가 윤리적이면서도 과학적인지 스스로 계산하며 깨닫게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단계는 전임상 데이터를 가지고 식약처나 FDA에 '임상시험 계획 승인 신청서(IND)'를 내는 단계입니다. 학생들은 여섯 가지 시뮬레이션 도구로 알약, 정맥 주사, 붙이는 패치 중 무엇이 좋을지, 용량을 10mg으로 할지 50mg으로 할지 실험합니다. 이때 3.2 동물실험에서 구한 MRSD보다 높은 용량을 적어 내거나, 동물실험에서 간 수치 상승 소견이 있었는데 신청서에 '독성 없음'이라고 적으면 심사에서 바로 보완 판정을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많은 학생이 IND만 승인되면 무조건 신약이 되는 줄 알지만, 실제 임상 1상의 안전 기준은 IND보다 더 높고 임상에는 작은 변동성도 따릅니다. 만약 1상에서 독성으로 보류가 뜨거나 2상에서 약효 부족으로 보류가 뜨더라도 게임 오버가 아닙니다. 용량을 낮추거나, 정맥 주사를 경구제·패치제로 바꾸거나, 3.2에서 아껴 둔 백업 후보 물질로 갈아타서 다시 도전할 수 있습니다. 왜 제약사들이 백업 후보를 함께 키우는지 몸소 배우게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수업 중에 어떤 모둠이 도킹을 너무 많이 돌려서 연구비가 0원이 되면 그 모둠은 수업 끝날 때까지 가만히 있어야 합니다. 또 모든 모둠이 선생님께 와서 '투자 승인해 주세요'라고 줄을 서면 선생님이 수업을 진행하실 수 없습니다. 그래서 이 플랫폼은 모둠원이 참여하고 연구 노트를 나눠 쓸수록 연구비가 자동으로 충전되고, Series A·B 대규모 투자금도 서버가 4인 데이터와 노트를 채점해 즉시 입금해 줍니다.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학교에 AI를 도입할 때 선생님들께서 가장 걱정하시는 두 가지가 'AI가 학생마다 기준 없이 다르게 채점하면 어떡하나'와 '학생이 이상한 말을 넣거나 부적절한 대화가 오가면 어떡하나'입니다. 여기서는 학생과 AI가 자유롭게 채팅하는 창 자체가 없습니다. 숫자와 중복 여부는 100% 서버 코드가 판정하고, AI는 정해진 서류 칸에 대해 80자 이내의 보완 지적만 JSON 규격으로 돌려줍니다. 학생 실명도 외부로 나가지 않으며, 최종 결정권은 언제나 교사 대시보드에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선생님 화면에서는 학급 시계를 멈추거나 빠르게 돌릴 수 있습니다. 예를 들어 1.2 기준 회의가 끝났을 때 시계를 잠깐 일시정지하고 각 모둠이 왜 그렇게 기준을 잡았는지 3분간 들어 본 뒤 다시 시계를 돌리면 수업 집중도가 크게 올라갑니다. 또한 3.2 단계가 끝났을 때 교사 화면에 집계되는 '우리 반 전체가 사용한 실험동물 마릿수 합계'를 칠판에 띄우면 더할 나위 없이 생생한 생명윤리 토론 수업이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백 번 듣는 것보다 한 번 직접 눌러 보실 차례입니다. 옆에 계신 선생님 네 분씩 한 모둠이 되어 칠판에 적힌 여섯 자리 학급 코드로 접속해 주십시오. 사옥 이름을 짓는 순간 전광판에 선생님들 회사 이름이 떠오르는 것부터 바로 시작해 보겠습니다.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41413"/>
          </a:solidFill>
          <a:ln>
            <a:noFill/>
          </a:ln>
        </p:spPr>
        <p:txBody>
          <a:bodyPr rtlCol="0" anchor="ctr"/>
          <a:lstStyle/>
          <a:p>
            <a:pPr algn="ctr"/>
          </a:p>
        </p:txBody>
      </p:sp>
      <p:sp>
        <p:nvSpPr>
          <p:cNvPr id="3" name="Oval 2"/>
          <p:cNvSpPr/>
          <p:nvPr/>
        </p:nvSpPr>
        <p:spPr>
          <a:xfrm>
            <a:off x="566928" y="283464"/>
            <a:ext cx="100584" cy="100584"/>
          </a:xfrm>
          <a:prstGeom prst="ellipse">
            <a:avLst/>
          </a:prstGeom>
          <a:solidFill>
            <a:srgbClr val="FF6B4A"/>
          </a:solidFill>
          <a:ln>
            <a:noFill/>
          </a:ln>
        </p:spPr>
        <p:txBody>
          <a:bodyPr rtlCol="0" anchor="ctr"/>
          <a:lstStyle/>
          <a:p>
            <a:pPr algn="ctr"/>
          </a:p>
        </p:txBody>
      </p:sp>
      <p:sp>
        <p:nvSpPr>
          <p:cNvPr id="4" name="TextBox 3"/>
          <p:cNvSpPr txBox="1"/>
          <p:nvPr/>
        </p:nvSpPr>
        <p:spPr>
          <a:xfrm>
            <a:off x="804672" y="109728"/>
            <a:ext cx="9144000" cy="438912"/>
          </a:xfrm>
          <a:prstGeom prst="rect">
            <a:avLst/>
          </a:prstGeom>
          <a:noFill/>
        </p:spPr>
        <p:txBody>
          <a:bodyPr wrap="square" lIns="0" rIns="0" tIns="0" bIns="0" anchor="ctr">
            <a:noAutofit/>
          </a:bodyPr>
          <a:lstStyle/>
          <a:p>
            <a:pPr algn="l">
              <a:lnSpc>
                <a:spcPts val="1690"/>
              </a:lnSpc>
              <a:spcBef>
                <a:spcPts val="0"/>
              </a:spcBef>
              <a:spcAft>
                <a:spcPts val="0"/>
              </a:spcAft>
            </a:pPr>
            <a:r>
              <a:rPr sz="1300" b="1" i="0" spc="200">
                <a:solidFill>
                  <a:srgbClr val="FFB21A"/>
                </a:solidFill>
                <a:latin typeface="Menlo"/>
                <a:ea typeface="Apple SD Gothic Neo"/>
              </a:rPr>
              <a:t>CRISTA PIPELINE LAB · 교사 연수</a:t>
            </a:r>
          </a:p>
        </p:txBody>
      </p:sp>
      <p:sp>
        <p:nvSpPr>
          <p:cNvPr id="5" name="Rounded Rectangle 4"/>
          <p:cNvSpPr/>
          <p:nvPr/>
        </p:nvSpPr>
        <p:spPr>
          <a:xfrm>
            <a:off x="8899855" y="1188720"/>
            <a:ext cx="2743200" cy="347472"/>
          </a:xfrm>
          <a:prstGeom prst="roundRect">
            <a:avLst>
              <a:gd name="adj" fmla="val 50000"/>
            </a:avLst>
          </a:prstGeom>
          <a:solidFill>
            <a:srgbClr val="D4F94E"/>
          </a:solidFill>
          <a:ln>
            <a:noFill/>
          </a:ln>
        </p:spPr>
        <p:txBody>
          <a:bodyPr rtlCol="0" anchor="ctr"/>
          <a:lstStyle/>
          <a:p>
            <a:pPr algn="ctr"/>
          </a:p>
        </p:txBody>
      </p:sp>
      <p:sp>
        <p:nvSpPr>
          <p:cNvPr id="6" name="Rounded Rectangle 5"/>
          <p:cNvSpPr/>
          <p:nvPr/>
        </p:nvSpPr>
        <p:spPr>
          <a:xfrm>
            <a:off x="9494215" y="1664208"/>
            <a:ext cx="2148840" cy="347472"/>
          </a:xfrm>
          <a:prstGeom prst="roundRect">
            <a:avLst>
              <a:gd name="adj" fmla="val 50000"/>
            </a:avLst>
          </a:prstGeom>
          <a:solidFill>
            <a:srgbClr val="A8D545"/>
          </a:solidFill>
          <a:ln>
            <a:noFill/>
          </a:ln>
        </p:spPr>
        <p:txBody>
          <a:bodyPr rtlCol="0" anchor="ctr"/>
          <a:lstStyle/>
          <a:p>
            <a:pPr algn="ctr"/>
          </a:p>
        </p:txBody>
      </p:sp>
      <p:sp>
        <p:nvSpPr>
          <p:cNvPr id="7" name="Rounded Rectangle 6"/>
          <p:cNvSpPr/>
          <p:nvPr/>
        </p:nvSpPr>
        <p:spPr>
          <a:xfrm>
            <a:off x="10088575" y="2139696"/>
            <a:ext cx="1554480" cy="347472"/>
          </a:xfrm>
          <a:prstGeom prst="roundRect">
            <a:avLst>
              <a:gd name="adj" fmla="val 50000"/>
            </a:avLst>
          </a:prstGeom>
          <a:solidFill>
            <a:srgbClr val="5C8A35"/>
          </a:solidFill>
          <a:ln>
            <a:noFill/>
          </a:ln>
        </p:spPr>
        <p:txBody>
          <a:bodyPr rtlCol="0" anchor="ctr"/>
          <a:lstStyle/>
          <a:p>
            <a:pPr algn="ctr"/>
          </a:p>
        </p:txBody>
      </p:sp>
      <p:sp>
        <p:nvSpPr>
          <p:cNvPr id="8" name="Rounded Rectangle 7"/>
          <p:cNvSpPr/>
          <p:nvPr/>
        </p:nvSpPr>
        <p:spPr>
          <a:xfrm>
            <a:off x="10682935" y="2615184"/>
            <a:ext cx="960120" cy="347472"/>
          </a:xfrm>
          <a:prstGeom prst="roundRect">
            <a:avLst>
              <a:gd name="adj" fmla="val 50000"/>
            </a:avLst>
          </a:prstGeom>
          <a:solidFill>
            <a:srgbClr val="1E3A1E"/>
          </a:solidFill>
          <a:ln>
            <a:noFill/>
          </a:ln>
        </p:spPr>
        <p:txBody>
          <a:bodyPr rtlCol="0" anchor="ctr"/>
          <a:lstStyle/>
          <a:p>
            <a:pPr algn="ctr"/>
          </a:p>
        </p:txBody>
      </p:sp>
      <p:sp>
        <p:nvSpPr>
          <p:cNvPr id="9" name="Rounded Rectangle 8"/>
          <p:cNvSpPr/>
          <p:nvPr/>
        </p:nvSpPr>
        <p:spPr>
          <a:xfrm>
            <a:off x="548640" y="2212848"/>
            <a:ext cx="4678051" cy="274320"/>
          </a:xfrm>
          <a:prstGeom prst="roundRect">
            <a:avLst>
              <a:gd name="adj" fmla="val 13333"/>
            </a:avLst>
          </a:prstGeom>
          <a:solidFill>
            <a:srgbClr val="D4F94E"/>
          </a:solidFill>
          <a:ln>
            <a:noFill/>
          </a:ln>
        </p:spPr>
        <p:txBody>
          <a:bodyPr rtlCol="0" anchor="ctr"/>
          <a:lstStyle/>
          <a:p>
            <a:pPr algn="ctr"/>
          </a:p>
        </p:txBody>
      </p:sp>
      <p:sp>
        <p:nvSpPr>
          <p:cNvPr id="10" name="TextBox 9"/>
          <p:cNvSpPr txBox="1"/>
          <p:nvPr/>
        </p:nvSpPr>
        <p:spPr>
          <a:xfrm>
            <a:off x="566928" y="1207008"/>
            <a:ext cx="8595360" cy="1185672"/>
          </a:xfrm>
          <a:prstGeom prst="rect">
            <a:avLst/>
          </a:prstGeom>
          <a:noFill/>
        </p:spPr>
        <p:txBody>
          <a:bodyPr wrap="square" lIns="0" rIns="0" tIns="0" bIns="0" anchor="t">
            <a:noAutofit/>
          </a:bodyPr>
          <a:lstStyle/>
          <a:p>
            <a:pPr algn="l">
              <a:lnSpc>
                <a:spcPts val="4560"/>
              </a:lnSpc>
              <a:spcBef>
                <a:spcPts val="0"/>
              </a:spcBef>
              <a:spcAft>
                <a:spcPts val="0"/>
              </a:spcAft>
            </a:pPr>
            <a:r>
              <a:rPr sz="3800" b="1" i="0">
                <a:solidFill>
                  <a:srgbClr val="141413"/>
                </a:solidFill>
                <a:latin typeface="Apple SD Gothic Neo"/>
                <a:ea typeface="Apple SD Gothic Neo"/>
              </a:rPr>
              <a:t>교실 안 바이오 스타트업,</a:t>
            </a:r>
          </a:p>
          <a:p>
            <a:pPr algn="l">
              <a:lnSpc>
                <a:spcPts val="4560"/>
              </a:lnSpc>
              <a:spcBef>
                <a:spcPts val="0"/>
              </a:spcBef>
              <a:spcAft>
                <a:spcPts val="0"/>
              </a:spcAft>
            </a:pPr>
            <a:r>
              <a:rPr sz="3800" b="1" i="0">
                <a:solidFill>
                  <a:srgbClr val="141413"/>
                </a:solidFill>
                <a:latin typeface="Apple SD Gothic Neo"/>
                <a:ea typeface="Apple SD Gothic Neo"/>
              </a:rPr>
              <a:t>CRISTA 파이프라인 랩</a:t>
            </a:r>
          </a:p>
        </p:txBody>
      </p:sp>
      <p:sp>
        <p:nvSpPr>
          <p:cNvPr id="11" name="TextBox 10"/>
          <p:cNvSpPr txBox="1"/>
          <p:nvPr/>
        </p:nvSpPr>
        <p:spPr>
          <a:xfrm>
            <a:off x="566928" y="2926080"/>
            <a:ext cx="8778240" cy="322072"/>
          </a:xfrm>
          <a:prstGeom prst="rect">
            <a:avLst/>
          </a:prstGeom>
          <a:noFill/>
        </p:spPr>
        <p:txBody>
          <a:bodyPr wrap="square" lIns="0" rIns="0" tIns="0" bIns="0" anchor="t">
            <a:noAutofit/>
          </a:bodyPr>
          <a:lstStyle/>
          <a:p>
            <a:pPr algn="l">
              <a:lnSpc>
                <a:spcPts val="2320"/>
              </a:lnSpc>
              <a:spcBef>
                <a:spcPts val="0"/>
              </a:spcBef>
              <a:spcAft>
                <a:spcPts val="0"/>
              </a:spcAft>
            </a:pPr>
            <a:r>
              <a:rPr sz="1600" b="0" i="0">
                <a:solidFill>
                  <a:srgbClr val="5C5B56"/>
                </a:solidFill>
                <a:latin typeface="Apple SD Gothic Neo"/>
                <a:ea typeface="Apple SD Gothic Neo"/>
              </a:rPr>
              <a:t>실제 과학 계산과 규제·윤리 심사로 진행하는 모둠 협력형 신약 개발 수업</a:t>
            </a:r>
          </a:p>
        </p:txBody>
      </p:sp>
      <p:sp>
        <p:nvSpPr>
          <p:cNvPr id="12" name="Rounded Rectangle 11"/>
          <p:cNvSpPr/>
          <p:nvPr/>
        </p:nvSpPr>
        <p:spPr>
          <a:xfrm>
            <a:off x="548640" y="3931920"/>
            <a:ext cx="11094415" cy="2414016"/>
          </a:xfrm>
          <a:prstGeom prst="roundRect">
            <a:avLst>
              <a:gd name="adj" fmla="val 9090"/>
            </a:avLst>
          </a:prstGeom>
          <a:solidFill>
            <a:srgbClr val="FFFFFF"/>
          </a:solidFill>
          <a:ln>
            <a:noFill/>
          </a:ln>
        </p:spPr>
        <p:txBody>
          <a:bodyPr rtlCol="0" anchor="ctr"/>
          <a:lstStyle/>
          <a:p>
            <a:pPr algn="ctr"/>
          </a:p>
        </p:txBody>
      </p:sp>
      <p:sp>
        <p:nvSpPr>
          <p:cNvPr id="13" name="Rounded Rectangle 12"/>
          <p:cNvSpPr/>
          <p:nvPr/>
        </p:nvSpPr>
        <p:spPr>
          <a:xfrm>
            <a:off x="822960" y="4270248"/>
            <a:ext cx="843917" cy="310896"/>
          </a:xfrm>
          <a:prstGeom prst="roundRect">
            <a:avLst>
              <a:gd name="adj" fmla="val 50000"/>
            </a:avLst>
          </a:prstGeom>
          <a:solidFill>
            <a:srgbClr val="D4F94E"/>
          </a:solidFill>
          <a:ln>
            <a:noFill/>
          </a:ln>
        </p:spPr>
        <p:txBody>
          <a:bodyPr rtlCol="0" anchor="ctr"/>
          <a:lstStyle/>
          <a:p>
            <a:pPr algn="ctr"/>
          </a:p>
        </p:txBody>
      </p:sp>
      <p:sp>
        <p:nvSpPr>
          <p:cNvPr id="14" name="TextBox 13"/>
          <p:cNvSpPr txBox="1"/>
          <p:nvPr/>
        </p:nvSpPr>
        <p:spPr>
          <a:xfrm>
            <a:off x="969264" y="4270248"/>
            <a:ext cx="597029" cy="310896"/>
          </a:xfrm>
          <a:prstGeom prst="rect">
            <a:avLst/>
          </a:prstGeom>
          <a:noFill/>
        </p:spPr>
        <p:txBody>
          <a:bodyPr wrap="square" lIns="0" rIns="0" tIns="0" bIns="0" anchor="ctr">
            <a:noAutofit/>
          </a:bodyPr>
          <a:lstStyle/>
          <a:p>
            <a:pPr algn="l">
              <a:lnSpc>
                <a:spcPts val="1430"/>
              </a:lnSpc>
              <a:spcBef>
                <a:spcPts val="0"/>
              </a:spcBef>
              <a:spcAft>
                <a:spcPts val="0"/>
              </a:spcAft>
            </a:pPr>
            <a:r>
              <a:rPr sz="1100" b="1" i="0">
                <a:solidFill>
                  <a:srgbClr val="1E3A1E"/>
                </a:solidFill>
                <a:latin typeface="Apple SD Gothic Neo"/>
                <a:ea typeface="Apple SD Gothic Neo"/>
              </a:rPr>
              <a:t>대상 교과</a:t>
            </a:r>
          </a:p>
        </p:txBody>
      </p:sp>
      <p:sp>
        <p:nvSpPr>
          <p:cNvPr id="15" name="TextBox 14"/>
          <p:cNvSpPr txBox="1"/>
          <p:nvPr/>
        </p:nvSpPr>
        <p:spPr>
          <a:xfrm>
            <a:off x="2468880" y="4069080"/>
            <a:ext cx="8899855" cy="713232"/>
          </a:xfrm>
          <a:prstGeom prst="rect">
            <a:avLst/>
          </a:prstGeom>
          <a:noFill/>
        </p:spPr>
        <p:txBody>
          <a:bodyPr wrap="square" lIns="0" rIns="0" tIns="0" bIns="0" anchor="ctr">
            <a:noAutofit/>
          </a:bodyPr>
          <a:lstStyle/>
          <a:p>
            <a:pPr algn="l">
              <a:lnSpc>
                <a:spcPts val="1820"/>
              </a:lnSpc>
              <a:spcBef>
                <a:spcPts val="0"/>
              </a:spcBef>
              <a:spcAft>
                <a:spcPts val="0"/>
              </a:spcAft>
            </a:pPr>
            <a:r>
              <a:rPr sz="1400" b="0" i="0">
                <a:solidFill>
                  <a:srgbClr val="141413"/>
                </a:solidFill>
                <a:latin typeface="Apple SD Gothic Neo"/>
                <a:ea typeface="Apple SD Gothic Neo"/>
              </a:rPr>
              <a:t>고등학교 생명과학 · 화학 · 융합과학 탐구 · 진로 및 과학 동아리</a:t>
            </a:r>
          </a:p>
        </p:txBody>
      </p:sp>
      <p:sp>
        <p:nvSpPr>
          <p:cNvPr id="16" name="Rectangle 15"/>
          <p:cNvSpPr/>
          <p:nvPr/>
        </p:nvSpPr>
        <p:spPr>
          <a:xfrm>
            <a:off x="822960" y="4782312"/>
            <a:ext cx="10545775" cy="9144"/>
          </a:xfrm>
          <a:prstGeom prst="rect">
            <a:avLst/>
          </a:prstGeom>
          <a:solidFill>
            <a:srgbClr val="DDDBD2"/>
          </a:solidFill>
          <a:ln>
            <a:noFill/>
          </a:ln>
        </p:spPr>
        <p:txBody>
          <a:bodyPr rtlCol="0" anchor="ctr"/>
          <a:lstStyle/>
          <a:p>
            <a:pPr algn="ctr"/>
          </a:p>
        </p:txBody>
      </p:sp>
      <p:sp>
        <p:nvSpPr>
          <p:cNvPr id="17" name="Rounded Rectangle 16"/>
          <p:cNvSpPr/>
          <p:nvPr/>
        </p:nvSpPr>
        <p:spPr>
          <a:xfrm>
            <a:off x="822960" y="4983480"/>
            <a:ext cx="843917" cy="310896"/>
          </a:xfrm>
          <a:prstGeom prst="roundRect">
            <a:avLst>
              <a:gd name="adj" fmla="val 50000"/>
            </a:avLst>
          </a:prstGeom>
          <a:solidFill>
            <a:srgbClr val="D4F94E"/>
          </a:solidFill>
          <a:ln>
            <a:noFill/>
          </a:ln>
        </p:spPr>
        <p:txBody>
          <a:bodyPr rtlCol="0" anchor="ctr"/>
          <a:lstStyle/>
          <a:p>
            <a:pPr algn="ctr"/>
          </a:p>
        </p:txBody>
      </p:sp>
      <p:sp>
        <p:nvSpPr>
          <p:cNvPr id="18" name="TextBox 17"/>
          <p:cNvSpPr txBox="1"/>
          <p:nvPr/>
        </p:nvSpPr>
        <p:spPr>
          <a:xfrm>
            <a:off x="969264" y="4983480"/>
            <a:ext cx="597029" cy="310896"/>
          </a:xfrm>
          <a:prstGeom prst="rect">
            <a:avLst/>
          </a:prstGeom>
          <a:noFill/>
        </p:spPr>
        <p:txBody>
          <a:bodyPr wrap="square" lIns="0" rIns="0" tIns="0" bIns="0" anchor="ctr">
            <a:noAutofit/>
          </a:bodyPr>
          <a:lstStyle/>
          <a:p>
            <a:pPr algn="l">
              <a:lnSpc>
                <a:spcPts val="1430"/>
              </a:lnSpc>
              <a:spcBef>
                <a:spcPts val="0"/>
              </a:spcBef>
              <a:spcAft>
                <a:spcPts val="0"/>
              </a:spcAft>
            </a:pPr>
            <a:r>
              <a:rPr sz="1100" b="1" i="0">
                <a:solidFill>
                  <a:srgbClr val="1E3A1E"/>
                </a:solidFill>
                <a:latin typeface="Apple SD Gothic Neo"/>
                <a:ea typeface="Apple SD Gothic Neo"/>
              </a:rPr>
              <a:t>수업 형태</a:t>
            </a:r>
          </a:p>
        </p:txBody>
      </p:sp>
      <p:sp>
        <p:nvSpPr>
          <p:cNvPr id="19" name="TextBox 18"/>
          <p:cNvSpPr txBox="1"/>
          <p:nvPr/>
        </p:nvSpPr>
        <p:spPr>
          <a:xfrm>
            <a:off x="2468880" y="4782312"/>
            <a:ext cx="8899855" cy="713232"/>
          </a:xfrm>
          <a:prstGeom prst="rect">
            <a:avLst/>
          </a:prstGeom>
          <a:noFill/>
        </p:spPr>
        <p:txBody>
          <a:bodyPr wrap="square" lIns="0" rIns="0" tIns="0" bIns="0" anchor="ctr">
            <a:noAutofit/>
          </a:bodyPr>
          <a:lstStyle/>
          <a:p>
            <a:pPr algn="l">
              <a:lnSpc>
                <a:spcPts val="1820"/>
              </a:lnSpc>
              <a:spcBef>
                <a:spcPts val="0"/>
              </a:spcBef>
              <a:spcAft>
                <a:spcPts val="0"/>
              </a:spcAft>
            </a:pPr>
            <a:r>
              <a:rPr sz="1400" b="0" i="0">
                <a:solidFill>
                  <a:srgbClr val="141413"/>
                </a:solidFill>
                <a:latin typeface="Apple SD Gothic Neo"/>
                <a:ea typeface="Apple SD Gothic Neo"/>
              </a:rPr>
              <a:t>학급당 2~8개 모둠 (모둠당 3~4인) · 웹 브라우저 실시간 접속</a:t>
            </a:r>
          </a:p>
        </p:txBody>
      </p:sp>
      <p:sp>
        <p:nvSpPr>
          <p:cNvPr id="20" name="Rectangle 19"/>
          <p:cNvSpPr/>
          <p:nvPr/>
        </p:nvSpPr>
        <p:spPr>
          <a:xfrm>
            <a:off x="822960" y="5495544"/>
            <a:ext cx="10545775" cy="9144"/>
          </a:xfrm>
          <a:prstGeom prst="rect">
            <a:avLst/>
          </a:prstGeom>
          <a:solidFill>
            <a:srgbClr val="DDDBD2"/>
          </a:solidFill>
          <a:ln>
            <a:noFill/>
          </a:ln>
        </p:spPr>
        <p:txBody>
          <a:bodyPr rtlCol="0" anchor="ctr"/>
          <a:lstStyle/>
          <a:p>
            <a:pPr algn="ctr"/>
          </a:p>
        </p:txBody>
      </p:sp>
      <p:sp>
        <p:nvSpPr>
          <p:cNvPr id="21" name="Rounded Rectangle 20"/>
          <p:cNvSpPr/>
          <p:nvPr/>
        </p:nvSpPr>
        <p:spPr>
          <a:xfrm>
            <a:off x="822960" y="5696712"/>
            <a:ext cx="843917" cy="310896"/>
          </a:xfrm>
          <a:prstGeom prst="roundRect">
            <a:avLst>
              <a:gd name="adj" fmla="val 50000"/>
            </a:avLst>
          </a:prstGeom>
          <a:solidFill>
            <a:srgbClr val="141413"/>
          </a:solidFill>
          <a:ln>
            <a:noFill/>
          </a:ln>
        </p:spPr>
        <p:txBody>
          <a:bodyPr rtlCol="0" anchor="ctr"/>
          <a:lstStyle/>
          <a:p>
            <a:pPr algn="ctr"/>
          </a:p>
        </p:txBody>
      </p:sp>
      <p:sp>
        <p:nvSpPr>
          <p:cNvPr id="22" name="TextBox 21"/>
          <p:cNvSpPr txBox="1"/>
          <p:nvPr/>
        </p:nvSpPr>
        <p:spPr>
          <a:xfrm>
            <a:off x="969264" y="5696712"/>
            <a:ext cx="597029" cy="310896"/>
          </a:xfrm>
          <a:prstGeom prst="rect">
            <a:avLst/>
          </a:prstGeom>
          <a:noFill/>
        </p:spPr>
        <p:txBody>
          <a:bodyPr wrap="square" lIns="0" rIns="0" tIns="0" bIns="0" anchor="ctr">
            <a:noAutofit/>
          </a:bodyPr>
          <a:lstStyle/>
          <a:p>
            <a:pPr algn="l">
              <a:lnSpc>
                <a:spcPts val="1430"/>
              </a:lnSpc>
              <a:spcBef>
                <a:spcPts val="0"/>
              </a:spcBef>
              <a:spcAft>
                <a:spcPts val="0"/>
              </a:spcAft>
            </a:pPr>
            <a:r>
              <a:rPr sz="1100" b="1" i="0">
                <a:solidFill>
                  <a:srgbClr val="FFB21A"/>
                </a:solidFill>
                <a:latin typeface="Apple SD Gothic Neo"/>
                <a:ea typeface="Apple SD Gothic Neo"/>
              </a:rPr>
              <a:t>핵심 범위</a:t>
            </a:r>
          </a:p>
        </p:txBody>
      </p:sp>
      <p:sp>
        <p:nvSpPr>
          <p:cNvPr id="23" name="TextBox 22"/>
          <p:cNvSpPr txBox="1"/>
          <p:nvPr/>
        </p:nvSpPr>
        <p:spPr>
          <a:xfrm>
            <a:off x="2468880" y="5495544"/>
            <a:ext cx="8899855" cy="713232"/>
          </a:xfrm>
          <a:prstGeom prst="rect">
            <a:avLst/>
          </a:prstGeom>
          <a:noFill/>
        </p:spPr>
        <p:txBody>
          <a:bodyPr wrap="square" lIns="0" rIns="0" tIns="0" bIns="0" anchor="ctr">
            <a:noAutofit/>
          </a:bodyPr>
          <a:lstStyle/>
          <a:p>
            <a:pPr algn="l">
              <a:lnSpc>
                <a:spcPts val="1820"/>
              </a:lnSpc>
              <a:spcBef>
                <a:spcPts val="0"/>
              </a:spcBef>
              <a:spcAft>
                <a:spcPts val="0"/>
              </a:spcAft>
            </a:pPr>
            <a:r>
              <a:rPr sz="1400" b="0" i="0">
                <a:solidFill>
                  <a:srgbClr val="141413"/>
                </a:solidFill>
                <a:latin typeface="Apple SD Gothic Neo"/>
                <a:ea typeface="Apple SD Gothic Neo"/>
              </a:rPr>
              <a:t>1. 발견 → 2. 최적화 → 3. 개발·규제(특허·동물실험·IND) → 4. 임상·허가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02 / 26</a:t>
            </a:r>
          </a:p>
        </p:txBody>
      </p:sp>
      <p:sp>
        <p:nvSpPr>
          <p:cNvPr id="7" name="Rounded Rectangle 6"/>
          <p:cNvSpPr/>
          <p:nvPr/>
        </p:nvSpPr>
        <p:spPr>
          <a:xfrm>
            <a:off x="457200" y="566928"/>
            <a:ext cx="2010866"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1736546"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1 · 왜 이 수업인가</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기존 신약 개발 탐구와 모둠 수업에서 겪던 세 가지 한계</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자료 조사에 그치거나, 한 명만 조작하거나, 이유 없이 결과만 찍어 보는 수업을 넘어섭니다.</a:t>
            </a:r>
          </a:p>
        </p:txBody>
      </p:sp>
      <p:sp>
        <p:nvSpPr>
          <p:cNvPr id="12" name="Rounded Rectangle 11"/>
          <p:cNvSpPr/>
          <p:nvPr/>
        </p:nvSpPr>
        <p:spPr>
          <a:xfrm>
            <a:off x="457200" y="1825498"/>
            <a:ext cx="3606698" cy="4648454"/>
          </a:xfrm>
          <a:prstGeom prst="roundRect">
            <a:avLst>
              <a:gd name="adj" fmla="val 5577"/>
            </a:avLst>
          </a:prstGeom>
          <a:solidFill>
            <a:srgbClr val="FFFFFF"/>
          </a:solidFill>
          <a:ln>
            <a:noFill/>
          </a:ln>
        </p:spPr>
        <p:txBody>
          <a:bodyPr rtlCol="0" anchor="ctr"/>
          <a:lstStyle/>
          <a:p>
            <a:pPr algn="ctr"/>
          </a:p>
        </p:txBody>
      </p:sp>
      <p:sp>
        <p:nvSpPr>
          <p:cNvPr id="13" name="Rounded Rectangle 12"/>
          <p:cNvSpPr/>
          <p:nvPr/>
        </p:nvSpPr>
        <p:spPr>
          <a:xfrm>
            <a:off x="676656" y="2044954"/>
            <a:ext cx="384048" cy="64008"/>
          </a:xfrm>
          <a:prstGeom prst="roundRect">
            <a:avLst>
              <a:gd name="adj" fmla="val 50000"/>
            </a:avLst>
          </a:prstGeom>
          <a:solidFill>
            <a:srgbClr val="D4F94E"/>
          </a:solidFill>
          <a:ln>
            <a:noFill/>
          </a:ln>
        </p:spPr>
        <p:txBody>
          <a:bodyPr rtlCol="0" anchor="ctr"/>
          <a:lstStyle/>
          <a:p>
            <a:pPr algn="ctr"/>
          </a:p>
        </p:txBody>
      </p:sp>
      <p:sp>
        <p:nvSpPr>
          <p:cNvPr id="14" name="TextBox 13"/>
          <p:cNvSpPr txBox="1"/>
          <p:nvPr/>
        </p:nvSpPr>
        <p:spPr>
          <a:xfrm>
            <a:off x="676656" y="2209546"/>
            <a:ext cx="3167786" cy="262128"/>
          </a:xfrm>
          <a:prstGeom prst="rect">
            <a:avLst/>
          </a:prstGeom>
          <a:noFill/>
        </p:spPr>
        <p:txBody>
          <a:bodyPr wrap="square" lIns="0" rIns="0" tIns="0" bIns="0" anchor="t">
            <a:noAutofit/>
          </a:bodyPr>
          <a:lstStyle/>
          <a:p>
            <a:pPr algn="l">
              <a:lnSpc>
                <a:spcPts val="1848"/>
              </a:lnSpc>
              <a:spcBef>
                <a:spcPts val="0"/>
              </a:spcBef>
              <a:spcAft>
                <a:spcPts val="0"/>
              </a:spcAft>
            </a:pPr>
            <a:r>
              <a:rPr sz="1400" b="1" i="0">
                <a:solidFill>
                  <a:srgbClr val="141413"/>
                </a:solidFill>
                <a:latin typeface="Apple SD Gothic Neo"/>
                <a:ea typeface="Apple SD Gothic Neo"/>
              </a:rPr>
              <a:t>카드 1 · 인터넷 요약으로 끝나는 조사 수업</a:t>
            </a:r>
          </a:p>
        </p:txBody>
      </p:sp>
      <p:sp>
        <p:nvSpPr>
          <p:cNvPr id="15" name="Rounded Rectangle 14"/>
          <p:cNvSpPr/>
          <p:nvPr/>
        </p:nvSpPr>
        <p:spPr>
          <a:xfrm>
            <a:off x="676656" y="2691130"/>
            <a:ext cx="452349" cy="274320"/>
          </a:xfrm>
          <a:prstGeom prst="roundRect">
            <a:avLst>
              <a:gd name="adj" fmla="val 50000"/>
            </a:avLst>
          </a:prstGeom>
          <a:solidFill>
            <a:srgbClr val="E7E6DE"/>
          </a:solidFill>
          <a:ln>
            <a:noFill/>
          </a:ln>
        </p:spPr>
        <p:txBody>
          <a:bodyPr rtlCol="0" anchor="ctr"/>
          <a:lstStyle/>
          <a:p>
            <a:pPr algn="ctr"/>
          </a:p>
        </p:txBody>
      </p:sp>
      <p:sp>
        <p:nvSpPr>
          <p:cNvPr id="16" name="TextBox 15"/>
          <p:cNvSpPr txBox="1"/>
          <p:nvPr/>
        </p:nvSpPr>
        <p:spPr>
          <a:xfrm>
            <a:off x="786384" y="2691130"/>
            <a:ext cx="278613" cy="274320"/>
          </a:xfrm>
          <a:prstGeom prst="rect">
            <a:avLst/>
          </a:prstGeom>
          <a:noFill/>
        </p:spPr>
        <p:txBody>
          <a:bodyPr wrap="square" lIns="0" rIns="0" tIns="0" bIns="0" anchor="ctr">
            <a:noAutofit/>
          </a:bodyPr>
          <a:lstStyle/>
          <a:p>
            <a:pPr algn="l">
              <a:lnSpc>
                <a:spcPts val="1300"/>
              </a:lnSpc>
              <a:spcBef>
                <a:spcPts val="0"/>
              </a:spcBef>
              <a:spcAft>
                <a:spcPts val="0"/>
              </a:spcAft>
            </a:pPr>
            <a:r>
              <a:rPr sz="1000" b="1" i="0">
                <a:solidFill>
                  <a:srgbClr val="5C5B56"/>
                </a:solidFill>
                <a:latin typeface="Apple SD Gothic Neo"/>
                <a:ea typeface="Apple SD Gothic Neo"/>
              </a:rPr>
              <a:t>현실</a:t>
            </a:r>
          </a:p>
        </p:txBody>
      </p:sp>
      <p:sp>
        <p:nvSpPr>
          <p:cNvPr id="17" name="TextBox 16"/>
          <p:cNvSpPr txBox="1"/>
          <p:nvPr/>
        </p:nvSpPr>
        <p:spPr>
          <a:xfrm>
            <a:off x="676656" y="3056890"/>
            <a:ext cx="3167786" cy="469392"/>
          </a:xfrm>
          <a:prstGeom prst="rect">
            <a:avLst/>
          </a:prstGeom>
          <a:noFill/>
        </p:spPr>
        <p:txBody>
          <a:bodyPr wrap="square" lIns="0" rIns="0" tIns="0" bIns="0" anchor="t">
            <a:noAutofit/>
          </a:bodyPr>
          <a:lstStyle/>
          <a:p>
            <a:pPr algn="l">
              <a:lnSpc>
                <a:spcPts val="1739"/>
              </a:lnSpc>
              <a:spcBef>
                <a:spcPts val="0"/>
              </a:spcBef>
              <a:spcAft>
                <a:spcPts val="0"/>
              </a:spcAft>
            </a:pPr>
            <a:r>
              <a:rPr sz="1200" b="0" i="0">
                <a:solidFill>
                  <a:srgbClr val="5C5B56"/>
                </a:solidFill>
                <a:latin typeface="Apple SD Gothic Neo"/>
                <a:ea typeface="Apple SD Gothic Neo"/>
              </a:rPr>
              <a:t>"알츠하이머 치료제 조사하기" 과제를 내면 백과사전과 기사를 복사해 발표하고 끝납니다.</a:t>
            </a:r>
          </a:p>
        </p:txBody>
      </p:sp>
      <p:sp>
        <p:nvSpPr>
          <p:cNvPr id="18" name="Rectangle 17"/>
          <p:cNvSpPr/>
          <p:nvPr/>
        </p:nvSpPr>
        <p:spPr>
          <a:xfrm>
            <a:off x="676656" y="3929247"/>
            <a:ext cx="3167786" cy="9144"/>
          </a:xfrm>
          <a:prstGeom prst="rect">
            <a:avLst/>
          </a:prstGeom>
          <a:solidFill>
            <a:srgbClr val="DDDBD2"/>
          </a:solidFill>
          <a:ln>
            <a:noFill/>
          </a:ln>
        </p:spPr>
        <p:txBody>
          <a:bodyPr rtlCol="0" anchor="ctr"/>
          <a:lstStyle/>
          <a:p>
            <a:pPr algn="ctr"/>
          </a:p>
        </p:txBody>
      </p:sp>
      <p:sp>
        <p:nvSpPr>
          <p:cNvPr id="19" name="Rounded Rectangle 18"/>
          <p:cNvSpPr/>
          <p:nvPr/>
        </p:nvSpPr>
        <p:spPr>
          <a:xfrm>
            <a:off x="676656" y="4350499"/>
            <a:ext cx="452349" cy="274320"/>
          </a:xfrm>
          <a:prstGeom prst="roundRect">
            <a:avLst>
              <a:gd name="adj" fmla="val 50000"/>
            </a:avLst>
          </a:prstGeom>
          <a:solidFill>
            <a:srgbClr val="D4F94E"/>
          </a:solidFill>
          <a:ln>
            <a:noFill/>
          </a:ln>
        </p:spPr>
        <p:txBody>
          <a:bodyPr rtlCol="0" anchor="ctr"/>
          <a:lstStyle/>
          <a:p>
            <a:pPr algn="ctr"/>
          </a:p>
        </p:txBody>
      </p:sp>
      <p:sp>
        <p:nvSpPr>
          <p:cNvPr id="20" name="TextBox 19"/>
          <p:cNvSpPr txBox="1"/>
          <p:nvPr/>
        </p:nvSpPr>
        <p:spPr>
          <a:xfrm>
            <a:off x="786384" y="4350499"/>
            <a:ext cx="278613" cy="274320"/>
          </a:xfrm>
          <a:prstGeom prst="rect">
            <a:avLst/>
          </a:prstGeom>
          <a:noFill/>
        </p:spPr>
        <p:txBody>
          <a:bodyPr wrap="square" lIns="0" rIns="0" tIns="0" bIns="0" anchor="ctr">
            <a:noAutofit/>
          </a:bodyPr>
          <a:lstStyle/>
          <a:p>
            <a:pPr algn="l">
              <a:lnSpc>
                <a:spcPts val="1300"/>
              </a:lnSpc>
              <a:spcBef>
                <a:spcPts val="0"/>
              </a:spcBef>
              <a:spcAft>
                <a:spcPts val="0"/>
              </a:spcAft>
            </a:pPr>
            <a:r>
              <a:rPr sz="1000" b="1" i="0">
                <a:solidFill>
                  <a:srgbClr val="1E3A1E"/>
                </a:solidFill>
                <a:latin typeface="Apple SD Gothic Neo"/>
                <a:ea typeface="Apple SD Gothic Neo"/>
              </a:rPr>
              <a:t>해결</a:t>
            </a:r>
          </a:p>
        </p:txBody>
      </p:sp>
      <p:sp>
        <p:nvSpPr>
          <p:cNvPr id="21" name="TextBox 20"/>
          <p:cNvSpPr txBox="1"/>
          <p:nvPr/>
        </p:nvSpPr>
        <p:spPr>
          <a:xfrm>
            <a:off x="676656" y="4716259"/>
            <a:ext cx="3167786" cy="469392"/>
          </a:xfrm>
          <a:prstGeom prst="rect">
            <a:avLst/>
          </a:prstGeom>
          <a:noFill/>
        </p:spPr>
        <p:txBody>
          <a:bodyPr wrap="square" lIns="0" rIns="0" tIns="0" bIns="0" anchor="t">
            <a:noAutofit/>
          </a:bodyPr>
          <a:lstStyle/>
          <a:p>
            <a:pPr algn="l">
              <a:lnSpc>
                <a:spcPts val="1739"/>
              </a:lnSpc>
              <a:spcBef>
                <a:spcPts val="0"/>
              </a:spcBef>
              <a:spcAft>
                <a:spcPts val="0"/>
              </a:spcAft>
            </a:pPr>
            <a:r>
              <a:rPr sz="1200" b="0" i="0">
                <a:solidFill>
                  <a:srgbClr val="141413"/>
                </a:solidFill>
                <a:latin typeface="Apple SD Gothic Neo"/>
                <a:ea typeface="Apple SD Gothic Neo"/>
              </a:rPr>
              <a:t>학생이 직접 분자 크기와 극성 기준을 세우고, 단백질 결합 에너지를 계산해 후보를 고릅니다.</a:t>
            </a:r>
          </a:p>
        </p:txBody>
      </p:sp>
      <p:sp>
        <p:nvSpPr>
          <p:cNvPr id="22" name="Rounded Rectangle 21"/>
          <p:cNvSpPr/>
          <p:nvPr/>
        </p:nvSpPr>
        <p:spPr>
          <a:xfrm>
            <a:off x="4292498" y="1825498"/>
            <a:ext cx="3606698" cy="4648454"/>
          </a:xfrm>
          <a:prstGeom prst="roundRect">
            <a:avLst>
              <a:gd name="adj" fmla="val 5577"/>
            </a:avLst>
          </a:prstGeom>
          <a:solidFill>
            <a:srgbClr val="FFFFFF"/>
          </a:solidFill>
          <a:ln>
            <a:noFill/>
          </a:ln>
        </p:spPr>
        <p:txBody>
          <a:bodyPr rtlCol="0" anchor="ctr"/>
          <a:lstStyle/>
          <a:p>
            <a:pPr algn="ctr"/>
          </a:p>
        </p:txBody>
      </p:sp>
      <p:sp>
        <p:nvSpPr>
          <p:cNvPr id="23" name="Rounded Rectangle 22"/>
          <p:cNvSpPr/>
          <p:nvPr/>
        </p:nvSpPr>
        <p:spPr>
          <a:xfrm>
            <a:off x="4511954" y="2044954"/>
            <a:ext cx="384048" cy="64008"/>
          </a:xfrm>
          <a:prstGeom prst="roundRect">
            <a:avLst>
              <a:gd name="adj" fmla="val 50000"/>
            </a:avLst>
          </a:prstGeom>
          <a:solidFill>
            <a:srgbClr val="7FB8FF"/>
          </a:solidFill>
          <a:ln>
            <a:noFill/>
          </a:ln>
        </p:spPr>
        <p:txBody>
          <a:bodyPr rtlCol="0" anchor="ctr"/>
          <a:lstStyle/>
          <a:p>
            <a:pPr algn="ctr"/>
          </a:p>
        </p:txBody>
      </p:sp>
      <p:sp>
        <p:nvSpPr>
          <p:cNvPr id="24" name="TextBox 23"/>
          <p:cNvSpPr txBox="1"/>
          <p:nvPr/>
        </p:nvSpPr>
        <p:spPr>
          <a:xfrm>
            <a:off x="4511954" y="2209546"/>
            <a:ext cx="3167786" cy="496824"/>
          </a:xfrm>
          <a:prstGeom prst="rect">
            <a:avLst/>
          </a:prstGeom>
          <a:noFill/>
        </p:spPr>
        <p:txBody>
          <a:bodyPr wrap="square" lIns="0" rIns="0" tIns="0" bIns="0" anchor="t">
            <a:noAutofit/>
          </a:bodyPr>
          <a:lstStyle/>
          <a:p>
            <a:pPr algn="l">
              <a:lnSpc>
                <a:spcPts val="1848"/>
              </a:lnSpc>
              <a:spcBef>
                <a:spcPts val="0"/>
              </a:spcBef>
              <a:spcAft>
                <a:spcPts val="0"/>
              </a:spcAft>
            </a:pPr>
            <a:r>
              <a:rPr sz="1400" b="1" i="0">
                <a:solidFill>
                  <a:srgbClr val="141413"/>
                </a:solidFill>
                <a:latin typeface="Apple SD Gothic Neo"/>
                <a:ea typeface="Apple SD Gothic Neo"/>
              </a:rPr>
              <a:t>카드 2 · 한 명만 조작하고 세 명은 구경하는 모둠 활동</a:t>
            </a:r>
          </a:p>
        </p:txBody>
      </p:sp>
      <p:sp>
        <p:nvSpPr>
          <p:cNvPr id="25" name="Rounded Rectangle 24"/>
          <p:cNvSpPr/>
          <p:nvPr/>
        </p:nvSpPr>
        <p:spPr>
          <a:xfrm>
            <a:off x="4511954" y="2925826"/>
            <a:ext cx="452349" cy="274320"/>
          </a:xfrm>
          <a:prstGeom prst="roundRect">
            <a:avLst>
              <a:gd name="adj" fmla="val 50000"/>
            </a:avLst>
          </a:prstGeom>
          <a:solidFill>
            <a:srgbClr val="E7E6DE"/>
          </a:solidFill>
          <a:ln>
            <a:noFill/>
          </a:ln>
        </p:spPr>
        <p:txBody>
          <a:bodyPr rtlCol="0" anchor="ctr"/>
          <a:lstStyle/>
          <a:p>
            <a:pPr algn="ctr"/>
          </a:p>
        </p:txBody>
      </p:sp>
      <p:sp>
        <p:nvSpPr>
          <p:cNvPr id="26" name="TextBox 25"/>
          <p:cNvSpPr txBox="1"/>
          <p:nvPr/>
        </p:nvSpPr>
        <p:spPr>
          <a:xfrm>
            <a:off x="4621682" y="2925826"/>
            <a:ext cx="278613" cy="274320"/>
          </a:xfrm>
          <a:prstGeom prst="rect">
            <a:avLst/>
          </a:prstGeom>
          <a:noFill/>
        </p:spPr>
        <p:txBody>
          <a:bodyPr wrap="square" lIns="0" rIns="0" tIns="0" bIns="0" anchor="ctr">
            <a:noAutofit/>
          </a:bodyPr>
          <a:lstStyle/>
          <a:p>
            <a:pPr algn="l">
              <a:lnSpc>
                <a:spcPts val="1300"/>
              </a:lnSpc>
              <a:spcBef>
                <a:spcPts val="0"/>
              </a:spcBef>
              <a:spcAft>
                <a:spcPts val="0"/>
              </a:spcAft>
            </a:pPr>
            <a:r>
              <a:rPr sz="1000" b="1" i="0">
                <a:solidFill>
                  <a:srgbClr val="5C5B56"/>
                </a:solidFill>
                <a:latin typeface="Apple SD Gothic Neo"/>
                <a:ea typeface="Apple SD Gothic Neo"/>
              </a:rPr>
              <a:t>현실</a:t>
            </a:r>
          </a:p>
        </p:txBody>
      </p:sp>
      <p:sp>
        <p:nvSpPr>
          <p:cNvPr id="27" name="TextBox 26"/>
          <p:cNvSpPr txBox="1"/>
          <p:nvPr/>
        </p:nvSpPr>
        <p:spPr>
          <a:xfrm>
            <a:off x="4511954" y="3291586"/>
            <a:ext cx="3167786" cy="469392"/>
          </a:xfrm>
          <a:prstGeom prst="rect">
            <a:avLst/>
          </a:prstGeom>
          <a:noFill/>
        </p:spPr>
        <p:txBody>
          <a:bodyPr wrap="square" lIns="0" rIns="0" tIns="0" bIns="0" anchor="t">
            <a:noAutofit/>
          </a:bodyPr>
          <a:lstStyle/>
          <a:p>
            <a:pPr algn="l">
              <a:lnSpc>
                <a:spcPts val="1739"/>
              </a:lnSpc>
              <a:spcBef>
                <a:spcPts val="0"/>
              </a:spcBef>
              <a:spcAft>
                <a:spcPts val="0"/>
              </a:spcAft>
            </a:pPr>
            <a:r>
              <a:rPr sz="1200" b="0" i="0">
                <a:solidFill>
                  <a:srgbClr val="5C5B56"/>
                </a:solidFill>
                <a:latin typeface="Apple SD Gothic Neo"/>
                <a:ea typeface="Apple SD Gothic Neo"/>
              </a:rPr>
              <a:t>단계별로 당번을 나누면 조작을 맡은 한 명만 화면을 보고 나머지 모둠원은 손을 놓습니다.</a:t>
            </a:r>
          </a:p>
        </p:txBody>
      </p:sp>
      <p:sp>
        <p:nvSpPr>
          <p:cNvPr id="28" name="Rectangle 27"/>
          <p:cNvSpPr/>
          <p:nvPr/>
        </p:nvSpPr>
        <p:spPr>
          <a:xfrm>
            <a:off x="4511954" y="4163943"/>
            <a:ext cx="3167786" cy="9144"/>
          </a:xfrm>
          <a:prstGeom prst="rect">
            <a:avLst/>
          </a:prstGeom>
          <a:solidFill>
            <a:srgbClr val="DDDBD2"/>
          </a:solidFill>
          <a:ln>
            <a:noFill/>
          </a:ln>
        </p:spPr>
        <p:txBody>
          <a:bodyPr rtlCol="0" anchor="ctr"/>
          <a:lstStyle/>
          <a:p>
            <a:pPr algn="ctr"/>
          </a:p>
        </p:txBody>
      </p:sp>
      <p:sp>
        <p:nvSpPr>
          <p:cNvPr id="29" name="Rounded Rectangle 28"/>
          <p:cNvSpPr/>
          <p:nvPr/>
        </p:nvSpPr>
        <p:spPr>
          <a:xfrm>
            <a:off x="4511954" y="4585195"/>
            <a:ext cx="452349" cy="274320"/>
          </a:xfrm>
          <a:prstGeom prst="roundRect">
            <a:avLst>
              <a:gd name="adj" fmla="val 50000"/>
            </a:avLst>
          </a:prstGeom>
          <a:solidFill>
            <a:srgbClr val="D4F94E"/>
          </a:solidFill>
          <a:ln>
            <a:noFill/>
          </a:ln>
        </p:spPr>
        <p:txBody>
          <a:bodyPr rtlCol="0" anchor="ctr"/>
          <a:lstStyle/>
          <a:p>
            <a:pPr algn="ctr"/>
          </a:p>
        </p:txBody>
      </p:sp>
      <p:sp>
        <p:nvSpPr>
          <p:cNvPr id="30" name="TextBox 29"/>
          <p:cNvSpPr txBox="1"/>
          <p:nvPr/>
        </p:nvSpPr>
        <p:spPr>
          <a:xfrm>
            <a:off x="4621682" y="4585195"/>
            <a:ext cx="278613" cy="274320"/>
          </a:xfrm>
          <a:prstGeom prst="rect">
            <a:avLst/>
          </a:prstGeom>
          <a:noFill/>
        </p:spPr>
        <p:txBody>
          <a:bodyPr wrap="square" lIns="0" rIns="0" tIns="0" bIns="0" anchor="ctr">
            <a:noAutofit/>
          </a:bodyPr>
          <a:lstStyle/>
          <a:p>
            <a:pPr algn="l">
              <a:lnSpc>
                <a:spcPts val="1300"/>
              </a:lnSpc>
              <a:spcBef>
                <a:spcPts val="0"/>
              </a:spcBef>
              <a:spcAft>
                <a:spcPts val="0"/>
              </a:spcAft>
            </a:pPr>
            <a:r>
              <a:rPr sz="1000" b="1" i="0">
                <a:solidFill>
                  <a:srgbClr val="1E3A1E"/>
                </a:solidFill>
                <a:latin typeface="Apple SD Gothic Neo"/>
                <a:ea typeface="Apple SD Gothic Neo"/>
              </a:rPr>
              <a:t>해결</a:t>
            </a:r>
          </a:p>
        </p:txBody>
      </p:sp>
      <p:sp>
        <p:nvSpPr>
          <p:cNvPr id="31" name="TextBox 30"/>
          <p:cNvSpPr txBox="1"/>
          <p:nvPr/>
        </p:nvSpPr>
        <p:spPr>
          <a:xfrm>
            <a:off x="4511954" y="4950955"/>
            <a:ext cx="3167786" cy="690372"/>
          </a:xfrm>
          <a:prstGeom prst="rect">
            <a:avLst/>
          </a:prstGeom>
          <a:noFill/>
        </p:spPr>
        <p:txBody>
          <a:bodyPr wrap="square" lIns="0" rIns="0" tIns="0" bIns="0" anchor="t">
            <a:noAutofit/>
          </a:bodyPr>
          <a:lstStyle/>
          <a:p>
            <a:pPr algn="l">
              <a:lnSpc>
                <a:spcPts val="1739"/>
              </a:lnSpc>
              <a:spcBef>
                <a:spcPts val="0"/>
              </a:spcBef>
              <a:spcAft>
                <a:spcPts val="0"/>
              </a:spcAft>
            </a:pPr>
            <a:r>
              <a:rPr sz="1200" b="0" i="0">
                <a:solidFill>
                  <a:srgbClr val="141413"/>
                </a:solidFill>
                <a:latin typeface="Apple SD Gothic Neo"/>
                <a:ea typeface="Apple SD Gothic Neo"/>
              </a:rPr>
              <a:t>모든 단계에서 4명이 왼쪽 개인 작업대로 각자 다른 후보를 동시에 실험하고 오른쪽 비교표에 합칩니다.</a:t>
            </a:r>
          </a:p>
        </p:txBody>
      </p:sp>
      <p:sp>
        <p:nvSpPr>
          <p:cNvPr id="32" name="Rounded Rectangle 31"/>
          <p:cNvSpPr/>
          <p:nvPr/>
        </p:nvSpPr>
        <p:spPr>
          <a:xfrm>
            <a:off x="8127797" y="1825498"/>
            <a:ext cx="3606698" cy="4648454"/>
          </a:xfrm>
          <a:prstGeom prst="roundRect">
            <a:avLst>
              <a:gd name="adj" fmla="val 5577"/>
            </a:avLst>
          </a:prstGeom>
          <a:solidFill>
            <a:srgbClr val="FFFFFF"/>
          </a:solidFill>
          <a:ln>
            <a:noFill/>
          </a:ln>
        </p:spPr>
        <p:txBody>
          <a:bodyPr rtlCol="0" anchor="ctr"/>
          <a:lstStyle/>
          <a:p>
            <a:pPr algn="ctr"/>
          </a:p>
        </p:txBody>
      </p:sp>
      <p:sp>
        <p:nvSpPr>
          <p:cNvPr id="33" name="Rounded Rectangle 32"/>
          <p:cNvSpPr/>
          <p:nvPr/>
        </p:nvSpPr>
        <p:spPr>
          <a:xfrm>
            <a:off x="8347253" y="2044954"/>
            <a:ext cx="384048" cy="64008"/>
          </a:xfrm>
          <a:prstGeom prst="roundRect">
            <a:avLst>
              <a:gd name="adj" fmla="val 50000"/>
            </a:avLst>
          </a:prstGeom>
          <a:solidFill>
            <a:srgbClr val="FF8A7A"/>
          </a:solidFill>
          <a:ln>
            <a:noFill/>
          </a:ln>
        </p:spPr>
        <p:txBody>
          <a:bodyPr rtlCol="0" anchor="ctr"/>
          <a:lstStyle/>
          <a:p>
            <a:pPr algn="ctr"/>
          </a:p>
        </p:txBody>
      </p:sp>
      <p:sp>
        <p:nvSpPr>
          <p:cNvPr id="34" name="TextBox 33"/>
          <p:cNvSpPr txBox="1"/>
          <p:nvPr/>
        </p:nvSpPr>
        <p:spPr>
          <a:xfrm>
            <a:off x="8347253" y="2209546"/>
            <a:ext cx="3167786" cy="496824"/>
          </a:xfrm>
          <a:prstGeom prst="rect">
            <a:avLst/>
          </a:prstGeom>
          <a:noFill/>
        </p:spPr>
        <p:txBody>
          <a:bodyPr wrap="square" lIns="0" rIns="0" tIns="0" bIns="0" anchor="t">
            <a:noAutofit/>
          </a:bodyPr>
          <a:lstStyle/>
          <a:p>
            <a:pPr algn="l">
              <a:lnSpc>
                <a:spcPts val="1848"/>
              </a:lnSpc>
              <a:spcBef>
                <a:spcPts val="0"/>
              </a:spcBef>
              <a:spcAft>
                <a:spcPts val="0"/>
              </a:spcAft>
            </a:pPr>
            <a:r>
              <a:rPr sz="1400" b="1" i="0">
                <a:solidFill>
                  <a:srgbClr val="141413"/>
                </a:solidFill>
                <a:latin typeface="Apple SD Gothic Neo"/>
                <a:ea typeface="Apple SD Gothic Neo"/>
              </a:rPr>
              <a:t>카드 3 · 근거와 윤리가 빠진 단순 클릭 시뮬레이션</a:t>
            </a:r>
          </a:p>
        </p:txBody>
      </p:sp>
      <p:sp>
        <p:nvSpPr>
          <p:cNvPr id="35" name="Rounded Rectangle 34"/>
          <p:cNvSpPr/>
          <p:nvPr/>
        </p:nvSpPr>
        <p:spPr>
          <a:xfrm>
            <a:off x="8347253" y="2925826"/>
            <a:ext cx="452349" cy="274320"/>
          </a:xfrm>
          <a:prstGeom prst="roundRect">
            <a:avLst>
              <a:gd name="adj" fmla="val 50000"/>
            </a:avLst>
          </a:prstGeom>
          <a:solidFill>
            <a:srgbClr val="E7E6DE"/>
          </a:solidFill>
          <a:ln>
            <a:noFill/>
          </a:ln>
        </p:spPr>
        <p:txBody>
          <a:bodyPr rtlCol="0" anchor="ctr"/>
          <a:lstStyle/>
          <a:p>
            <a:pPr algn="ctr"/>
          </a:p>
        </p:txBody>
      </p:sp>
      <p:sp>
        <p:nvSpPr>
          <p:cNvPr id="36" name="TextBox 35"/>
          <p:cNvSpPr txBox="1"/>
          <p:nvPr/>
        </p:nvSpPr>
        <p:spPr>
          <a:xfrm>
            <a:off x="8456981" y="2925826"/>
            <a:ext cx="278613" cy="274320"/>
          </a:xfrm>
          <a:prstGeom prst="rect">
            <a:avLst/>
          </a:prstGeom>
          <a:noFill/>
        </p:spPr>
        <p:txBody>
          <a:bodyPr wrap="square" lIns="0" rIns="0" tIns="0" bIns="0" anchor="ctr">
            <a:noAutofit/>
          </a:bodyPr>
          <a:lstStyle/>
          <a:p>
            <a:pPr algn="l">
              <a:lnSpc>
                <a:spcPts val="1300"/>
              </a:lnSpc>
              <a:spcBef>
                <a:spcPts val="0"/>
              </a:spcBef>
              <a:spcAft>
                <a:spcPts val="0"/>
              </a:spcAft>
            </a:pPr>
            <a:r>
              <a:rPr sz="1000" b="1" i="0">
                <a:solidFill>
                  <a:srgbClr val="5C5B56"/>
                </a:solidFill>
                <a:latin typeface="Apple SD Gothic Neo"/>
                <a:ea typeface="Apple SD Gothic Neo"/>
              </a:rPr>
              <a:t>현실</a:t>
            </a:r>
          </a:p>
        </p:txBody>
      </p:sp>
      <p:sp>
        <p:nvSpPr>
          <p:cNvPr id="37" name="TextBox 36"/>
          <p:cNvSpPr txBox="1"/>
          <p:nvPr/>
        </p:nvSpPr>
        <p:spPr>
          <a:xfrm>
            <a:off x="8347253" y="3291586"/>
            <a:ext cx="3167786" cy="469392"/>
          </a:xfrm>
          <a:prstGeom prst="rect">
            <a:avLst/>
          </a:prstGeom>
          <a:noFill/>
        </p:spPr>
        <p:txBody>
          <a:bodyPr wrap="square" lIns="0" rIns="0" tIns="0" bIns="0" anchor="t">
            <a:noAutofit/>
          </a:bodyPr>
          <a:lstStyle/>
          <a:p>
            <a:pPr algn="l">
              <a:lnSpc>
                <a:spcPts val="1739"/>
              </a:lnSpc>
              <a:spcBef>
                <a:spcPts val="0"/>
              </a:spcBef>
              <a:spcAft>
                <a:spcPts val="0"/>
              </a:spcAft>
            </a:pPr>
            <a:r>
              <a:rPr sz="1200" b="0" i="0">
                <a:solidFill>
                  <a:srgbClr val="5C5B56"/>
                </a:solidFill>
                <a:latin typeface="Apple SD Gothic Neo"/>
                <a:ea typeface="Apple SD Gothic Neo"/>
              </a:rPr>
              <a:t>슬라이더를 아무렇게나 움직여 점수만 맞추면 왜 그 값을 골랐는지 남지 않습니다.</a:t>
            </a:r>
          </a:p>
        </p:txBody>
      </p:sp>
      <p:sp>
        <p:nvSpPr>
          <p:cNvPr id="38" name="Rectangle 37"/>
          <p:cNvSpPr/>
          <p:nvPr/>
        </p:nvSpPr>
        <p:spPr>
          <a:xfrm>
            <a:off x="8347253" y="4163943"/>
            <a:ext cx="3167786" cy="9144"/>
          </a:xfrm>
          <a:prstGeom prst="rect">
            <a:avLst/>
          </a:prstGeom>
          <a:solidFill>
            <a:srgbClr val="DDDBD2"/>
          </a:solidFill>
          <a:ln>
            <a:noFill/>
          </a:ln>
        </p:spPr>
        <p:txBody>
          <a:bodyPr rtlCol="0" anchor="ctr"/>
          <a:lstStyle/>
          <a:p>
            <a:pPr algn="ctr"/>
          </a:p>
        </p:txBody>
      </p:sp>
      <p:sp>
        <p:nvSpPr>
          <p:cNvPr id="39" name="Rounded Rectangle 38"/>
          <p:cNvSpPr/>
          <p:nvPr/>
        </p:nvSpPr>
        <p:spPr>
          <a:xfrm>
            <a:off x="8347253" y="4585195"/>
            <a:ext cx="452349" cy="274320"/>
          </a:xfrm>
          <a:prstGeom prst="roundRect">
            <a:avLst>
              <a:gd name="adj" fmla="val 50000"/>
            </a:avLst>
          </a:prstGeom>
          <a:solidFill>
            <a:srgbClr val="D4F94E"/>
          </a:solidFill>
          <a:ln>
            <a:noFill/>
          </a:ln>
        </p:spPr>
        <p:txBody>
          <a:bodyPr rtlCol="0" anchor="ctr"/>
          <a:lstStyle/>
          <a:p>
            <a:pPr algn="ctr"/>
          </a:p>
        </p:txBody>
      </p:sp>
      <p:sp>
        <p:nvSpPr>
          <p:cNvPr id="40" name="TextBox 39"/>
          <p:cNvSpPr txBox="1"/>
          <p:nvPr/>
        </p:nvSpPr>
        <p:spPr>
          <a:xfrm>
            <a:off x="8456981" y="4585195"/>
            <a:ext cx="278613" cy="274320"/>
          </a:xfrm>
          <a:prstGeom prst="rect">
            <a:avLst/>
          </a:prstGeom>
          <a:noFill/>
        </p:spPr>
        <p:txBody>
          <a:bodyPr wrap="square" lIns="0" rIns="0" tIns="0" bIns="0" anchor="ctr">
            <a:noAutofit/>
          </a:bodyPr>
          <a:lstStyle/>
          <a:p>
            <a:pPr algn="l">
              <a:lnSpc>
                <a:spcPts val="1300"/>
              </a:lnSpc>
              <a:spcBef>
                <a:spcPts val="0"/>
              </a:spcBef>
              <a:spcAft>
                <a:spcPts val="0"/>
              </a:spcAft>
            </a:pPr>
            <a:r>
              <a:rPr sz="1000" b="1" i="0">
                <a:solidFill>
                  <a:srgbClr val="1E3A1E"/>
                </a:solidFill>
                <a:latin typeface="Apple SD Gothic Neo"/>
                <a:ea typeface="Apple SD Gothic Neo"/>
              </a:rPr>
              <a:t>해결</a:t>
            </a:r>
          </a:p>
        </p:txBody>
      </p:sp>
      <p:sp>
        <p:nvSpPr>
          <p:cNvPr id="41" name="TextBox 40"/>
          <p:cNvSpPr txBox="1"/>
          <p:nvPr/>
        </p:nvSpPr>
        <p:spPr>
          <a:xfrm>
            <a:off x="8347253" y="4950955"/>
            <a:ext cx="3167786" cy="690372"/>
          </a:xfrm>
          <a:prstGeom prst="rect">
            <a:avLst/>
          </a:prstGeom>
          <a:noFill/>
        </p:spPr>
        <p:txBody>
          <a:bodyPr wrap="square" lIns="0" rIns="0" tIns="0" bIns="0" anchor="t">
            <a:noAutofit/>
          </a:bodyPr>
          <a:lstStyle/>
          <a:p>
            <a:pPr algn="l">
              <a:lnSpc>
                <a:spcPts val="1739"/>
              </a:lnSpc>
              <a:spcBef>
                <a:spcPts val="0"/>
              </a:spcBef>
              <a:spcAft>
                <a:spcPts val="0"/>
              </a:spcAft>
            </a:pPr>
            <a:r>
              <a:rPr sz="1200" b="0" i="0">
                <a:solidFill>
                  <a:srgbClr val="141413"/>
                </a:solidFill>
                <a:latin typeface="Apple SD Gothic Neo"/>
                <a:ea typeface="Apple SD Gothic Neo"/>
              </a:rPr>
              <a:t>데이터와 맞는 근거 칩을 골라야 다음으로 넘어가고, 특허 명세서·동물실험계획서·임상 신청서를 직접 써서 심사받습니다.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03 / 26</a:t>
            </a:r>
          </a:p>
        </p:txBody>
      </p:sp>
      <p:sp>
        <p:nvSpPr>
          <p:cNvPr id="7" name="Rounded Rectangle 6"/>
          <p:cNvSpPr/>
          <p:nvPr/>
        </p:nvSpPr>
        <p:spPr>
          <a:xfrm>
            <a:off x="457200" y="566928"/>
            <a:ext cx="2460367"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186047"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1 · 신약 개발의 실제 흐름</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신약 개발 파이프라인이란 무엇인가 — 10,000개에서 1개가 남는 깔때기</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실제 제약산업에서 10~15년, 2조~3조 원이 걸리는 네 단계의 의사결정 과정을 한 학급 수업으로 압축했습니다.</a:t>
            </a:r>
          </a:p>
        </p:txBody>
      </p:sp>
      <p:sp>
        <p:nvSpPr>
          <p:cNvPr id="12" name="Trapezoid 11"/>
          <p:cNvSpPr/>
          <p:nvPr/>
        </p:nvSpPr>
        <p:spPr>
          <a:xfrm flipV="1">
            <a:off x="457200" y="1825498"/>
            <a:ext cx="1920240" cy="1184974"/>
          </a:xfrm>
          <a:prstGeom prst="trapezoid">
            <a:avLst>
              <a:gd name="adj" fmla="val 18519"/>
            </a:avLst>
          </a:prstGeom>
          <a:solidFill>
            <a:srgbClr val="D4F94E"/>
          </a:solidFill>
          <a:ln>
            <a:noFill/>
          </a:ln>
        </p:spPr>
        <p:txBody>
          <a:bodyPr rtlCol="0" anchor="ctr"/>
          <a:lstStyle/>
          <a:p>
            <a:pPr algn="ctr"/>
          </a:p>
        </p:txBody>
      </p:sp>
      <p:sp>
        <p:nvSpPr>
          <p:cNvPr id="13" name="Trapezoid 12"/>
          <p:cNvSpPr/>
          <p:nvPr/>
        </p:nvSpPr>
        <p:spPr>
          <a:xfrm flipV="1">
            <a:off x="676656" y="3010472"/>
            <a:ext cx="1481328" cy="1184974"/>
          </a:xfrm>
          <a:prstGeom prst="trapezoid">
            <a:avLst>
              <a:gd name="adj" fmla="val 18519"/>
            </a:avLst>
          </a:prstGeom>
          <a:solidFill>
            <a:srgbClr val="A8D545"/>
          </a:solidFill>
          <a:ln>
            <a:noFill/>
          </a:ln>
        </p:spPr>
        <p:txBody>
          <a:bodyPr rtlCol="0" anchor="ctr"/>
          <a:lstStyle/>
          <a:p>
            <a:pPr algn="ctr"/>
          </a:p>
        </p:txBody>
      </p:sp>
      <p:sp>
        <p:nvSpPr>
          <p:cNvPr id="14" name="Trapezoid 13"/>
          <p:cNvSpPr/>
          <p:nvPr/>
        </p:nvSpPr>
        <p:spPr>
          <a:xfrm flipV="1">
            <a:off x="896112" y="4195445"/>
            <a:ext cx="1042416" cy="1184974"/>
          </a:xfrm>
          <a:prstGeom prst="trapezoid">
            <a:avLst>
              <a:gd name="adj" fmla="val 21052"/>
            </a:avLst>
          </a:prstGeom>
          <a:solidFill>
            <a:srgbClr val="5C8A35"/>
          </a:solidFill>
          <a:ln>
            <a:noFill/>
          </a:ln>
        </p:spPr>
        <p:txBody>
          <a:bodyPr rtlCol="0" anchor="ctr"/>
          <a:lstStyle/>
          <a:p>
            <a:pPr algn="ctr"/>
          </a:p>
        </p:txBody>
      </p:sp>
      <p:sp>
        <p:nvSpPr>
          <p:cNvPr id="15" name="Trapezoid 14"/>
          <p:cNvSpPr/>
          <p:nvPr/>
        </p:nvSpPr>
        <p:spPr>
          <a:xfrm flipV="1">
            <a:off x="1115568" y="5380418"/>
            <a:ext cx="603504" cy="1093534"/>
          </a:xfrm>
          <a:prstGeom prst="trapezoid">
            <a:avLst>
              <a:gd name="adj" fmla="val 24242"/>
            </a:avLst>
          </a:prstGeom>
          <a:solidFill>
            <a:srgbClr val="1E3A1E"/>
          </a:solidFill>
          <a:ln>
            <a:noFill/>
          </a:ln>
        </p:spPr>
        <p:txBody>
          <a:bodyPr rtlCol="0" anchor="ctr"/>
          <a:lstStyle/>
          <a:p>
            <a:pPr algn="ctr"/>
          </a:p>
        </p:txBody>
      </p:sp>
      <p:sp>
        <p:nvSpPr>
          <p:cNvPr id="16" name="Rounded Rectangle 15"/>
          <p:cNvSpPr/>
          <p:nvPr/>
        </p:nvSpPr>
        <p:spPr>
          <a:xfrm>
            <a:off x="2606040" y="1825498"/>
            <a:ext cx="5212080" cy="1093534"/>
          </a:xfrm>
          <a:prstGeom prst="roundRect">
            <a:avLst>
              <a:gd name="adj" fmla="val 13379"/>
            </a:avLst>
          </a:prstGeom>
          <a:solidFill>
            <a:srgbClr val="FFFFFF"/>
          </a:solidFill>
          <a:ln>
            <a:noFill/>
          </a:ln>
        </p:spPr>
        <p:txBody>
          <a:bodyPr rtlCol="0" anchor="ctr"/>
          <a:lstStyle/>
          <a:p>
            <a:pPr algn="ctr"/>
          </a:p>
        </p:txBody>
      </p:sp>
      <p:sp>
        <p:nvSpPr>
          <p:cNvPr id="17" name="TextBox 16"/>
          <p:cNvSpPr txBox="1"/>
          <p:nvPr/>
        </p:nvSpPr>
        <p:spPr>
          <a:xfrm>
            <a:off x="2788920" y="2008378"/>
            <a:ext cx="4846320" cy="727774"/>
          </a:xfrm>
          <a:prstGeom prst="rect">
            <a:avLst/>
          </a:prstGeom>
          <a:noFill/>
        </p:spPr>
        <p:txBody>
          <a:bodyPr wrap="square" lIns="0" rIns="0" tIns="0" bIns="0" anchor="ctr">
            <a:noAutofit/>
          </a:bodyPr>
          <a:lstStyle/>
          <a:p>
            <a:pPr algn="l">
              <a:lnSpc>
                <a:spcPts val="1625"/>
              </a:lnSpc>
              <a:spcBef>
                <a:spcPts val="0"/>
              </a:spcBef>
              <a:spcAft>
                <a:spcPts val="0"/>
              </a:spcAft>
            </a:pPr>
            <a:r>
              <a:rPr sz="1250" b="1" i="0">
                <a:solidFill>
                  <a:srgbClr val="141413"/>
                </a:solidFill>
                <a:latin typeface="Apple SD Gothic Neo"/>
                <a:ea typeface="Apple SD Gothic Neo"/>
              </a:rPr>
              <a:t>1. 발견 (Discovery) · 10,000개 → 200개</a:t>
            </a:r>
          </a:p>
          <a:p>
            <a:pPr algn="l">
              <a:lnSpc>
                <a:spcPts val="1518"/>
              </a:lnSpc>
              <a:spcBef>
                <a:spcPts val="300"/>
              </a:spcBef>
              <a:spcAft>
                <a:spcPts val="0"/>
              </a:spcAft>
            </a:pPr>
            <a:r>
              <a:rPr sz="1100" b="0" i="0">
                <a:solidFill>
                  <a:srgbClr val="5C5B56"/>
                </a:solidFill>
                <a:latin typeface="Apple SD Gothic Neo"/>
                <a:ea typeface="Apple SD Gothic Neo"/>
              </a:rPr>
              <a:t>질병의 원인 단백질을 찾고, 수만 개 화합물 중 가망 없는 분자를 물성 기준으로 걸러냅니다.</a:t>
            </a:r>
          </a:p>
        </p:txBody>
      </p:sp>
      <p:sp>
        <p:nvSpPr>
          <p:cNvPr id="18" name="Rounded Rectangle 17"/>
          <p:cNvSpPr/>
          <p:nvPr/>
        </p:nvSpPr>
        <p:spPr>
          <a:xfrm>
            <a:off x="2606040" y="3010472"/>
            <a:ext cx="5212080" cy="1093534"/>
          </a:xfrm>
          <a:prstGeom prst="roundRect">
            <a:avLst>
              <a:gd name="adj" fmla="val 13379"/>
            </a:avLst>
          </a:prstGeom>
          <a:solidFill>
            <a:srgbClr val="FFFFFF"/>
          </a:solidFill>
          <a:ln>
            <a:noFill/>
          </a:ln>
        </p:spPr>
        <p:txBody>
          <a:bodyPr rtlCol="0" anchor="ctr"/>
          <a:lstStyle/>
          <a:p>
            <a:pPr algn="ctr"/>
          </a:p>
        </p:txBody>
      </p:sp>
      <p:sp>
        <p:nvSpPr>
          <p:cNvPr id="19" name="TextBox 18"/>
          <p:cNvSpPr txBox="1"/>
          <p:nvPr/>
        </p:nvSpPr>
        <p:spPr>
          <a:xfrm>
            <a:off x="2788920" y="3193352"/>
            <a:ext cx="4846320" cy="727774"/>
          </a:xfrm>
          <a:prstGeom prst="rect">
            <a:avLst/>
          </a:prstGeom>
          <a:noFill/>
        </p:spPr>
        <p:txBody>
          <a:bodyPr wrap="square" lIns="0" rIns="0" tIns="0" bIns="0" anchor="ctr">
            <a:noAutofit/>
          </a:bodyPr>
          <a:lstStyle/>
          <a:p>
            <a:pPr algn="l">
              <a:lnSpc>
                <a:spcPts val="1625"/>
              </a:lnSpc>
              <a:spcBef>
                <a:spcPts val="0"/>
              </a:spcBef>
              <a:spcAft>
                <a:spcPts val="0"/>
              </a:spcAft>
            </a:pPr>
            <a:r>
              <a:rPr sz="1250" b="1" i="0">
                <a:solidFill>
                  <a:srgbClr val="141413"/>
                </a:solidFill>
                <a:latin typeface="Apple SD Gothic Neo"/>
                <a:ea typeface="Apple SD Gothic Neo"/>
              </a:rPr>
              <a:t>2. 최적화 (Optimization) · 200개 → 5~10개</a:t>
            </a:r>
          </a:p>
          <a:p>
            <a:pPr algn="l">
              <a:lnSpc>
                <a:spcPts val="1518"/>
              </a:lnSpc>
              <a:spcBef>
                <a:spcPts val="300"/>
              </a:spcBef>
              <a:spcAft>
                <a:spcPts val="0"/>
              </a:spcAft>
            </a:pPr>
            <a:r>
              <a:rPr sz="1100" b="0" i="0">
                <a:solidFill>
                  <a:srgbClr val="5C5B56"/>
                </a:solidFill>
                <a:latin typeface="Apple SD Gothic Neo"/>
                <a:ea typeface="Apple SD Gothic Neo"/>
              </a:rPr>
              <a:t>단백질 주머니에 단단히 붙는지(도킹) 계산하고, 분자 구조를 고쳐 흡수율과 독성(ADMET)을 맞춥니다.</a:t>
            </a:r>
          </a:p>
        </p:txBody>
      </p:sp>
      <p:sp>
        <p:nvSpPr>
          <p:cNvPr id="20" name="Rounded Rectangle 19"/>
          <p:cNvSpPr/>
          <p:nvPr/>
        </p:nvSpPr>
        <p:spPr>
          <a:xfrm>
            <a:off x="2606040" y="4195445"/>
            <a:ext cx="5212080" cy="1093534"/>
          </a:xfrm>
          <a:prstGeom prst="roundRect">
            <a:avLst>
              <a:gd name="adj" fmla="val 13379"/>
            </a:avLst>
          </a:prstGeom>
          <a:solidFill>
            <a:srgbClr val="FFFFFF"/>
          </a:solidFill>
          <a:ln>
            <a:noFill/>
          </a:ln>
        </p:spPr>
        <p:txBody>
          <a:bodyPr rtlCol="0" anchor="ctr"/>
          <a:lstStyle/>
          <a:p>
            <a:pPr algn="ctr"/>
          </a:p>
        </p:txBody>
      </p:sp>
      <p:sp>
        <p:nvSpPr>
          <p:cNvPr id="21" name="TextBox 20"/>
          <p:cNvSpPr txBox="1"/>
          <p:nvPr/>
        </p:nvSpPr>
        <p:spPr>
          <a:xfrm>
            <a:off x="2788920" y="4378325"/>
            <a:ext cx="4846320" cy="727774"/>
          </a:xfrm>
          <a:prstGeom prst="rect">
            <a:avLst/>
          </a:prstGeom>
          <a:noFill/>
        </p:spPr>
        <p:txBody>
          <a:bodyPr wrap="square" lIns="0" rIns="0" tIns="0" bIns="0" anchor="ctr">
            <a:noAutofit/>
          </a:bodyPr>
          <a:lstStyle/>
          <a:p>
            <a:pPr algn="l">
              <a:lnSpc>
                <a:spcPts val="1625"/>
              </a:lnSpc>
              <a:spcBef>
                <a:spcPts val="0"/>
              </a:spcBef>
              <a:spcAft>
                <a:spcPts val="0"/>
              </a:spcAft>
            </a:pPr>
            <a:r>
              <a:rPr sz="1250" b="1" i="0">
                <a:solidFill>
                  <a:srgbClr val="141413"/>
                </a:solidFill>
                <a:latin typeface="Apple SD Gothic Neo"/>
                <a:ea typeface="Apple SD Gothic Neo"/>
              </a:rPr>
              <a:t>3. 개발·규제 (Preclinical &amp; IND) · 3개 → 주력 1 + 백업 1</a:t>
            </a:r>
          </a:p>
          <a:p>
            <a:pPr algn="l">
              <a:lnSpc>
                <a:spcPts val="1518"/>
              </a:lnSpc>
              <a:spcBef>
                <a:spcPts val="300"/>
              </a:spcBef>
              <a:spcAft>
                <a:spcPts val="0"/>
              </a:spcAft>
            </a:pPr>
            <a:r>
              <a:rPr sz="1100" b="0" i="0">
                <a:solidFill>
                  <a:srgbClr val="5C5B56"/>
                </a:solidFill>
                <a:latin typeface="Apple SD Gothic Neo"/>
                <a:ea typeface="Apple SD Gothic Neo"/>
              </a:rPr>
              <a:t>물질특허를 출원하고, 동물실험(3R 윤리)으로 안전한 시작 용량(MRSD)을 구해 임상시험 계획(IND) 승인을 받습니다.</a:t>
            </a:r>
          </a:p>
        </p:txBody>
      </p:sp>
      <p:sp>
        <p:nvSpPr>
          <p:cNvPr id="22" name="Rounded Rectangle 21"/>
          <p:cNvSpPr/>
          <p:nvPr/>
        </p:nvSpPr>
        <p:spPr>
          <a:xfrm>
            <a:off x="2606040" y="5380418"/>
            <a:ext cx="5212080" cy="1093534"/>
          </a:xfrm>
          <a:prstGeom prst="roundRect">
            <a:avLst>
              <a:gd name="adj" fmla="val 13379"/>
            </a:avLst>
          </a:prstGeom>
          <a:solidFill>
            <a:srgbClr val="FFFFFF"/>
          </a:solidFill>
          <a:ln>
            <a:noFill/>
          </a:ln>
        </p:spPr>
        <p:txBody>
          <a:bodyPr rtlCol="0" anchor="ctr"/>
          <a:lstStyle/>
          <a:p>
            <a:pPr algn="ctr"/>
          </a:p>
        </p:txBody>
      </p:sp>
      <p:sp>
        <p:nvSpPr>
          <p:cNvPr id="23" name="TextBox 22"/>
          <p:cNvSpPr txBox="1"/>
          <p:nvPr/>
        </p:nvSpPr>
        <p:spPr>
          <a:xfrm>
            <a:off x="2788920" y="5563298"/>
            <a:ext cx="4846320" cy="727774"/>
          </a:xfrm>
          <a:prstGeom prst="rect">
            <a:avLst/>
          </a:prstGeom>
          <a:noFill/>
        </p:spPr>
        <p:txBody>
          <a:bodyPr wrap="square" lIns="0" rIns="0" tIns="0" bIns="0" anchor="ctr">
            <a:noAutofit/>
          </a:bodyPr>
          <a:lstStyle/>
          <a:p>
            <a:pPr algn="l">
              <a:lnSpc>
                <a:spcPts val="1625"/>
              </a:lnSpc>
              <a:spcBef>
                <a:spcPts val="0"/>
              </a:spcBef>
              <a:spcAft>
                <a:spcPts val="0"/>
              </a:spcAft>
            </a:pPr>
            <a:r>
              <a:rPr sz="1250" b="1" i="0">
                <a:solidFill>
                  <a:srgbClr val="141413"/>
                </a:solidFill>
                <a:latin typeface="Apple SD Gothic Neo"/>
                <a:ea typeface="Apple SD Gothic Neo"/>
              </a:rPr>
              <a:t>4. 임상·허가 (Clinical &amp; NDA) · 최종 신약 1개</a:t>
            </a:r>
          </a:p>
          <a:p>
            <a:pPr algn="l">
              <a:lnSpc>
                <a:spcPts val="1518"/>
              </a:lnSpc>
              <a:spcBef>
                <a:spcPts val="300"/>
              </a:spcBef>
              <a:spcAft>
                <a:spcPts val="0"/>
              </a:spcAft>
            </a:pPr>
            <a:r>
              <a:rPr sz="1100" b="0" i="0">
                <a:solidFill>
                  <a:srgbClr val="5C5B56"/>
                </a:solidFill>
                <a:latin typeface="Apple SD Gothic Neo"/>
                <a:ea typeface="Apple SD Gothic Neo"/>
              </a:rPr>
              <a:t>사람을 대상으로 1상(안전)·2상(효능)·3상(대규모 확증)을 거쳐 식약처·FDA 판매 허가를 받습니다.</a:t>
            </a:r>
          </a:p>
        </p:txBody>
      </p:sp>
      <p:sp>
        <p:nvSpPr>
          <p:cNvPr id="24" name="Rounded Rectangle 23"/>
          <p:cNvSpPr/>
          <p:nvPr/>
        </p:nvSpPr>
        <p:spPr>
          <a:xfrm>
            <a:off x="8046720" y="1825498"/>
            <a:ext cx="3687775" cy="4648454"/>
          </a:xfrm>
          <a:prstGeom prst="roundRect">
            <a:avLst>
              <a:gd name="adj" fmla="val 5454"/>
            </a:avLst>
          </a:prstGeom>
          <a:solidFill>
            <a:srgbClr val="1E3A1E"/>
          </a:solidFill>
          <a:ln>
            <a:noFill/>
          </a:ln>
        </p:spPr>
        <p:txBody>
          <a:bodyPr rtlCol="0" anchor="ctr"/>
          <a:lstStyle/>
          <a:p>
            <a:pPr algn="ctr"/>
          </a:p>
        </p:txBody>
      </p:sp>
      <p:sp>
        <p:nvSpPr>
          <p:cNvPr id="25" name="TextBox 24"/>
          <p:cNvSpPr txBox="1"/>
          <p:nvPr/>
        </p:nvSpPr>
        <p:spPr>
          <a:xfrm>
            <a:off x="8321040" y="1880362"/>
            <a:ext cx="3139135" cy="983806"/>
          </a:xfrm>
          <a:prstGeom prst="rect">
            <a:avLst/>
          </a:prstGeom>
          <a:noFill/>
        </p:spPr>
        <p:txBody>
          <a:bodyPr wrap="square" lIns="0" rIns="0" tIns="0" bIns="0" anchor="ctr">
            <a:noAutofit/>
          </a:bodyPr>
          <a:lstStyle/>
          <a:p>
            <a:pPr algn="l">
              <a:lnSpc>
                <a:spcPts val="1365"/>
              </a:lnSpc>
              <a:spcBef>
                <a:spcPts val="0"/>
              </a:spcBef>
              <a:spcAft>
                <a:spcPts val="0"/>
              </a:spcAft>
            </a:pPr>
            <a:r>
              <a:rPr sz="1050" b="1" i="0">
                <a:solidFill>
                  <a:srgbClr val="D4F94E"/>
                </a:solidFill>
                <a:latin typeface="Apple SD Gothic Neo"/>
                <a:ea typeface="Apple SD Gothic Neo"/>
              </a:rPr>
              <a:t>발견</a:t>
            </a:r>
          </a:p>
          <a:p>
            <a:pPr algn="l">
              <a:lnSpc>
                <a:spcPts val="1687"/>
              </a:lnSpc>
              <a:spcBef>
                <a:spcPts val="300"/>
              </a:spcBef>
              <a:spcAft>
                <a:spcPts val="0"/>
              </a:spcAft>
            </a:pPr>
            <a:r>
              <a:rPr sz="1250" b="0" i="0">
                <a:solidFill>
                  <a:srgbClr val="FAF9F5"/>
                </a:solidFill>
                <a:latin typeface="Apple SD Gothic Neo"/>
                <a:ea typeface="Apple SD Gothic Neo"/>
              </a:rPr>
              <a:t>"누구를 겨냥할까? 어떤 분자부터 시험할까?"</a:t>
            </a:r>
          </a:p>
        </p:txBody>
      </p:sp>
      <p:sp>
        <p:nvSpPr>
          <p:cNvPr id="26" name="Rectangle 25"/>
          <p:cNvSpPr/>
          <p:nvPr/>
        </p:nvSpPr>
        <p:spPr>
          <a:xfrm>
            <a:off x="8321040" y="2964752"/>
            <a:ext cx="3139135" cy="10973"/>
          </a:xfrm>
          <a:prstGeom prst="rect">
            <a:avLst/>
          </a:prstGeom>
          <a:solidFill>
            <a:srgbClr val="3F5F3F"/>
          </a:solidFill>
          <a:ln>
            <a:noFill/>
          </a:ln>
        </p:spPr>
        <p:txBody>
          <a:bodyPr rtlCol="0" anchor="ctr"/>
          <a:lstStyle/>
          <a:p>
            <a:pPr algn="ctr"/>
          </a:p>
        </p:txBody>
      </p:sp>
      <p:sp>
        <p:nvSpPr>
          <p:cNvPr id="27" name="TextBox 26"/>
          <p:cNvSpPr txBox="1"/>
          <p:nvPr/>
        </p:nvSpPr>
        <p:spPr>
          <a:xfrm>
            <a:off x="8321040" y="3065336"/>
            <a:ext cx="3139135" cy="983806"/>
          </a:xfrm>
          <a:prstGeom prst="rect">
            <a:avLst/>
          </a:prstGeom>
          <a:noFill/>
        </p:spPr>
        <p:txBody>
          <a:bodyPr wrap="square" lIns="0" rIns="0" tIns="0" bIns="0" anchor="ctr">
            <a:noAutofit/>
          </a:bodyPr>
          <a:lstStyle/>
          <a:p>
            <a:pPr algn="l">
              <a:lnSpc>
                <a:spcPts val="1365"/>
              </a:lnSpc>
              <a:spcBef>
                <a:spcPts val="0"/>
              </a:spcBef>
              <a:spcAft>
                <a:spcPts val="0"/>
              </a:spcAft>
            </a:pPr>
            <a:r>
              <a:rPr sz="1050" b="1" i="0">
                <a:solidFill>
                  <a:srgbClr val="D4F94E"/>
                </a:solidFill>
                <a:latin typeface="Apple SD Gothic Neo"/>
                <a:ea typeface="Apple SD Gothic Neo"/>
              </a:rPr>
              <a:t>최적화</a:t>
            </a:r>
          </a:p>
          <a:p>
            <a:pPr algn="l">
              <a:lnSpc>
                <a:spcPts val="1687"/>
              </a:lnSpc>
              <a:spcBef>
                <a:spcPts val="300"/>
              </a:spcBef>
              <a:spcAft>
                <a:spcPts val="0"/>
              </a:spcAft>
            </a:pPr>
            <a:r>
              <a:rPr sz="1250" b="0" i="0">
                <a:solidFill>
                  <a:srgbClr val="FAF9F5"/>
                </a:solidFill>
                <a:latin typeface="Apple SD Gothic Neo"/>
                <a:ea typeface="Apple SD Gothic Neo"/>
              </a:rPr>
              <a:t>"단백질에 잘 붙을까? 몸속에서 안전할까?"</a:t>
            </a:r>
          </a:p>
        </p:txBody>
      </p:sp>
      <p:sp>
        <p:nvSpPr>
          <p:cNvPr id="28" name="Rectangle 27"/>
          <p:cNvSpPr/>
          <p:nvPr/>
        </p:nvSpPr>
        <p:spPr>
          <a:xfrm>
            <a:off x="8321040" y="4149725"/>
            <a:ext cx="3139135" cy="10973"/>
          </a:xfrm>
          <a:prstGeom prst="rect">
            <a:avLst/>
          </a:prstGeom>
          <a:solidFill>
            <a:srgbClr val="3F5F3F"/>
          </a:solidFill>
          <a:ln>
            <a:noFill/>
          </a:ln>
        </p:spPr>
        <p:txBody>
          <a:bodyPr rtlCol="0" anchor="ctr"/>
          <a:lstStyle/>
          <a:p>
            <a:pPr algn="ctr"/>
          </a:p>
        </p:txBody>
      </p:sp>
      <p:sp>
        <p:nvSpPr>
          <p:cNvPr id="29" name="TextBox 28"/>
          <p:cNvSpPr txBox="1"/>
          <p:nvPr/>
        </p:nvSpPr>
        <p:spPr>
          <a:xfrm>
            <a:off x="8321040" y="4250309"/>
            <a:ext cx="3139135" cy="983806"/>
          </a:xfrm>
          <a:prstGeom prst="rect">
            <a:avLst/>
          </a:prstGeom>
          <a:noFill/>
        </p:spPr>
        <p:txBody>
          <a:bodyPr wrap="square" lIns="0" rIns="0" tIns="0" bIns="0" anchor="ctr">
            <a:noAutofit/>
          </a:bodyPr>
          <a:lstStyle/>
          <a:p>
            <a:pPr algn="l">
              <a:lnSpc>
                <a:spcPts val="1365"/>
              </a:lnSpc>
              <a:spcBef>
                <a:spcPts val="0"/>
              </a:spcBef>
              <a:spcAft>
                <a:spcPts val="0"/>
              </a:spcAft>
            </a:pPr>
            <a:r>
              <a:rPr sz="1050" b="1" i="0">
                <a:solidFill>
                  <a:srgbClr val="D4F94E"/>
                </a:solidFill>
                <a:latin typeface="Apple SD Gothic Neo"/>
                <a:ea typeface="Apple SD Gothic Neo"/>
              </a:rPr>
              <a:t>개발·규제</a:t>
            </a:r>
          </a:p>
          <a:p>
            <a:pPr algn="l">
              <a:lnSpc>
                <a:spcPts val="1687"/>
              </a:lnSpc>
              <a:spcBef>
                <a:spcPts val="300"/>
              </a:spcBef>
              <a:spcAft>
                <a:spcPts val="0"/>
              </a:spcAft>
            </a:pPr>
            <a:r>
              <a:rPr sz="1250" b="0" i="0">
                <a:solidFill>
                  <a:srgbClr val="FAF9F5"/>
                </a:solidFill>
                <a:latin typeface="Apple SD Gothic Neo"/>
                <a:ea typeface="Apple SD Gothic Neo"/>
              </a:rPr>
              <a:t>"특허로 지킬 수 있을까? 사람에게 처음 줄 용량은 얼마일까?"</a:t>
            </a:r>
          </a:p>
        </p:txBody>
      </p:sp>
      <p:sp>
        <p:nvSpPr>
          <p:cNvPr id="30" name="Rectangle 29"/>
          <p:cNvSpPr/>
          <p:nvPr/>
        </p:nvSpPr>
        <p:spPr>
          <a:xfrm>
            <a:off x="8321040" y="5334698"/>
            <a:ext cx="3139135" cy="10973"/>
          </a:xfrm>
          <a:prstGeom prst="rect">
            <a:avLst/>
          </a:prstGeom>
          <a:solidFill>
            <a:srgbClr val="3F5F3F"/>
          </a:solidFill>
          <a:ln>
            <a:noFill/>
          </a:ln>
        </p:spPr>
        <p:txBody>
          <a:bodyPr rtlCol="0" anchor="ctr"/>
          <a:lstStyle/>
          <a:p>
            <a:pPr algn="ctr"/>
          </a:p>
        </p:txBody>
      </p:sp>
      <p:sp>
        <p:nvSpPr>
          <p:cNvPr id="31" name="TextBox 30"/>
          <p:cNvSpPr txBox="1"/>
          <p:nvPr/>
        </p:nvSpPr>
        <p:spPr>
          <a:xfrm>
            <a:off x="8321040" y="5435282"/>
            <a:ext cx="3139135" cy="983806"/>
          </a:xfrm>
          <a:prstGeom prst="rect">
            <a:avLst/>
          </a:prstGeom>
          <a:noFill/>
        </p:spPr>
        <p:txBody>
          <a:bodyPr wrap="square" lIns="0" rIns="0" tIns="0" bIns="0" anchor="ctr">
            <a:noAutofit/>
          </a:bodyPr>
          <a:lstStyle/>
          <a:p>
            <a:pPr algn="l">
              <a:lnSpc>
                <a:spcPts val="1365"/>
              </a:lnSpc>
              <a:spcBef>
                <a:spcPts val="0"/>
              </a:spcBef>
              <a:spcAft>
                <a:spcPts val="0"/>
              </a:spcAft>
            </a:pPr>
            <a:r>
              <a:rPr sz="1050" b="1" i="0">
                <a:solidFill>
                  <a:srgbClr val="D4F94E"/>
                </a:solidFill>
                <a:latin typeface="Apple SD Gothic Neo"/>
                <a:ea typeface="Apple SD Gothic Neo"/>
              </a:rPr>
              <a:t>임상·허가</a:t>
            </a:r>
          </a:p>
          <a:p>
            <a:pPr algn="l">
              <a:lnSpc>
                <a:spcPts val="1687"/>
              </a:lnSpc>
              <a:spcBef>
                <a:spcPts val="300"/>
              </a:spcBef>
              <a:spcAft>
                <a:spcPts val="0"/>
              </a:spcAft>
            </a:pPr>
            <a:r>
              <a:rPr sz="1250" b="0" i="0">
                <a:solidFill>
                  <a:srgbClr val="FAF9F5"/>
                </a:solidFill>
                <a:latin typeface="Apple SD Gothic Neo"/>
                <a:ea typeface="Apple SD Gothic Neo"/>
              </a:rPr>
              <a:t>"실제 환자에게도 안전하고 약효가 있을까?"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04 / 26</a:t>
            </a:r>
          </a:p>
        </p:txBody>
      </p:sp>
      <p:sp>
        <p:nvSpPr>
          <p:cNvPr id="7" name="Rounded Rectangle 6"/>
          <p:cNvSpPr/>
          <p:nvPr/>
        </p:nvSpPr>
        <p:spPr>
          <a:xfrm>
            <a:off x="457200" y="566928"/>
            <a:ext cx="1802933"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1528613"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1 · 플랫폼 개요</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우리 반에 세워지는 8개 바이오 스타트업과 실시간 전광판</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각 모둠은 상장가 $10.00의 제약 스타트업이 되어 연구비를 운용하고 학급 전광판에서 경쟁합니다.</a:t>
            </a:r>
          </a:p>
        </p:txBody>
      </p:sp>
      <p:sp>
        <p:nvSpPr>
          <p:cNvPr id="12" name="Rounded Rectangle 11"/>
          <p:cNvSpPr/>
          <p:nvPr/>
        </p:nvSpPr>
        <p:spPr>
          <a:xfrm>
            <a:off x="457200" y="1825498"/>
            <a:ext cx="5524348" cy="2209927"/>
          </a:xfrm>
          <a:prstGeom prst="roundRect">
            <a:avLst>
              <a:gd name="adj" fmla="val 9102"/>
            </a:avLst>
          </a:prstGeom>
          <a:solidFill>
            <a:srgbClr val="FFFFFF"/>
          </a:solidFill>
          <a:ln>
            <a:noFill/>
          </a:ln>
        </p:spPr>
        <p:txBody>
          <a:bodyPr rtlCol="0" anchor="ctr"/>
          <a:lstStyle/>
          <a:p>
            <a:pPr algn="ctr"/>
          </a:p>
        </p:txBody>
      </p:sp>
      <p:sp>
        <p:nvSpPr>
          <p:cNvPr id="13" name="Rounded Rectangle 12"/>
          <p:cNvSpPr/>
          <p:nvPr/>
        </p:nvSpPr>
        <p:spPr>
          <a:xfrm>
            <a:off x="731520" y="2136394"/>
            <a:ext cx="274320" cy="274320"/>
          </a:xfrm>
          <a:prstGeom prst="roundRect">
            <a:avLst>
              <a:gd name="adj" fmla="val 26666"/>
            </a:avLst>
          </a:prstGeom>
          <a:solidFill>
            <a:srgbClr val="D4F94E"/>
          </a:solidFill>
          <a:ln>
            <a:noFill/>
          </a:ln>
        </p:spPr>
        <p:txBody>
          <a:bodyPr rtlCol="0" anchor="ctr"/>
          <a:lstStyle/>
          <a:p>
            <a:pPr algn="ctr"/>
          </a:p>
        </p:txBody>
      </p:sp>
      <p:sp>
        <p:nvSpPr>
          <p:cNvPr id="14" name="TextBox 13"/>
          <p:cNvSpPr txBox="1"/>
          <p:nvPr/>
        </p:nvSpPr>
        <p:spPr>
          <a:xfrm>
            <a:off x="1170432" y="2063242"/>
            <a:ext cx="4518508" cy="420624"/>
          </a:xfrm>
          <a:prstGeom prst="rect">
            <a:avLst/>
          </a:prstGeom>
          <a:noFill/>
        </p:spPr>
        <p:txBody>
          <a:bodyPr wrap="square" lIns="0" rIns="0" tIns="0" bIns="0" anchor="ctr">
            <a:noAutofit/>
          </a:bodyPr>
          <a:lstStyle/>
          <a:p>
            <a:pPr algn="l">
              <a:lnSpc>
                <a:spcPts val="1950"/>
              </a:lnSpc>
              <a:spcBef>
                <a:spcPts val="0"/>
              </a:spcBef>
              <a:spcAft>
                <a:spcPts val="0"/>
              </a:spcAft>
            </a:pPr>
            <a:r>
              <a:rPr sz="1500" b="1" i="0">
                <a:solidFill>
                  <a:srgbClr val="141413"/>
                </a:solidFill>
                <a:latin typeface="Apple SD Gothic Neo"/>
                <a:ea typeface="Apple SD Gothic Neo"/>
              </a:rPr>
              <a:t>학급 생태계</a:t>
            </a:r>
          </a:p>
        </p:txBody>
      </p:sp>
      <p:sp>
        <p:nvSpPr>
          <p:cNvPr id="15" name="TextBox 14"/>
          <p:cNvSpPr txBox="1"/>
          <p:nvPr/>
        </p:nvSpPr>
        <p:spPr>
          <a:xfrm>
            <a:off x="731520" y="2648458"/>
            <a:ext cx="4975708" cy="1204087"/>
          </a:xfrm>
          <a:prstGeom prst="rect">
            <a:avLst/>
          </a:prstGeom>
          <a:noFill/>
        </p:spPr>
        <p:txBody>
          <a:bodyPr wrap="square" lIns="0" rIns="0" tIns="0" bIns="0" anchor="t">
            <a:noAutofit/>
          </a:bodyPr>
          <a:lstStyle/>
          <a:p>
            <a:pPr algn="l">
              <a:lnSpc>
                <a:spcPts val="1800"/>
              </a:lnSpc>
              <a:spcBef>
                <a:spcPts val="0"/>
              </a:spcBef>
              <a:spcAft>
                <a:spcPts val="0"/>
              </a:spcAft>
            </a:pPr>
            <a:r>
              <a:rPr sz="1200" b="0" i="0">
                <a:solidFill>
                  <a:srgbClr val="5C5B56"/>
                </a:solidFill>
                <a:latin typeface="Apple SD Gothic Neo"/>
                <a:ea typeface="Apple SD Gothic Neo"/>
              </a:rPr>
              <a:t>교사가 만든 학급 안에서 2~8개 모둠이 서로 다른 사옥과 고유 잉크 색상을 받고 출발합니다.</a:t>
            </a:r>
          </a:p>
        </p:txBody>
      </p:sp>
      <p:sp>
        <p:nvSpPr>
          <p:cNvPr id="16" name="Oval 15"/>
          <p:cNvSpPr/>
          <p:nvPr/>
        </p:nvSpPr>
        <p:spPr>
          <a:xfrm>
            <a:off x="731520" y="3596513"/>
            <a:ext cx="219456" cy="219456"/>
          </a:xfrm>
          <a:prstGeom prst="ellipse">
            <a:avLst/>
          </a:prstGeom>
          <a:solidFill>
            <a:srgbClr val="D4F94E"/>
          </a:solidFill>
          <a:ln>
            <a:noFill/>
          </a:ln>
        </p:spPr>
        <p:txBody>
          <a:bodyPr rtlCol="0" anchor="ctr"/>
          <a:lstStyle/>
          <a:p>
            <a:pPr algn="ctr"/>
          </a:p>
        </p:txBody>
      </p:sp>
      <p:sp>
        <p:nvSpPr>
          <p:cNvPr id="17" name="Oval 16"/>
          <p:cNvSpPr/>
          <p:nvPr/>
        </p:nvSpPr>
        <p:spPr>
          <a:xfrm>
            <a:off x="1060704" y="3596513"/>
            <a:ext cx="219456" cy="219456"/>
          </a:xfrm>
          <a:prstGeom prst="ellipse">
            <a:avLst/>
          </a:prstGeom>
          <a:solidFill>
            <a:srgbClr val="FFB21A"/>
          </a:solidFill>
          <a:ln>
            <a:noFill/>
          </a:ln>
        </p:spPr>
        <p:txBody>
          <a:bodyPr rtlCol="0" anchor="ctr"/>
          <a:lstStyle/>
          <a:p>
            <a:pPr algn="ctr"/>
          </a:p>
        </p:txBody>
      </p:sp>
      <p:sp>
        <p:nvSpPr>
          <p:cNvPr id="18" name="Oval 17"/>
          <p:cNvSpPr/>
          <p:nvPr/>
        </p:nvSpPr>
        <p:spPr>
          <a:xfrm>
            <a:off x="1389888" y="3596513"/>
            <a:ext cx="219456" cy="219456"/>
          </a:xfrm>
          <a:prstGeom prst="ellipse">
            <a:avLst/>
          </a:prstGeom>
          <a:solidFill>
            <a:srgbClr val="7FB8FF"/>
          </a:solidFill>
          <a:ln>
            <a:noFill/>
          </a:ln>
        </p:spPr>
        <p:txBody>
          <a:bodyPr rtlCol="0" anchor="ctr"/>
          <a:lstStyle/>
          <a:p>
            <a:pPr algn="ctr"/>
          </a:p>
        </p:txBody>
      </p:sp>
      <p:sp>
        <p:nvSpPr>
          <p:cNvPr id="19" name="Oval 18"/>
          <p:cNvSpPr/>
          <p:nvPr/>
        </p:nvSpPr>
        <p:spPr>
          <a:xfrm>
            <a:off x="1719072" y="3596513"/>
            <a:ext cx="219456" cy="219456"/>
          </a:xfrm>
          <a:prstGeom prst="ellipse">
            <a:avLst/>
          </a:prstGeom>
          <a:solidFill>
            <a:srgbClr val="FF8A7A"/>
          </a:solidFill>
          <a:ln>
            <a:noFill/>
          </a:ln>
        </p:spPr>
        <p:txBody>
          <a:bodyPr rtlCol="0" anchor="ctr"/>
          <a:lstStyle/>
          <a:p>
            <a:pPr algn="ctr"/>
          </a:p>
        </p:txBody>
      </p:sp>
      <p:sp>
        <p:nvSpPr>
          <p:cNvPr id="20" name="Oval 19"/>
          <p:cNvSpPr/>
          <p:nvPr/>
        </p:nvSpPr>
        <p:spPr>
          <a:xfrm>
            <a:off x="2048256" y="3596513"/>
            <a:ext cx="219456" cy="219456"/>
          </a:xfrm>
          <a:prstGeom prst="ellipse">
            <a:avLst/>
          </a:prstGeom>
          <a:solidFill>
            <a:srgbClr val="B79CFF"/>
          </a:solidFill>
          <a:ln>
            <a:noFill/>
          </a:ln>
        </p:spPr>
        <p:txBody>
          <a:bodyPr rtlCol="0" anchor="ctr"/>
          <a:lstStyle/>
          <a:p>
            <a:pPr algn="ctr"/>
          </a:p>
        </p:txBody>
      </p:sp>
      <p:sp>
        <p:nvSpPr>
          <p:cNvPr id="21" name="Oval 20"/>
          <p:cNvSpPr/>
          <p:nvPr/>
        </p:nvSpPr>
        <p:spPr>
          <a:xfrm>
            <a:off x="2377440" y="3596513"/>
            <a:ext cx="219456" cy="219456"/>
          </a:xfrm>
          <a:prstGeom prst="ellipse">
            <a:avLst/>
          </a:prstGeom>
          <a:solidFill>
            <a:srgbClr val="5FD0B0"/>
          </a:solidFill>
          <a:ln>
            <a:noFill/>
          </a:ln>
        </p:spPr>
        <p:txBody>
          <a:bodyPr rtlCol="0" anchor="ctr"/>
          <a:lstStyle/>
          <a:p>
            <a:pPr algn="ctr"/>
          </a:p>
        </p:txBody>
      </p:sp>
      <p:sp>
        <p:nvSpPr>
          <p:cNvPr id="22" name="Oval 21"/>
          <p:cNvSpPr/>
          <p:nvPr/>
        </p:nvSpPr>
        <p:spPr>
          <a:xfrm>
            <a:off x="2706624" y="3596513"/>
            <a:ext cx="219456" cy="219456"/>
          </a:xfrm>
          <a:prstGeom prst="ellipse">
            <a:avLst/>
          </a:prstGeom>
          <a:solidFill>
            <a:srgbClr val="F2C14E"/>
          </a:solidFill>
          <a:ln>
            <a:noFill/>
          </a:ln>
        </p:spPr>
        <p:txBody>
          <a:bodyPr rtlCol="0" anchor="ctr"/>
          <a:lstStyle/>
          <a:p>
            <a:pPr algn="ctr"/>
          </a:p>
        </p:txBody>
      </p:sp>
      <p:sp>
        <p:nvSpPr>
          <p:cNvPr id="23" name="Oval 22"/>
          <p:cNvSpPr/>
          <p:nvPr/>
        </p:nvSpPr>
        <p:spPr>
          <a:xfrm>
            <a:off x="3035808" y="3596513"/>
            <a:ext cx="219456" cy="219456"/>
          </a:xfrm>
          <a:prstGeom prst="ellipse">
            <a:avLst/>
          </a:prstGeom>
          <a:solidFill>
            <a:srgbClr val="1E3A1E"/>
          </a:solidFill>
          <a:ln>
            <a:noFill/>
          </a:ln>
        </p:spPr>
        <p:txBody>
          <a:bodyPr rtlCol="0" anchor="ctr"/>
          <a:lstStyle/>
          <a:p>
            <a:pPr algn="ctr"/>
          </a:p>
        </p:txBody>
      </p:sp>
      <p:sp>
        <p:nvSpPr>
          <p:cNvPr id="24" name="Rounded Rectangle 23"/>
          <p:cNvSpPr/>
          <p:nvPr/>
        </p:nvSpPr>
        <p:spPr>
          <a:xfrm>
            <a:off x="6210148" y="1825498"/>
            <a:ext cx="5524348" cy="2209927"/>
          </a:xfrm>
          <a:prstGeom prst="roundRect">
            <a:avLst>
              <a:gd name="adj" fmla="val 9102"/>
            </a:avLst>
          </a:prstGeom>
          <a:solidFill>
            <a:srgbClr val="FFFFFF"/>
          </a:solidFill>
          <a:ln>
            <a:noFill/>
          </a:ln>
        </p:spPr>
        <p:txBody>
          <a:bodyPr rtlCol="0" anchor="ctr"/>
          <a:lstStyle/>
          <a:p>
            <a:pPr algn="ctr"/>
          </a:p>
        </p:txBody>
      </p:sp>
      <p:sp>
        <p:nvSpPr>
          <p:cNvPr id="25" name="Rounded Rectangle 24"/>
          <p:cNvSpPr/>
          <p:nvPr/>
        </p:nvSpPr>
        <p:spPr>
          <a:xfrm>
            <a:off x="6484468" y="2136394"/>
            <a:ext cx="274320" cy="274320"/>
          </a:xfrm>
          <a:prstGeom prst="roundRect">
            <a:avLst>
              <a:gd name="adj" fmla="val 26666"/>
            </a:avLst>
          </a:prstGeom>
          <a:solidFill>
            <a:srgbClr val="D4F94E"/>
          </a:solidFill>
          <a:ln>
            <a:noFill/>
          </a:ln>
        </p:spPr>
        <p:txBody>
          <a:bodyPr rtlCol="0" anchor="ctr"/>
          <a:lstStyle/>
          <a:p>
            <a:pPr algn="ctr"/>
          </a:p>
        </p:txBody>
      </p:sp>
      <p:sp>
        <p:nvSpPr>
          <p:cNvPr id="26" name="TextBox 25"/>
          <p:cNvSpPr txBox="1"/>
          <p:nvPr/>
        </p:nvSpPr>
        <p:spPr>
          <a:xfrm>
            <a:off x="6923380" y="2063242"/>
            <a:ext cx="4518508" cy="420624"/>
          </a:xfrm>
          <a:prstGeom prst="rect">
            <a:avLst/>
          </a:prstGeom>
          <a:noFill/>
        </p:spPr>
        <p:txBody>
          <a:bodyPr wrap="square" lIns="0" rIns="0" tIns="0" bIns="0" anchor="ctr">
            <a:noAutofit/>
          </a:bodyPr>
          <a:lstStyle/>
          <a:p>
            <a:pPr algn="l">
              <a:lnSpc>
                <a:spcPts val="1950"/>
              </a:lnSpc>
              <a:spcBef>
                <a:spcPts val="0"/>
              </a:spcBef>
              <a:spcAft>
                <a:spcPts val="0"/>
              </a:spcAft>
            </a:pPr>
            <a:r>
              <a:rPr sz="1500" b="1" i="0">
                <a:solidFill>
                  <a:srgbClr val="141413"/>
                </a:solidFill>
                <a:latin typeface="Apple SD Gothic Neo"/>
                <a:ea typeface="Apple SD Gothic Neo"/>
              </a:rPr>
              <a:t>4묶음 9단계 파이프라인</a:t>
            </a:r>
          </a:p>
        </p:txBody>
      </p:sp>
      <p:sp>
        <p:nvSpPr>
          <p:cNvPr id="27" name="TextBox 26"/>
          <p:cNvSpPr txBox="1"/>
          <p:nvPr/>
        </p:nvSpPr>
        <p:spPr>
          <a:xfrm>
            <a:off x="6484468" y="2648458"/>
            <a:ext cx="4975708" cy="1204087"/>
          </a:xfrm>
          <a:prstGeom prst="rect">
            <a:avLst/>
          </a:prstGeom>
          <a:noFill/>
        </p:spPr>
        <p:txBody>
          <a:bodyPr wrap="square" lIns="0" rIns="0" tIns="0" bIns="0" anchor="t">
            <a:noAutofit/>
          </a:bodyPr>
          <a:lstStyle/>
          <a:p>
            <a:pPr algn="l">
              <a:lnSpc>
                <a:spcPts val="1800"/>
              </a:lnSpc>
              <a:spcBef>
                <a:spcPts val="0"/>
              </a:spcBef>
              <a:spcAft>
                <a:spcPts val="0"/>
              </a:spcAft>
            </a:pPr>
            <a:r>
              <a:rPr sz="1200" b="0" i="0">
                <a:solidFill>
                  <a:srgbClr val="5C5B56"/>
                </a:solidFill>
                <a:latin typeface="Apple SD Gothic Neo"/>
                <a:ea typeface="Apple SD Gothic Neo"/>
              </a:rPr>
              <a:t>1.1 표적 선정부터 4.2 최종 허가까지 9개 하위 단계를 실제 계산과 서류 심사로 통과합니다.</a:t>
            </a:r>
          </a:p>
        </p:txBody>
      </p:sp>
      <p:sp>
        <p:nvSpPr>
          <p:cNvPr id="28" name="Rounded Rectangle 27"/>
          <p:cNvSpPr/>
          <p:nvPr/>
        </p:nvSpPr>
        <p:spPr>
          <a:xfrm>
            <a:off x="457200" y="4264025"/>
            <a:ext cx="5524348" cy="2209927"/>
          </a:xfrm>
          <a:prstGeom prst="roundRect">
            <a:avLst>
              <a:gd name="adj" fmla="val 9102"/>
            </a:avLst>
          </a:prstGeom>
          <a:solidFill>
            <a:srgbClr val="141413"/>
          </a:solidFill>
          <a:ln>
            <a:noFill/>
          </a:ln>
        </p:spPr>
        <p:txBody>
          <a:bodyPr rtlCol="0" anchor="ctr"/>
          <a:lstStyle/>
          <a:p>
            <a:pPr algn="ctr"/>
          </a:p>
        </p:txBody>
      </p:sp>
      <p:sp>
        <p:nvSpPr>
          <p:cNvPr id="29" name="Rounded Rectangle 28"/>
          <p:cNvSpPr/>
          <p:nvPr/>
        </p:nvSpPr>
        <p:spPr>
          <a:xfrm>
            <a:off x="731520" y="4574921"/>
            <a:ext cx="274320" cy="274320"/>
          </a:xfrm>
          <a:prstGeom prst="roundRect">
            <a:avLst>
              <a:gd name="adj" fmla="val 26666"/>
            </a:avLst>
          </a:prstGeom>
          <a:solidFill>
            <a:srgbClr val="FFB21A"/>
          </a:solidFill>
          <a:ln>
            <a:noFill/>
          </a:ln>
        </p:spPr>
        <p:txBody>
          <a:bodyPr rtlCol="0" anchor="ctr"/>
          <a:lstStyle/>
          <a:p>
            <a:pPr algn="ctr"/>
          </a:p>
        </p:txBody>
      </p:sp>
      <p:sp>
        <p:nvSpPr>
          <p:cNvPr id="30" name="TextBox 29"/>
          <p:cNvSpPr txBox="1"/>
          <p:nvPr/>
        </p:nvSpPr>
        <p:spPr>
          <a:xfrm>
            <a:off x="1170432" y="4501769"/>
            <a:ext cx="4518508" cy="420624"/>
          </a:xfrm>
          <a:prstGeom prst="rect">
            <a:avLst/>
          </a:prstGeom>
          <a:noFill/>
        </p:spPr>
        <p:txBody>
          <a:bodyPr wrap="square" lIns="0" rIns="0" tIns="0" bIns="0" anchor="ctr">
            <a:noAutofit/>
          </a:bodyPr>
          <a:lstStyle/>
          <a:p>
            <a:pPr algn="l">
              <a:lnSpc>
                <a:spcPts val="1950"/>
              </a:lnSpc>
              <a:spcBef>
                <a:spcPts val="0"/>
              </a:spcBef>
              <a:spcAft>
                <a:spcPts val="0"/>
              </a:spcAft>
            </a:pPr>
            <a:r>
              <a:rPr sz="1500" b="1" i="0">
                <a:solidFill>
                  <a:srgbClr val="FFB21A"/>
                </a:solidFill>
                <a:latin typeface="Apple SD Gothic Neo"/>
                <a:ea typeface="Apple SD Gothic Neo"/>
              </a:rPr>
              <a:t>실시간 LED 전광판</a:t>
            </a:r>
          </a:p>
        </p:txBody>
      </p:sp>
      <p:sp>
        <p:nvSpPr>
          <p:cNvPr id="31" name="TextBox 30"/>
          <p:cNvSpPr txBox="1"/>
          <p:nvPr/>
        </p:nvSpPr>
        <p:spPr>
          <a:xfrm>
            <a:off x="731520" y="5086985"/>
            <a:ext cx="4975708" cy="1204087"/>
          </a:xfrm>
          <a:prstGeom prst="rect">
            <a:avLst/>
          </a:prstGeom>
          <a:noFill/>
        </p:spPr>
        <p:txBody>
          <a:bodyPr wrap="square" lIns="0" rIns="0" tIns="0" bIns="0" anchor="t">
            <a:noAutofit/>
          </a:bodyPr>
          <a:lstStyle/>
          <a:p>
            <a:pPr algn="l">
              <a:lnSpc>
                <a:spcPts val="1800"/>
              </a:lnSpc>
              <a:spcBef>
                <a:spcPts val="0"/>
              </a:spcBef>
              <a:spcAft>
                <a:spcPts val="0"/>
              </a:spcAft>
            </a:pPr>
            <a:r>
              <a:rPr sz="1200" b="0" i="0">
                <a:solidFill>
                  <a:srgbClr val="E9E7DF"/>
                </a:solidFill>
                <a:latin typeface="Apple SD Gothic Neo"/>
                <a:ea typeface="Apple SD Gothic Neo"/>
              </a:rPr>
              <a:t>다른 모둠의 설립 등기, 도킹 신기록, 특허 등록, 임상 통과·보류 소식이 흐르며 기업가치가 오르내립니다.</a:t>
            </a:r>
          </a:p>
        </p:txBody>
      </p:sp>
      <p:sp>
        <p:nvSpPr>
          <p:cNvPr id="32" name="Oval 31"/>
          <p:cNvSpPr/>
          <p:nvPr/>
        </p:nvSpPr>
        <p:spPr>
          <a:xfrm>
            <a:off x="731520" y="6144768"/>
            <a:ext cx="82296" cy="82296"/>
          </a:xfrm>
          <a:prstGeom prst="ellipse">
            <a:avLst/>
          </a:prstGeom>
          <a:solidFill>
            <a:srgbClr val="5A4410"/>
          </a:solidFill>
          <a:ln>
            <a:noFill/>
          </a:ln>
        </p:spPr>
        <p:txBody>
          <a:bodyPr rtlCol="0" anchor="ctr"/>
          <a:lstStyle/>
          <a:p>
            <a:pPr algn="ctr"/>
          </a:p>
        </p:txBody>
      </p:sp>
      <p:sp>
        <p:nvSpPr>
          <p:cNvPr id="33" name="Oval 32"/>
          <p:cNvSpPr/>
          <p:nvPr/>
        </p:nvSpPr>
        <p:spPr>
          <a:xfrm>
            <a:off x="928116" y="6144768"/>
            <a:ext cx="82296" cy="82296"/>
          </a:xfrm>
          <a:prstGeom prst="ellipse">
            <a:avLst/>
          </a:prstGeom>
          <a:solidFill>
            <a:srgbClr val="FFB21A"/>
          </a:solidFill>
          <a:ln>
            <a:noFill/>
          </a:ln>
        </p:spPr>
        <p:txBody>
          <a:bodyPr rtlCol="0" anchor="ctr"/>
          <a:lstStyle/>
          <a:p>
            <a:pPr algn="ctr"/>
          </a:p>
        </p:txBody>
      </p:sp>
      <p:sp>
        <p:nvSpPr>
          <p:cNvPr id="34" name="Oval 33"/>
          <p:cNvSpPr/>
          <p:nvPr/>
        </p:nvSpPr>
        <p:spPr>
          <a:xfrm>
            <a:off x="1124712" y="6144768"/>
            <a:ext cx="82296" cy="82296"/>
          </a:xfrm>
          <a:prstGeom prst="ellipse">
            <a:avLst/>
          </a:prstGeom>
          <a:solidFill>
            <a:srgbClr val="FFB21A"/>
          </a:solidFill>
          <a:ln>
            <a:noFill/>
          </a:ln>
        </p:spPr>
        <p:txBody>
          <a:bodyPr rtlCol="0" anchor="ctr"/>
          <a:lstStyle/>
          <a:p>
            <a:pPr algn="ctr"/>
          </a:p>
        </p:txBody>
      </p:sp>
      <p:sp>
        <p:nvSpPr>
          <p:cNvPr id="35" name="Oval 34"/>
          <p:cNvSpPr/>
          <p:nvPr/>
        </p:nvSpPr>
        <p:spPr>
          <a:xfrm>
            <a:off x="1321308" y="6144768"/>
            <a:ext cx="82296" cy="82296"/>
          </a:xfrm>
          <a:prstGeom prst="ellipse">
            <a:avLst/>
          </a:prstGeom>
          <a:solidFill>
            <a:srgbClr val="FFB21A"/>
          </a:solidFill>
          <a:ln>
            <a:noFill/>
          </a:ln>
        </p:spPr>
        <p:txBody>
          <a:bodyPr rtlCol="0" anchor="ctr"/>
          <a:lstStyle/>
          <a:p>
            <a:pPr algn="ctr"/>
          </a:p>
        </p:txBody>
      </p:sp>
      <p:sp>
        <p:nvSpPr>
          <p:cNvPr id="36" name="Oval 35"/>
          <p:cNvSpPr/>
          <p:nvPr/>
        </p:nvSpPr>
        <p:spPr>
          <a:xfrm>
            <a:off x="1517904" y="6144768"/>
            <a:ext cx="82296" cy="82296"/>
          </a:xfrm>
          <a:prstGeom prst="ellipse">
            <a:avLst/>
          </a:prstGeom>
          <a:solidFill>
            <a:srgbClr val="5A4410"/>
          </a:solidFill>
          <a:ln>
            <a:noFill/>
          </a:ln>
        </p:spPr>
        <p:txBody>
          <a:bodyPr rtlCol="0" anchor="ctr"/>
          <a:lstStyle/>
          <a:p>
            <a:pPr algn="ctr"/>
          </a:p>
        </p:txBody>
      </p:sp>
      <p:sp>
        <p:nvSpPr>
          <p:cNvPr id="37" name="Oval 36"/>
          <p:cNvSpPr/>
          <p:nvPr/>
        </p:nvSpPr>
        <p:spPr>
          <a:xfrm>
            <a:off x="1714500" y="6144768"/>
            <a:ext cx="82296" cy="82296"/>
          </a:xfrm>
          <a:prstGeom prst="ellipse">
            <a:avLst/>
          </a:prstGeom>
          <a:solidFill>
            <a:srgbClr val="FFB21A"/>
          </a:solidFill>
          <a:ln>
            <a:noFill/>
          </a:ln>
        </p:spPr>
        <p:txBody>
          <a:bodyPr rtlCol="0" anchor="ctr"/>
          <a:lstStyle/>
          <a:p>
            <a:pPr algn="ctr"/>
          </a:p>
        </p:txBody>
      </p:sp>
      <p:sp>
        <p:nvSpPr>
          <p:cNvPr id="38" name="Oval 37"/>
          <p:cNvSpPr/>
          <p:nvPr/>
        </p:nvSpPr>
        <p:spPr>
          <a:xfrm>
            <a:off x="1911096" y="6144768"/>
            <a:ext cx="82296" cy="82296"/>
          </a:xfrm>
          <a:prstGeom prst="ellipse">
            <a:avLst/>
          </a:prstGeom>
          <a:solidFill>
            <a:srgbClr val="FFB21A"/>
          </a:solidFill>
          <a:ln>
            <a:noFill/>
          </a:ln>
        </p:spPr>
        <p:txBody>
          <a:bodyPr rtlCol="0" anchor="ctr"/>
          <a:lstStyle/>
          <a:p>
            <a:pPr algn="ctr"/>
          </a:p>
        </p:txBody>
      </p:sp>
      <p:sp>
        <p:nvSpPr>
          <p:cNvPr id="39" name="Oval 38"/>
          <p:cNvSpPr/>
          <p:nvPr/>
        </p:nvSpPr>
        <p:spPr>
          <a:xfrm>
            <a:off x="2107692" y="6144768"/>
            <a:ext cx="82296" cy="82296"/>
          </a:xfrm>
          <a:prstGeom prst="ellipse">
            <a:avLst/>
          </a:prstGeom>
          <a:solidFill>
            <a:srgbClr val="FFB21A"/>
          </a:solidFill>
          <a:ln>
            <a:noFill/>
          </a:ln>
        </p:spPr>
        <p:txBody>
          <a:bodyPr rtlCol="0" anchor="ctr"/>
          <a:lstStyle/>
          <a:p>
            <a:pPr algn="ctr"/>
          </a:p>
        </p:txBody>
      </p:sp>
      <p:sp>
        <p:nvSpPr>
          <p:cNvPr id="40" name="Oval 39"/>
          <p:cNvSpPr/>
          <p:nvPr/>
        </p:nvSpPr>
        <p:spPr>
          <a:xfrm>
            <a:off x="2304288" y="6144768"/>
            <a:ext cx="82296" cy="82296"/>
          </a:xfrm>
          <a:prstGeom prst="ellipse">
            <a:avLst/>
          </a:prstGeom>
          <a:solidFill>
            <a:srgbClr val="5A4410"/>
          </a:solidFill>
          <a:ln>
            <a:noFill/>
          </a:ln>
        </p:spPr>
        <p:txBody>
          <a:bodyPr rtlCol="0" anchor="ctr"/>
          <a:lstStyle/>
          <a:p>
            <a:pPr algn="ctr"/>
          </a:p>
        </p:txBody>
      </p:sp>
      <p:sp>
        <p:nvSpPr>
          <p:cNvPr id="41" name="Oval 40"/>
          <p:cNvSpPr/>
          <p:nvPr/>
        </p:nvSpPr>
        <p:spPr>
          <a:xfrm>
            <a:off x="2500884" y="6144768"/>
            <a:ext cx="82296" cy="82296"/>
          </a:xfrm>
          <a:prstGeom prst="ellipse">
            <a:avLst/>
          </a:prstGeom>
          <a:solidFill>
            <a:srgbClr val="FFB21A"/>
          </a:solidFill>
          <a:ln>
            <a:noFill/>
          </a:ln>
        </p:spPr>
        <p:txBody>
          <a:bodyPr rtlCol="0" anchor="ctr"/>
          <a:lstStyle/>
          <a:p>
            <a:pPr algn="ctr"/>
          </a:p>
        </p:txBody>
      </p:sp>
      <p:sp>
        <p:nvSpPr>
          <p:cNvPr id="42" name="Oval 41"/>
          <p:cNvSpPr/>
          <p:nvPr/>
        </p:nvSpPr>
        <p:spPr>
          <a:xfrm>
            <a:off x="2697480" y="6144768"/>
            <a:ext cx="82296" cy="82296"/>
          </a:xfrm>
          <a:prstGeom prst="ellipse">
            <a:avLst/>
          </a:prstGeom>
          <a:solidFill>
            <a:srgbClr val="FFB21A"/>
          </a:solidFill>
          <a:ln>
            <a:noFill/>
          </a:ln>
        </p:spPr>
        <p:txBody>
          <a:bodyPr rtlCol="0" anchor="ctr"/>
          <a:lstStyle/>
          <a:p>
            <a:pPr algn="ctr"/>
          </a:p>
        </p:txBody>
      </p:sp>
      <p:sp>
        <p:nvSpPr>
          <p:cNvPr id="43" name="Oval 42"/>
          <p:cNvSpPr/>
          <p:nvPr/>
        </p:nvSpPr>
        <p:spPr>
          <a:xfrm>
            <a:off x="2894076" y="6144768"/>
            <a:ext cx="82296" cy="82296"/>
          </a:xfrm>
          <a:prstGeom prst="ellipse">
            <a:avLst/>
          </a:prstGeom>
          <a:solidFill>
            <a:srgbClr val="FFB21A"/>
          </a:solidFill>
          <a:ln>
            <a:noFill/>
          </a:ln>
        </p:spPr>
        <p:txBody>
          <a:bodyPr rtlCol="0" anchor="ctr"/>
          <a:lstStyle/>
          <a:p>
            <a:pPr algn="ctr"/>
          </a:p>
        </p:txBody>
      </p:sp>
      <p:sp>
        <p:nvSpPr>
          <p:cNvPr id="44" name="Oval 43"/>
          <p:cNvSpPr/>
          <p:nvPr/>
        </p:nvSpPr>
        <p:spPr>
          <a:xfrm>
            <a:off x="3090672" y="6144768"/>
            <a:ext cx="82296" cy="82296"/>
          </a:xfrm>
          <a:prstGeom prst="ellipse">
            <a:avLst/>
          </a:prstGeom>
          <a:solidFill>
            <a:srgbClr val="5A4410"/>
          </a:solidFill>
          <a:ln>
            <a:noFill/>
          </a:ln>
        </p:spPr>
        <p:txBody>
          <a:bodyPr rtlCol="0" anchor="ctr"/>
          <a:lstStyle/>
          <a:p>
            <a:pPr algn="ctr"/>
          </a:p>
        </p:txBody>
      </p:sp>
      <p:sp>
        <p:nvSpPr>
          <p:cNvPr id="45" name="Oval 44"/>
          <p:cNvSpPr/>
          <p:nvPr/>
        </p:nvSpPr>
        <p:spPr>
          <a:xfrm>
            <a:off x="3287268" y="6144768"/>
            <a:ext cx="82296" cy="82296"/>
          </a:xfrm>
          <a:prstGeom prst="ellipse">
            <a:avLst/>
          </a:prstGeom>
          <a:solidFill>
            <a:srgbClr val="FFB21A"/>
          </a:solidFill>
          <a:ln>
            <a:noFill/>
          </a:ln>
        </p:spPr>
        <p:txBody>
          <a:bodyPr rtlCol="0" anchor="ctr"/>
          <a:lstStyle/>
          <a:p>
            <a:pPr algn="ctr"/>
          </a:p>
        </p:txBody>
      </p:sp>
      <p:sp>
        <p:nvSpPr>
          <p:cNvPr id="46" name="Oval 45"/>
          <p:cNvSpPr/>
          <p:nvPr/>
        </p:nvSpPr>
        <p:spPr>
          <a:xfrm>
            <a:off x="3483864" y="6144768"/>
            <a:ext cx="82296" cy="82296"/>
          </a:xfrm>
          <a:prstGeom prst="ellipse">
            <a:avLst/>
          </a:prstGeom>
          <a:solidFill>
            <a:srgbClr val="FFB21A"/>
          </a:solidFill>
          <a:ln>
            <a:noFill/>
          </a:ln>
        </p:spPr>
        <p:txBody>
          <a:bodyPr rtlCol="0" anchor="ctr"/>
          <a:lstStyle/>
          <a:p>
            <a:pPr algn="ctr"/>
          </a:p>
        </p:txBody>
      </p:sp>
      <p:sp>
        <p:nvSpPr>
          <p:cNvPr id="47" name="Oval 46"/>
          <p:cNvSpPr/>
          <p:nvPr/>
        </p:nvSpPr>
        <p:spPr>
          <a:xfrm>
            <a:off x="3680460" y="6144768"/>
            <a:ext cx="82296" cy="82296"/>
          </a:xfrm>
          <a:prstGeom prst="ellipse">
            <a:avLst/>
          </a:prstGeom>
          <a:solidFill>
            <a:srgbClr val="FFB21A"/>
          </a:solidFill>
          <a:ln>
            <a:noFill/>
          </a:ln>
        </p:spPr>
        <p:txBody>
          <a:bodyPr rtlCol="0" anchor="ctr"/>
          <a:lstStyle/>
          <a:p>
            <a:pPr algn="ctr"/>
          </a:p>
        </p:txBody>
      </p:sp>
      <p:sp>
        <p:nvSpPr>
          <p:cNvPr id="48" name="Oval 47"/>
          <p:cNvSpPr/>
          <p:nvPr/>
        </p:nvSpPr>
        <p:spPr>
          <a:xfrm>
            <a:off x="3877056" y="6144768"/>
            <a:ext cx="82296" cy="82296"/>
          </a:xfrm>
          <a:prstGeom prst="ellipse">
            <a:avLst/>
          </a:prstGeom>
          <a:solidFill>
            <a:srgbClr val="5A4410"/>
          </a:solidFill>
          <a:ln>
            <a:noFill/>
          </a:ln>
        </p:spPr>
        <p:txBody>
          <a:bodyPr rtlCol="0" anchor="ctr"/>
          <a:lstStyle/>
          <a:p>
            <a:pPr algn="ctr"/>
          </a:p>
        </p:txBody>
      </p:sp>
      <p:sp>
        <p:nvSpPr>
          <p:cNvPr id="49" name="Oval 48"/>
          <p:cNvSpPr/>
          <p:nvPr/>
        </p:nvSpPr>
        <p:spPr>
          <a:xfrm>
            <a:off x="4073652" y="6144768"/>
            <a:ext cx="82296" cy="82296"/>
          </a:xfrm>
          <a:prstGeom prst="ellipse">
            <a:avLst/>
          </a:prstGeom>
          <a:solidFill>
            <a:srgbClr val="FFB21A"/>
          </a:solidFill>
          <a:ln>
            <a:noFill/>
          </a:ln>
        </p:spPr>
        <p:txBody>
          <a:bodyPr rtlCol="0" anchor="ctr"/>
          <a:lstStyle/>
          <a:p>
            <a:pPr algn="ctr"/>
          </a:p>
        </p:txBody>
      </p:sp>
      <p:sp>
        <p:nvSpPr>
          <p:cNvPr id="50" name="Oval 49"/>
          <p:cNvSpPr/>
          <p:nvPr/>
        </p:nvSpPr>
        <p:spPr>
          <a:xfrm>
            <a:off x="4270248" y="6144768"/>
            <a:ext cx="82296" cy="82296"/>
          </a:xfrm>
          <a:prstGeom prst="ellipse">
            <a:avLst/>
          </a:prstGeom>
          <a:solidFill>
            <a:srgbClr val="FFB21A"/>
          </a:solidFill>
          <a:ln>
            <a:noFill/>
          </a:ln>
        </p:spPr>
        <p:txBody>
          <a:bodyPr rtlCol="0" anchor="ctr"/>
          <a:lstStyle/>
          <a:p>
            <a:pPr algn="ctr"/>
          </a:p>
        </p:txBody>
      </p:sp>
      <p:sp>
        <p:nvSpPr>
          <p:cNvPr id="51" name="Oval 50"/>
          <p:cNvSpPr/>
          <p:nvPr/>
        </p:nvSpPr>
        <p:spPr>
          <a:xfrm>
            <a:off x="4466844" y="6144768"/>
            <a:ext cx="82296" cy="82296"/>
          </a:xfrm>
          <a:prstGeom prst="ellipse">
            <a:avLst/>
          </a:prstGeom>
          <a:solidFill>
            <a:srgbClr val="FFB21A"/>
          </a:solidFill>
          <a:ln>
            <a:noFill/>
          </a:ln>
        </p:spPr>
        <p:txBody>
          <a:bodyPr rtlCol="0" anchor="ctr"/>
          <a:lstStyle/>
          <a:p>
            <a:pPr algn="ctr"/>
          </a:p>
        </p:txBody>
      </p:sp>
      <p:sp>
        <p:nvSpPr>
          <p:cNvPr id="52" name="Oval 51"/>
          <p:cNvSpPr/>
          <p:nvPr/>
        </p:nvSpPr>
        <p:spPr>
          <a:xfrm>
            <a:off x="4663440" y="6144768"/>
            <a:ext cx="82296" cy="82296"/>
          </a:xfrm>
          <a:prstGeom prst="ellipse">
            <a:avLst/>
          </a:prstGeom>
          <a:solidFill>
            <a:srgbClr val="5A4410"/>
          </a:solidFill>
          <a:ln>
            <a:noFill/>
          </a:ln>
        </p:spPr>
        <p:txBody>
          <a:bodyPr rtlCol="0" anchor="ctr"/>
          <a:lstStyle/>
          <a:p>
            <a:pPr algn="ctr"/>
          </a:p>
        </p:txBody>
      </p:sp>
      <p:sp>
        <p:nvSpPr>
          <p:cNvPr id="53" name="Oval 52"/>
          <p:cNvSpPr/>
          <p:nvPr/>
        </p:nvSpPr>
        <p:spPr>
          <a:xfrm>
            <a:off x="4860036" y="6144768"/>
            <a:ext cx="82296" cy="82296"/>
          </a:xfrm>
          <a:prstGeom prst="ellipse">
            <a:avLst/>
          </a:prstGeom>
          <a:solidFill>
            <a:srgbClr val="FFB21A"/>
          </a:solidFill>
          <a:ln>
            <a:noFill/>
          </a:ln>
        </p:spPr>
        <p:txBody>
          <a:bodyPr rtlCol="0" anchor="ctr"/>
          <a:lstStyle/>
          <a:p>
            <a:pPr algn="ctr"/>
          </a:p>
        </p:txBody>
      </p:sp>
      <p:sp>
        <p:nvSpPr>
          <p:cNvPr id="54" name="Oval 53"/>
          <p:cNvSpPr/>
          <p:nvPr/>
        </p:nvSpPr>
        <p:spPr>
          <a:xfrm>
            <a:off x="5056632" y="6144768"/>
            <a:ext cx="82296" cy="82296"/>
          </a:xfrm>
          <a:prstGeom prst="ellipse">
            <a:avLst/>
          </a:prstGeom>
          <a:solidFill>
            <a:srgbClr val="FFB21A"/>
          </a:solidFill>
          <a:ln>
            <a:noFill/>
          </a:ln>
        </p:spPr>
        <p:txBody>
          <a:bodyPr rtlCol="0" anchor="ctr"/>
          <a:lstStyle/>
          <a:p>
            <a:pPr algn="ctr"/>
          </a:p>
        </p:txBody>
      </p:sp>
      <p:sp>
        <p:nvSpPr>
          <p:cNvPr id="55" name="Oval 54"/>
          <p:cNvSpPr/>
          <p:nvPr/>
        </p:nvSpPr>
        <p:spPr>
          <a:xfrm>
            <a:off x="5253228" y="6144768"/>
            <a:ext cx="82296" cy="82296"/>
          </a:xfrm>
          <a:prstGeom prst="ellipse">
            <a:avLst/>
          </a:prstGeom>
          <a:solidFill>
            <a:srgbClr val="FFB21A"/>
          </a:solidFill>
          <a:ln>
            <a:noFill/>
          </a:ln>
        </p:spPr>
        <p:txBody>
          <a:bodyPr rtlCol="0" anchor="ctr"/>
          <a:lstStyle/>
          <a:p>
            <a:pPr algn="ctr"/>
          </a:p>
        </p:txBody>
      </p:sp>
      <p:sp>
        <p:nvSpPr>
          <p:cNvPr id="56" name="Oval 55"/>
          <p:cNvSpPr/>
          <p:nvPr/>
        </p:nvSpPr>
        <p:spPr>
          <a:xfrm>
            <a:off x="5449824" y="6144768"/>
            <a:ext cx="82296" cy="82296"/>
          </a:xfrm>
          <a:prstGeom prst="ellipse">
            <a:avLst/>
          </a:prstGeom>
          <a:solidFill>
            <a:srgbClr val="5A4410"/>
          </a:solidFill>
          <a:ln>
            <a:noFill/>
          </a:ln>
        </p:spPr>
        <p:txBody>
          <a:bodyPr rtlCol="0" anchor="ctr"/>
          <a:lstStyle/>
          <a:p>
            <a:pPr algn="ctr"/>
          </a:p>
        </p:txBody>
      </p:sp>
      <p:sp>
        <p:nvSpPr>
          <p:cNvPr id="57" name="Oval 56"/>
          <p:cNvSpPr/>
          <p:nvPr/>
        </p:nvSpPr>
        <p:spPr>
          <a:xfrm>
            <a:off x="5646420" y="6144768"/>
            <a:ext cx="82296" cy="82296"/>
          </a:xfrm>
          <a:prstGeom prst="ellipse">
            <a:avLst/>
          </a:prstGeom>
          <a:solidFill>
            <a:srgbClr val="FFB21A"/>
          </a:solidFill>
          <a:ln>
            <a:noFill/>
          </a:ln>
        </p:spPr>
        <p:txBody>
          <a:bodyPr rtlCol="0" anchor="ctr"/>
          <a:lstStyle/>
          <a:p>
            <a:pPr algn="ctr"/>
          </a:p>
        </p:txBody>
      </p:sp>
      <p:sp>
        <p:nvSpPr>
          <p:cNvPr id="58" name="Rounded Rectangle 57"/>
          <p:cNvSpPr/>
          <p:nvPr/>
        </p:nvSpPr>
        <p:spPr>
          <a:xfrm>
            <a:off x="6210148" y="4264025"/>
            <a:ext cx="5524348" cy="2209927"/>
          </a:xfrm>
          <a:prstGeom prst="roundRect">
            <a:avLst>
              <a:gd name="adj" fmla="val 9102"/>
            </a:avLst>
          </a:prstGeom>
          <a:solidFill>
            <a:srgbClr val="FFFFFF"/>
          </a:solidFill>
          <a:ln>
            <a:noFill/>
          </a:ln>
        </p:spPr>
        <p:txBody>
          <a:bodyPr rtlCol="0" anchor="ctr"/>
          <a:lstStyle/>
          <a:p>
            <a:pPr algn="ctr"/>
          </a:p>
        </p:txBody>
      </p:sp>
      <p:sp>
        <p:nvSpPr>
          <p:cNvPr id="59" name="Rounded Rectangle 58"/>
          <p:cNvSpPr/>
          <p:nvPr/>
        </p:nvSpPr>
        <p:spPr>
          <a:xfrm>
            <a:off x="6484468" y="4574921"/>
            <a:ext cx="274320" cy="274320"/>
          </a:xfrm>
          <a:prstGeom prst="roundRect">
            <a:avLst>
              <a:gd name="adj" fmla="val 26666"/>
            </a:avLst>
          </a:prstGeom>
          <a:solidFill>
            <a:srgbClr val="7FB8FF"/>
          </a:solidFill>
          <a:ln>
            <a:noFill/>
          </a:ln>
        </p:spPr>
        <p:txBody>
          <a:bodyPr rtlCol="0" anchor="ctr"/>
          <a:lstStyle/>
          <a:p>
            <a:pPr algn="ctr"/>
          </a:p>
        </p:txBody>
      </p:sp>
      <p:sp>
        <p:nvSpPr>
          <p:cNvPr id="60" name="TextBox 59"/>
          <p:cNvSpPr txBox="1"/>
          <p:nvPr/>
        </p:nvSpPr>
        <p:spPr>
          <a:xfrm>
            <a:off x="6923380" y="4501769"/>
            <a:ext cx="4518508" cy="420624"/>
          </a:xfrm>
          <a:prstGeom prst="rect">
            <a:avLst/>
          </a:prstGeom>
          <a:noFill/>
        </p:spPr>
        <p:txBody>
          <a:bodyPr wrap="square" lIns="0" rIns="0" tIns="0" bIns="0" anchor="ctr">
            <a:noAutofit/>
          </a:bodyPr>
          <a:lstStyle/>
          <a:p>
            <a:pPr algn="l">
              <a:lnSpc>
                <a:spcPts val="1950"/>
              </a:lnSpc>
              <a:spcBef>
                <a:spcPts val="0"/>
              </a:spcBef>
              <a:spcAft>
                <a:spcPts val="0"/>
              </a:spcAft>
            </a:pPr>
            <a:r>
              <a:rPr sz="1500" b="1" i="0">
                <a:solidFill>
                  <a:srgbClr val="141413"/>
                </a:solidFill>
                <a:latin typeface="Apple SD Gothic Neo"/>
                <a:ea typeface="Apple SD Gothic Neo"/>
              </a:rPr>
              <a:t>정보 공개 경계</a:t>
            </a:r>
          </a:p>
        </p:txBody>
      </p:sp>
      <p:sp>
        <p:nvSpPr>
          <p:cNvPr id="61" name="TextBox 60"/>
          <p:cNvSpPr txBox="1"/>
          <p:nvPr/>
        </p:nvSpPr>
        <p:spPr>
          <a:xfrm>
            <a:off x="6484468" y="5086985"/>
            <a:ext cx="4975708" cy="1204087"/>
          </a:xfrm>
          <a:prstGeom prst="rect">
            <a:avLst/>
          </a:prstGeom>
          <a:noFill/>
        </p:spPr>
        <p:txBody>
          <a:bodyPr wrap="square" lIns="0" rIns="0" tIns="0" bIns="0" anchor="t">
            <a:noAutofit/>
          </a:bodyPr>
          <a:lstStyle/>
          <a:p>
            <a:pPr algn="l">
              <a:lnSpc>
                <a:spcPts val="1800"/>
              </a:lnSpc>
              <a:spcBef>
                <a:spcPts val="0"/>
              </a:spcBef>
              <a:spcAft>
                <a:spcPts val="0"/>
              </a:spcAft>
            </a:pPr>
            <a:r>
              <a:rPr sz="1200" b="0" i="0">
                <a:solidFill>
                  <a:srgbClr val="5C5B56"/>
                </a:solidFill>
                <a:latin typeface="Apple SD Gothic Neo"/>
                <a:ea typeface="Apple SD Gothic Neo"/>
              </a:rPr>
              <a:t>전광판에는 회사와 단계 결과만 공개됩니다. 후보 분자 구조와 연구 노트는 그 모둠과 교사만 볼 수 있습니다. (단, 등록된 특허 구조식은 실제 제도와 같이 학급 특허 원장에 공개됩니다.)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05 / 26</a:t>
            </a:r>
          </a:p>
        </p:txBody>
      </p:sp>
      <p:sp>
        <p:nvSpPr>
          <p:cNvPr id="7" name="Rounded Rectangle 6"/>
          <p:cNvSpPr/>
          <p:nvPr/>
        </p:nvSpPr>
        <p:spPr>
          <a:xfrm>
            <a:off x="457200" y="566928"/>
            <a:ext cx="3104046"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829726"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1 · 실제 데이터와 계산 원리 (1/2)</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가짜 숫자가 아닌 실제 바이오 데이터베이스와 화학 계산 엔진</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연구 현장에서 쓰는 오픈 데이터와 화학정보학 도구가 학생의 선택을 실시간으로 계산합니다.</a:t>
            </a:r>
          </a:p>
        </p:txBody>
      </p:sp>
      <p:sp>
        <p:nvSpPr>
          <p:cNvPr id="12" name="Rounded Rectangle 11"/>
          <p:cNvSpPr/>
          <p:nvPr/>
        </p:nvSpPr>
        <p:spPr>
          <a:xfrm>
            <a:off x="457200" y="1825498"/>
            <a:ext cx="5501488" cy="4648454"/>
          </a:xfrm>
          <a:prstGeom prst="roundRect">
            <a:avLst>
              <a:gd name="adj" fmla="val 4721"/>
            </a:avLst>
          </a:prstGeom>
          <a:solidFill>
            <a:srgbClr val="FAF9F5"/>
          </a:solidFill>
          <a:ln w="9525">
            <a:solidFill>
              <a:srgbClr val="DDDBD2"/>
            </a:solidFill>
          </a:ln>
        </p:spPr>
        <p:txBody>
          <a:bodyPr rtlCol="0" anchor="ctr"/>
          <a:lstStyle/>
          <a:p>
            <a:pPr algn="ctr"/>
          </a:p>
        </p:txBody>
      </p:sp>
      <p:sp>
        <p:nvSpPr>
          <p:cNvPr id="13" name="Rounded Rectangle 12"/>
          <p:cNvSpPr/>
          <p:nvPr/>
        </p:nvSpPr>
        <p:spPr>
          <a:xfrm>
            <a:off x="658368" y="2072386"/>
            <a:ext cx="146304" cy="146304"/>
          </a:xfrm>
          <a:prstGeom prst="roundRect">
            <a:avLst>
              <a:gd name="adj" fmla="val 25000"/>
            </a:avLst>
          </a:prstGeom>
          <a:solidFill>
            <a:srgbClr val="D4F94E"/>
          </a:solidFill>
          <a:ln>
            <a:noFill/>
          </a:ln>
        </p:spPr>
        <p:txBody>
          <a:bodyPr rtlCol="0" anchor="ctr"/>
          <a:lstStyle/>
          <a:p>
            <a:pPr algn="ctr"/>
          </a:p>
        </p:txBody>
      </p:sp>
      <p:sp>
        <p:nvSpPr>
          <p:cNvPr id="14" name="TextBox 13"/>
          <p:cNvSpPr txBox="1"/>
          <p:nvPr/>
        </p:nvSpPr>
        <p:spPr>
          <a:xfrm>
            <a:off x="896112" y="2008378"/>
            <a:ext cx="4861408" cy="258572"/>
          </a:xfrm>
          <a:prstGeom prst="rect">
            <a:avLst/>
          </a:prstGeom>
          <a:noFill/>
        </p:spPr>
        <p:txBody>
          <a:bodyPr wrap="square" lIns="0" rIns="0" tIns="0" bIns="0" anchor="t">
            <a:noAutofit/>
          </a:bodyPr>
          <a:lstStyle/>
          <a:p>
            <a:pPr algn="l">
              <a:lnSpc>
                <a:spcPts val="1820"/>
              </a:lnSpc>
              <a:spcBef>
                <a:spcPts val="0"/>
              </a:spcBef>
              <a:spcAft>
                <a:spcPts val="0"/>
              </a:spcAft>
            </a:pPr>
            <a:r>
              <a:rPr sz="1400" b="1" i="0">
                <a:solidFill>
                  <a:srgbClr val="141413"/>
                </a:solidFill>
                <a:latin typeface="Apple SD Gothic Neo"/>
                <a:ea typeface="Apple SD Gothic Neo"/>
              </a:rPr>
              <a:t>질환·표적 데이터 (1.1 단계)</a:t>
            </a:r>
          </a:p>
        </p:txBody>
      </p:sp>
      <p:sp>
        <p:nvSpPr>
          <p:cNvPr id="15" name="Rounded Rectangle 14"/>
          <p:cNvSpPr/>
          <p:nvPr/>
        </p:nvSpPr>
        <p:spPr>
          <a:xfrm>
            <a:off x="658368" y="2394966"/>
            <a:ext cx="5099152" cy="1081193"/>
          </a:xfrm>
          <a:prstGeom prst="roundRect">
            <a:avLst>
              <a:gd name="adj" fmla="val 13531"/>
            </a:avLst>
          </a:prstGeom>
          <a:solidFill>
            <a:srgbClr val="FFFFFF"/>
          </a:solidFill>
          <a:ln>
            <a:noFill/>
          </a:ln>
        </p:spPr>
        <p:txBody>
          <a:bodyPr rtlCol="0" anchor="ctr"/>
          <a:lstStyle/>
          <a:p>
            <a:pPr algn="ctr"/>
          </a:p>
        </p:txBody>
      </p:sp>
      <p:sp>
        <p:nvSpPr>
          <p:cNvPr id="16" name="TextBox 15"/>
          <p:cNvSpPr txBox="1"/>
          <p:nvPr/>
        </p:nvSpPr>
        <p:spPr>
          <a:xfrm>
            <a:off x="804672" y="2541270"/>
            <a:ext cx="4806544" cy="788585"/>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E3A1E"/>
                </a:solidFill>
                <a:latin typeface="Apple SD Gothic Neo"/>
                <a:ea typeface="Apple SD Gothic Neo"/>
              </a:rPr>
              <a:t>MONDO 온톨로지</a:t>
            </a:r>
          </a:p>
          <a:p>
            <a:pPr algn="l">
              <a:lnSpc>
                <a:spcPts val="1632"/>
              </a:lnSpc>
              <a:spcBef>
                <a:spcPts val="300"/>
              </a:spcBef>
              <a:spcAft>
                <a:spcPts val="0"/>
              </a:spcAft>
            </a:pPr>
            <a:r>
              <a:rPr sz="1150" b="0" i="0">
                <a:solidFill>
                  <a:srgbClr val="141413"/>
                </a:solidFill>
                <a:latin typeface="Apple SD Gothic Neo"/>
                <a:ea typeface="Apple SD Gothic Neo"/>
              </a:rPr>
              <a:t>전 세계 연구소가 질병 이름을 통일해 부르는 국제 표준 질병 코드입니다. (예: 알츠하이머병 MONDO_0004975)</a:t>
            </a:r>
          </a:p>
        </p:txBody>
      </p:sp>
      <p:sp>
        <p:nvSpPr>
          <p:cNvPr id="17" name="Rounded Rectangle 16"/>
          <p:cNvSpPr/>
          <p:nvPr/>
        </p:nvSpPr>
        <p:spPr>
          <a:xfrm>
            <a:off x="658368" y="3585887"/>
            <a:ext cx="5099152" cy="1288584"/>
          </a:xfrm>
          <a:prstGeom prst="roundRect">
            <a:avLst>
              <a:gd name="adj" fmla="val 11353"/>
            </a:avLst>
          </a:prstGeom>
          <a:solidFill>
            <a:srgbClr val="FFFFFF"/>
          </a:solidFill>
          <a:ln>
            <a:noFill/>
          </a:ln>
        </p:spPr>
        <p:txBody>
          <a:bodyPr rtlCol="0" anchor="ctr"/>
          <a:lstStyle/>
          <a:p>
            <a:pPr algn="ctr"/>
          </a:p>
        </p:txBody>
      </p:sp>
      <p:sp>
        <p:nvSpPr>
          <p:cNvPr id="18" name="TextBox 17"/>
          <p:cNvSpPr txBox="1"/>
          <p:nvPr/>
        </p:nvSpPr>
        <p:spPr>
          <a:xfrm>
            <a:off x="804672" y="3732191"/>
            <a:ext cx="4806544" cy="995976"/>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E3A1E"/>
                </a:solidFill>
                <a:latin typeface="Apple SD Gothic Neo"/>
                <a:ea typeface="Apple SD Gothic Neo"/>
              </a:rPr>
              <a:t>Open Targets v4</a:t>
            </a:r>
          </a:p>
          <a:p>
            <a:pPr algn="l">
              <a:lnSpc>
                <a:spcPts val="1632"/>
              </a:lnSpc>
              <a:spcBef>
                <a:spcPts val="300"/>
              </a:spcBef>
              <a:spcAft>
                <a:spcPts val="0"/>
              </a:spcAft>
            </a:pPr>
            <a:r>
              <a:rPr sz="1150" b="0" i="0">
                <a:solidFill>
                  <a:srgbClr val="141413"/>
                </a:solidFill>
                <a:latin typeface="Apple SD Gothic Neo"/>
                <a:ea typeface="Apple SD Gothic Neo"/>
              </a:rPr>
              <a:t>유럽생물정보연구소(EMBL-EBI)가 제공하는 유전자-질병 연관성 데이터베이스입니다. 유전학·문헌·약물·발현 4가지 근거 점수로 "이 단백질이 정말 질병의 원인인가?"를 보여 줍니다.</a:t>
            </a:r>
          </a:p>
        </p:txBody>
      </p:sp>
      <p:sp>
        <p:nvSpPr>
          <p:cNvPr id="19" name="Rounded Rectangle 18"/>
          <p:cNvSpPr/>
          <p:nvPr/>
        </p:nvSpPr>
        <p:spPr>
          <a:xfrm>
            <a:off x="658368" y="4984200"/>
            <a:ext cx="5099152" cy="1288584"/>
          </a:xfrm>
          <a:prstGeom prst="roundRect">
            <a:avLst>
              <a:gd name="adj" fmla="val 11353"/>
            </a:avLst>
          </a:prstGeom>
          <a:solidFill>
            <a:srgbClr val="FFFFFF"/>
          </a:solidFill>
          <a:ln>
            <a:noFill/>
          </a:ln>
        </p:spPr>
        <p:txBody>
          <a:bodyPr rtlCol="0" anchor="ctr"/>
          <a:lstStyle/>
          <a:p>
            <a:pPr algn="ctr"/>
          </a:p>
        </p:txBody>
      </p:sp>
      <p:sp>
        <p:nvSpPr>
          <p:cNvPr id="20" name="TextBox 19"/>
          <p:cNvSpPr txBox="1"/>
          <p:nvPr/>
        </p:nvSpPr>
        <p:spPr>
          <a:xfrm>
            <a:off x="804672" y="5130504"/>
            <a:ext cx="4806544" cy="995976"/>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E3A1E"/>
                </a:solidFill>
                <a:latin typeface="Apple SD Gothic Neo"/>
                <a:ea typeface="Apple SD Gothic Neo"/>
              </a:rPr>
              <a:t>PDB 실제 3D 결정구조 12종</a:t>
            </a:r>
          </a:p>
          <a:p>
            <a:pPr algn="l">
              <a:lnSpc>
                <a:spcPts val="1632"/>
              </a:lnSpc>
              <a:spcBef>
                <a:spcPts val="300"/>
              </a:spcBef>
              <a:spcAft>
                <a:spcPts val="0"/>
              </a:spcAft>
            </a:pPr>
            <a:r>
              <a:rPr sz="1150" b="0" i="0">
                <a:solidFill>
                  <a:srgbClr val="141413"/>
                </a:solidFill>
                <a:latin typeface="Apple SD Gothic Neo"/>
                <a:ea typeface="Apple SD Gothic Neo"/>
              </a:rPr>
              <a:t>X선 결정학 등으로 단백질 원자 하나하나의 3차원 좌표를 옹스트롬(1 Å = 10⁻¹⁰ m) 단위로 실측한 구조입니다. 보조인자(FAD)와 금속 이온(Zn²⁺, Mg²⁺, Na⁺)까지 보존해 준비했습니다.</a:t>
            </a:r>
          </a:p>
        </p:txBody>
      </p:sp>
      <p:sp>
        <p:nvSpPr>
          <p:cNvPr id="21" name="Rounded Rectangle 20"/>
          <p:cNvSpPr/>
          <p:nvPr/>
        </p:nvSpPr>
        <p:spPr>
          <a:xfrm>
            <a:off x="6233008" y="1825498"/>
            <a:ext cx="5501488" cy="4648454"/>
          </a:xfrm>
          <a:prstGeom prst="roundRect">
            <a:avLst>
              <a:gd name="adj" fmla="val 4721"/>
            </a:avLst>
          </a:prstGeom>
          <a:solidFill>
            <a:srgbClr val="FAF9F5"/>
          </a:solidFill>
          <a:ln w="9525">
            <a:solidFill>
              <a:srgbClr val="DDDBD2"/>
            </a:solidFill>
          </a:ln>
        </p:spPr>
        <p:txBody>
          <a:bodyPr rtlCol="0" anchor="ctr"/>
          <a:lstStyle/>
          <a:p>
            <a:pPr algn="ctr"/>
          </a:p>
        </p:txBody>
      </p:sp>
      <p:sp>
        <p:nvSpPr>
          <p:cNvPr id="22" name="Rounded Rectangle 21"/>
          <p:cNvSpPr/>
          <p:nvPr/>
        </p:nvSpPr>
        <p:spPr>
          <a:xfrm>
            <a:off x="6434176" y="2072386"/>
            <a:ext cx="146304" cy="146304"/>
          </a:xfrm>
          <a:prstGeom prst="roundRect">
            <a:avLst>
              <a:gd name="adj" fmla="val 25000"/>
            </a:avLst>
          </a:prstGeom>
          <a:solidFill>
            <a:srgbClr val="FFB21A"/>
          </a:solidFill>
          <a:ln>
            <a:noFill/>
          </a:ln>
        </p:spPr>
        <p:txBody>
          <a:bodyPr rtlCol="0" anchor="ctr"/>
          <a:lstStyle/>
          <a:p>
            <a:pPr algn="ctr"/>
          </a:p>
        </p:txBody>
      </p:sp>
      <p:sp>
        <p:nvSpPr>
          <p:cNvPr id="23" name="TextBox 22"/>
          <p:cNvSpPr txBox="1"/>
          <p:nvPr/>
        </p:nvSpPr>
        <p:spPr>
          <a:xfrm>
            <a:off x="6671920" y="2008378"/>
            <a:ext cx="4861408" cy="258572"/>
          </a:xfrm>
          <a:prstGeom prst="rect">
            <a:avLst/>
          </a:prstGeom>
          <a:noFill/>
        </p:spPr>
        <p:txBody>
          <a:bodyPr wrap="square" lIns="0" rIns="0" tIns="0" bIns="0" anchor="t">
            <a:noAutofit/>
          </a:bodyPr>
          <a:lstStyle/>
          <a:p>
            <a:pPr algn="l">
              <a:lnSpc>
                <a:spcPts val="1820"/>
              </a:lnSpc>
              <a:spcBef>
                <a:spcPts val="0"/>
              </a:spcBef>
              <a:spcAft>
                <a:spcPts val="0"/>
              </a:spcAft>
            </a:pPr>
            <a:r>
              <a:rPr sz="1400" b="1" i="0">
                <a:solidFill>
                  <a:srgbClr val="141413"/>
                </a:solidFill>
                <a:latin typeface="Apple SD Gothic Neo"/>
                <a:ea typeface="Apple SD Gothic Neo"/>
              </a:rPr>
              <a:t>화합물 라이브러리와 물성 계산 (1.2 ~ 3.1 단계)</a:t>
            </a:r>
          </a:p>
        </p:txBody>
      </p:sp>
      <p:sp>
        <p:nvSpPr>
          <p:cNvPr id="24" name="Rounded Rectangle 23"/>
          <p:cNvSpPr/>
          <p:nvPr/>
        </p:nvSpPr>
        <p:spPr>
          <a:xfrm>
            <a:off x="6434176" y="2394966"/>
            <a:ext cx="5099152" cy="1150324"/>
          </a:xfrm>
          <a:prstGeom prst="roundRect">
            <a:avLst>
              <a:gd name="adj" fmla="val 12718"/>
            </a:avLst>
          </a:prstGeom>
          <a:solidFill>
            <a:srgbClr val="FFFFFF"/>
          </a:solidFill>
          <a:ln>
            <a:noFill/>
          </a:ln>
        </p:spPr>
        <p:txBody>
          <a:bodyPr rtlCol="0" anchor="ctr"/>
          <a:lstStyle/>
          <a:p>
            <a:pPr algn="ctr"/>
          </a:p>
        </p:txBody>
      </p:sp>
      <p:sp>
        <p:nvSpPr>
          <p:cNvPr id="25" name="TextBox 24"/>
          <p:cNvSpPr txBox="1"/>
          <p:nvPr/>
        </p:nvSpPr>
        <p:spPr>
          <a:xfrm>
            <a:off x="6580480" y="2541270"/>
            <a:ext cx="4806544" cy="857716"/>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E3A1E"/>
                </a:solidFill>
                <a:latin typeface="Apple SD Gothic Neo"/>
                <a:ea typeface="Apple SD Gothic Neo"/>
              </a:rPr>
              <a:t>ChEMBL · ZINC 라이브러리</a:t>
            </a:r>
          </a:p>
          <a:p>
            <a:pPr algn="l">
              <a:lnSpc>
                <a:spcPts val="1632"/>
              </a:lnSpc>
              <a:spcBef>
                <a:spcPts val="300"/>
              </a:spcBef>
              <a:spcAft>
                <a:spcPts val="0"/>
              </a:spcAft>
            </a:pPr>
            <a:r>
              <a:rPr sz="1150" b="0" i="0">
                <a:solidFill>
                  <a:srgbClr val="141413"/>
                </a:solidFill>
                <a:latin typeface="Apple SD Gothic Neo"/>
                <a:ea typeface="Apple SD Gothic Neo"/>
              </a:rPr>
              <a:t>실제 논문·특허에서 약효가 시험된 화합물(ChEMBL)과 합성 가능한 소형 분자(ZINC)로 구성된 표적당 220종 데이터셋입니다.</a:t>
            </a:r>
          </a:p>
        </p:txBody>
      </p:sp>
      <p:sp>
        <p:nvSpPr>
          <p:cNvPr id="26" name="Rounded Rectangle 25"/>
          <p:cNvSpPr/>
          <p:nvPr/>
        </p:nvSpPr>
        <p:spPr>
          <a:xfrm>
            <a:off x="6434176" y="3655018"/>
            <a:ext cx="5099152" cy="1357715"/>
          </a:xfrm>
          <a:prstGeom prst="roundRect">
            <a:avLst>
              <a:gd name="adj" fmla="val 10775"/>
            </a:avLst>
          </a:prstGeom>
          <a:solidFill>
            <a:srgbClr val="FFFFFF"/>
          </a:solidFill>
          <a:ln>
            <a:noFill/>
          </a:ln>
        </p:spPr>
        <p:txBody>
          <a:bodyPr rtlCol="0" anchor="ctr"/>
          <a:lstStyle/>
          <a:p>
            <a:pPr algn="ctr"/>
          </a:p>
        </p:txBody>
      </p:sp>
      <p:sp>
        <p:nvSpPr>
          <p:cNvPr id="27" name="TextBox 26"/>
          <p:cNvSpPr txBox="1"/>
          <p:nvPr/>
        </p:nvSpPr>
        <p:spPr>
          <a:xfrm>
            <a:off x="6580480" y="3801322"/>
            <a:ext cx="4806544" cy="1065107"/>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E3A1E"/>
                </a:solidFill>
                <a:latin typeface="Apple SD Gothic Neo"/>
                <a:ea typeface="Apple SD Gothic Neo"/>
              </a:rPr>
              <a:t>RDKit 실시간 물성 엔진</a:t>
            </a:r>
          </a:p>
          <a:p>
            <a:pPr algn="l">
              <a:lnSpc>
                <a:spcPts val="1632"/>
              </a:lnSpc>
              <a:spcBef>
                <a:spcPts val="300"/>
              </a:spcBef>
              <a:spcAft>
                <a:spcPts val="0"/>
              </a:spcAft>
            </a:pPr>
            <a:r>
              <a:rPr sz="1150" b="0" i="0">
                <a:solidFill>
                  <a:srgbClr val="141413"/>
                </a:solidFill>
                <a:latin typeface="Apple SD Gothic Neo"/>
                <a:ea typeface="Apple SD Gothic Neo"/>
              </a:rPr>
              <a:t>분자 구조 문자열(SMILES)을 읽어 분자량(MW), 극성 표면적(TPSA, 세포막·뇌혈관장벽 투과 지표), 지용성(cLogP), 리핀스키 5규칙 위반 수(Ro5), 약다움 점수(QED)를 즉시 계산합니다.</a:t>
            </a:r>
          </a:p>
        </p:txBody>
      </p:sp>
      <p:sp>
        <p:nvSpPr>
          <p:cNvPr id="28" name="Rounded Rectangle 27"/>
          <p:cNvSpPr/>
          <p:nvPr/>
        </p:nvSpPr>
        <p:spPr>
          <a:xfrm>
            <a:off x="6434176" y="5122460"/>
            <a:ext cx="5099152" cy="1150324"/>
          </a:xfrm>
          <a:prstGeom prst="roundRect">
            <a:avLst>
              <a:gd name="adj" fmla="val 12718"/>
            </a:avLst>
          </a:prstGeom>
          <a:solidFill>
            <a:srgbClr val="FFFFFF"/>
          </a:solidFill>
          <a:ln>
            <a:noFill/>
          </a:ln>
        </p:spPr>
        <p:txBody>
          <a:bodyPr rtlCol="0" anchor="ctr"/>
          <a:lstStyle/>
          <a:p>
            <a:pPr algn="ctr"/>
          </a:p>
        </p:txBody>
      </p:sp>
      <p:sp>
        <p:nvSpPr>
          <p:cNvPr id="29" name="TextBox 28"/>
          <p:cNvSpPr txBox="1"/>
          <p:nvPr/>
        </p:nvSpPr>
        <p:spPr>
          <a:xfrm>
            <a:off x="6580480" y="5268764"/>
            <a:ext cx="4806544" cy="857716"/>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E3A1E"/>
                </a:solidFill>
                <a:latin typeface="Apple SD Gothic Neo"/>
                <a:ea typeface="Apple SD Gothic Neo"/>
              </a:rPr>
              <a:t>구조 경고 (Structural Alerts)</a:t>
            </a:r>
          </a:p>
          <a:p>
            <a:pPr algn="l">
              <a:lnSpc>
                <a:spcPts val="1632"/>
              </a:lnSpc>
              <a:spcBef>
                <a:spcPts val="300"/>
              </a:spcBef>
              <a:spcAft>
                <a:spcPts val="0"/>
              </a:spcAft>
            </a:pPr>
            <a:r>
              <a:rPr sz="1150" b="0" i="0">
                <a:solidFill>
                  <a:srgbClr val="141413"/>
                </a:solidFill>
                <a:latin typeface="Apple SD Gothic Neo"/>
                <a:ea typeface="Apple SD Gothic Neo"/>
              </a:rPr>
              <a:t>간 독성이나 돌연변이를 일으키기 쉬운 위험 작용기가 분자 안에 들어 있는지 부분 구조 매칭(SMARTS)으로 찾아냅니다.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06 / 26</a:t>
            </a:r>
          </a:p>
        </p:txBody>
      </p:sp>
      <p:sp>
        <p:nvSpPr>
          <p:cNvPr id="7" name="Rounded Rectangle 6"/>
          <p:cNvSpPr/>
          <p:nvPr/>
        </p:nvSpPr>
        <p:spPr>
          <a:xfrm>
            <a:off x="457200" y="566928"/>
            <a:ext cx="3104046"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829726"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1 · 실제 데이터와 계산 원리 (2/2)</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3D 단백질 결합 에너지 계산부터 그래프 신경망 독성 예측까지</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분자가 표적 주머니에 얼마나 단단히 붙는지, 몸속에서 안전한지를 물리 계산과 딥러닝으로 확인합니다.</a:t>
            </a:r>
          </a:p>
        </p:txBody>
      </p:sp>
      <p:sp>
        <p:nvSpPr>
          <p:cNvPr id="12" name="Rounded Rectangle 11"/>
          <p:cNvSpPr/>
          <p:nvPr/>
        </p:nvSpPr>
        <p:spPr>
          <a:xfrm>
            <a:off x="457200" y="1825498"/>
            <a:ext cx="5501488" cy="4648454"/>
          </a:xfrm>
          <a:prstGeom prst="roundRect">
            <a:avLst>
              <a:gd name="adj" fmla="val 4721"/>
            </a:avLst>
          </a:prstGeom>
          <a:solidFill>
            <a:srgbClr val="FAF9F5"/>
          </a:solidFill>
          <a:ln w="9525">
            <a:solidFill>
              <a:srgbClr val="DDDBD2"/>
            </a:solidFill>
          </a:ln>
        </p:spPr>
        <p:txBody>
          <a:bodyPr rtlCol="0" anchor="ctr"/>
          <a:lstStyle/>
          <a:p>
            <a:pPr algn="ctr"/>
          </a:p>
        </p:txBody>
      </p:sp>
      <p:sp>
        <p:nvSpPr>
          <p:cNvPr id="13" name="Rounded Rectangle 12"/>
          <p:cNvSpPr/>
          <p:nvPr/>
        </p:nvSpPr>
        <p:spPr>
          <a:xfrm>
            <a:off x="658368" y="2072386"/>
            <a:ext cx="146304" cy="146304"/>
          </a:xfrm>
          <a:prstGeom prst="roundRect">
            <a:avLst>
              <a:gd name="adj" fmla="val 25000"/>
            </a:avLst>
          </a:prstGeom>
          <a:solidFill>
            <a:srgbClr val="D4F94E"/>
          </a:solidFill>
          <a:ln>
            <a:noFill/>
          </a:ln>
        </p:spPr>
        <p:txBody>
          <a:bodyPr rtlCol="0" anchor="ctr"/>
          <a:lstStyle/>
          <a:p>
            <a:pPr algn="ctr"/>
          </a:p>
        </p:txBody>
      </p:sp>
      <p:sp>
        <p:nvSpPr>
          <p:cNvPr id="14" name="TextBox 13"/>
          <p:cNvSpPr txBox="1"/>
          <p:nvPr/>
        </p:nvSpPr>
        <p:spPr>
          <a:xfrm>
            <a:off x="896112" y="2008378"/>
            <a:ext cx="4861408" cy="258572"/>
          </a:xfrm>
          <a:prstGeom prst="rect">
            <a:avLst/>
          </a:prstGeom>
          <a:noFill/>
        </p:spPr>
        <p:txBody>
          <a:bodyPr wrap="square" lIns="0" rIns="0" tIns="0" bIns="0" anchor="t">
            <a:noAutofit/>
          </a:bodyPr>
          <a:lstStyle/>
          <a:p>
            <a:pPr algn="l">
              <a:lnSpc>
                <a:spcPts val="1820"/>
              </a:lnSpc>
              <a:spcBef>
                <a:spcPts val="0"/>
              </a:spcBef>
              <a:spcAft>
                <a:spcPts val="0"/>
              </a:spcAft>
            </a:pPr>
            <a:r>
              <a:rPr sz="1400" b="1" i="0">
                <a:solidFill>
                  <a:srgbClr val="141413"/>
                </a:solidFill>
                <a:latin typeface="Apple SD Gothic Neo"/>
                <a:ea typeface="Apple SD Gothic Neo"/>
              </a:rPr>
              <a:t>3D 분자 도킹 (2.1 단계)</a:t>
            </a:r>
          </a:p>
        </p:txBody>
      </p:sp>
      <p:sp>
        <p:nvSpPr>
          <p:cNvPr id="15" name="Rounded Rectangle 14"/>
          <p:cNvSpPr/>
          <p:nvPr/>
        </p:nvSpPr>
        <p:spPr>
          <a:xfrm>
            <a:off x="658368" y="2394966"/>
            <a:ext cx="5099152" cy="889508"/>
          </a:xfrm>
          <a:prstGeom prst="roundRect">
            <a:avLst>
              <a:gd name="adj" fmla="val 16447"/>
            </a:avLst>
          </a:prstGeom>
          <a:solidFill>
            <a:srgbClr val="FFFFFF"/>
          </a:solidFill>
          <a:ln>
            <a:noFill/>
          </a:ln>
        </p:spPr>
        <p:txBody>
          <a:bodyPr rtlCol="0" anchor="ctr"/>
          <a:lstStyle/>
          <a:p>
            <a:pPr algn="ctr"/>
          </a:p>
        </p:txBody>
      </p:sp>
      <p:sp>
        <p:nvSpPr>
          <p:cNvPr id="16" name="TextBox 15"/>
          <p:cNvSpPr txBox="1"/>
          <p:nvPr/>
        </p:nvSpPr>
        <p:spPr>
          <a:xfrm>
            <a:off x="804672" y="2541270"/>
            <a:ext cx="4806544" cy="596900"/>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E3A1E"/>
                </a:solidFill>
                <a:latin typeface="Apple SD Gothic Neo"/>
                <a:ea typeface="Apple SD Gothic Neo"/>
              </a:rPr>
              <a:t>AutoDock Vina 1.2.7</a:t>
            </a:r>
          </a:p>
          <a:p>
            <a:pPr algn="l">
              <a:lnSpc>
                <a:spcPts val="1420"/>
              </a:lnSpc>
              <a:spcBef>
                <a:spcPts val="300"/>
              </a:spcBef>
              <a:spcAft>
                <a:spcPts val="0"/>
              </a:spcAft>
            </a:pPr>
            <a:r>
              <a:rPr sz="1000" b="0" i="0">
                <a:solidFill>
                  <a:srgbClr val="141413"/>
                </a:solidFill>
                <a:latin typeface="Apple SD Gothic Neo"/>
                <a:ea typeface="Apple SD Gothic Neo"/>
              </a:rPr>
              <a:t>단백질 결합 주머니(포켓) 3D 공간 안에서 후보 분자의 위치와 회전 가능한 결합 각도를 수천 번 바꿔 가며 가장 안정한 결합 자세를 찾습니다.</a:t>
            </a:r>
          </a:p>
        </p:txBody>
      </p:sp>
      <p:sp>
        <p:nvSpPr>
          <p:cNvPr id="17" name="Rounded Rectangle 16"/>
          <p:cNvSpPr/>
          <p:nvPr/>
        </p:nvSpPr>
        <p:spPr>
          <a:xfrm>
            <a:off x="658368" y="3394202"/>
            <a:ext cx="5099152" cy="889508"/>
          </a:xfrm>
          <a:prstGeom prst="roundRect">
            <a:avLst>
              <a:gd name="adj" fmla="val 16447"/>
            </a:avLst>
          </a:prstGeom>
          <a:solidFill>
            <a:srgbClr val="FFFFFF"/>
          </a:solidFill>
          <a:ln>
            <a:noFill/>
          </a:ln>
        </p:spPr>
        <p:txBody>
          <a:bodyPr rtlCol="0" anchor="ctr"/>
          <a:lstStyle/>
          <a:p>
            <a:pPr algn="ctr"/>
          </a:p>
        </p:txBody>
      </p:sp>
      <p:sp>
        <p:nvSpPr>
          <p:cNvPr id="18" name="TextBox 17"/>
          <p:cNvSpPr txBox="1"/>
          <p:nvPr/>
        </p:nvSpPr>
        <p:spPr>
          <a:xfrm>
            <a:off x="804672" y="3540506"/>
            <a:ext cx="4806544" cy="596900"/>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E3A1E"/>
                </a:solidFill>
                <a:latin typeface="Apple SD Gothic Neo"/>
                <a:ea typeface="Apple SD Gothic Neo"/>
              </a:rPr>
              <a:t>결합 친화도 (ΔG, kcal/mol)</a:t>
            </a:r>
          </a:p>
          <a:p>
            <a:pPr algn="l">
              <a:lnSpc>
                <a:spcPts val="1420"/>
              </a:lnSpc>
              <a:spcBef>
                <a:spcPts val="300"/>
              </a:spcBef>
              <a:spcAft>
                <a:spcPts val="0"/>
              </a:spcAft>
            </a:pPr>
            <a:r>
              <a:rPr sz="1000" b="0" i="0">
                <a:solidFill>
                  <a:srgbClr val="141413"/>
                </a:solidFill>
                <a:latin typeface="Apple SD Gothic Neo"/>
                <a:ea typeface="Apple SD Gothic Neo"/>
              </a:rPr>
              <a:t>분자가 단백질에 붙을 때 방출되는 자유 에너지입니다. 음수 절댓값이 클수록(예: -7.0보다 -10.5 kcal/mol이) 더 단단히 결합합니다.</a:t>
            </a:r>
          </a:p>
        </p:txBody>
      </p:sp>
      <p:sp>
        <p:nvSpPr>
          <p:cNvPr id="19" name="Rounded Rectangle 18"/>
          <p:cNvSpPr/>
          <p:nvPr/>
        </p:nvSpPr>
        <p:spPr>
          <a:xfrm>
            <a:off x="658368" y="4393438"/>
            <a:ext cx="5099152" cy="889508"/>
          </a:xfrm>
          <a:prstGeom prst="roundRect">
            <a:avLst>
              <a:gd name="adj" fmla="val 16447"/>
            </a:avLst>
          </a:prstGeom>
          <a:solidFill>
            <a:srgbClr val="FFFFFF"/>
          </a:solidFill>
          <a:ln>
            <a:noFill/>
          </a:ln>
        </p:spPr>
        <p:txBody>
          <a:bodyPr rtlCol="0" anchor="ctr"/>
          <a:lstStyle/>
          <a:p>
            <a:pPr algn="ctr"/>
          </a:p>
        </p:txBody>
      </p:sp>
      <p:sp>
        <p:nvSpPr>
          <p:cNvPr id="20" name="TextBox 19"/>
          <p:cNvSpPr txBox="1"/>
          <p:nvPr/>
        </p:nvSpPr>
        <p:spPr>
          <a:xfrm>
            <a:off x="804672" y="4539742"/>
            <a:ext cx="4806544" cy="596900"/>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E3A1E"/>
                </a:solidFill>
                <a:latin typeface="Apple SD Gothic Neo"/>
                <a:ea typeface="Apple SD Gothic Neo"/>
              </a:rPr>
              <a:t>열역학 10배 법칙</a:t>
            </a:r>
          </a:p>
          <a:p>
            <a:pPr algn="l">
              <a:lnSpc>
                <a:spcPts val="1420"/>
              </a:lnSpc>
              <a:spcBef>
                <a:spcPts val="300"/>
              </a:spcBef>
              <a:spcAft>
                <a:spcPts val="0"/>
              </a:spcAft>
            </a:pPr>
            <a:r>
              <a:rPr sz="1000" b="0" i="0">
                <a:solidFill>
                  <a:srgbClr val="141413"/>
                </a:solidFill>
                <a:latin typeface="Apple SD Gothic Neo"/>
                <a:ea typeface="Apple SD Gothic Neo"/>
              </a:rPr>
              <a:t>ΔG = RT ln Kd 공식에 따라, 상온에서 ΔG가 약 -1.36 kcal/mol 더 내려갈 때마다 필요한 약물 농도가 10배 줄어듭니다.</a:t>
            </a:r>
          </a:p>
        </p:txBody>
      </p:sp>
      <p:sp>
        <p:nvSpPr>
          <p:cNvPr id="21" name="Rounded Rectangle 20"/>
          <p:cNvSpPr/>
          <p:nvPr/>
        </p:nvSpPr>
        <p:spPr>
          <a:xfrm>
            <a:off x="658368" y="5392674"/>
            <a:ext cx="5099152" cy="889508"/>
          </a:xfrm>
          <a:prstGeom prst="roundRect">
            <a:avLst>
              <a:gd name="adj" fmla="val 16447"/>
            </a:avLst>
          </a:prstGeom>
          <a:solidFill>
            <a:srgbClr val="FFFFFF"/>
          </a:solidFill>
          <a:ln>
            <a:noFill/>
          </a:ln>
        </p:spPr>
        <p:txBody>
          <a:bodyPr rtlCol="0" anchor="ctr"/>
          <a:lstStyle/>
          <a:p>
            <a:pPr algn="ctr"/>
          </a:p>
        </p:txBody>
      </p:sp>
      <p:sp>
        <p:nvSpPr>
          <p:cNvPr id="22" name="TextBox 21"/>
          <p:cNvSpPr txBox="1"/>
          <p:nvPr/>
        </p:nvSpPr>
        <p:spPr>
          <a:xfrm>
            <a:off x="804672" y="5538978"/>
            <a:ext cx="4806544" cy="596900"/>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E3A1E"/>
                </a:solidFill>
                <a:latin typeface="Apple SD Gothic Neo"/>
                <a:ea typeface="Apple SD Gothic Neo"/>
              </a:rPr>
              <a:t>PLIP 상호작용 분석</a:t>
            </a:r>
          </a:p>
          <a:p>
            <a:pPr algn="l">
              <a:lnSpc>
                <a:spcPts val="1420"/>
              </a:lnSpc>
              <a:spcBef>
                <a:spcPts val="300"/>
              </a:spcBef>
              <a:spcAft>
                <a:spcPts val="0"/>
              </a:spcAft>
            </a:pPr>
            <a:r>
              <a:rPr sz="1000" b="0" i="0">
                <a:solidFill>
                  <a:srgbClr val="141413"/>
                </a:solidFill>
                <a:latin typeface="Apple SD Gothic Neo"/>
                <a:ea typeface="Apple SD Gothic Neo"/>
              </a:rPr>
              <a:t>도킹된 3D 좌표에서 약물과 단백질 아미노산 잔기 사이의 수소 결합, 소수성 접촉, π-스태킹, 염다리를 아미노산 번호 단위로 찾아냅니다.</a:t>
            </a:r>
          </a:p>
        </p:txBody>
      </p:sp>
      <p:sp>
        <p:nvSpPr>
          <p:cNvPr id="23" name="Rounded Rectangle 22"/>
          <p:cNvSpPr/>
          <p:nvPr/>
        </p:nvSpPr>
        <p:spPr>
          <a:xfrm>
            <a:off x="6233008" y="1825498"/>
            <a:ext cx="5501488" cy="4648454"/>
          </a:xfrm>
          <a:prstGeom prst="roundRect">
            <a:avLst>
              <a:gd name="adj" fmla="val 4721"/>
            </a:avLst>
          </a:prstGeom>
          <a:solidFill>
            <a:srgbClr val="FAF9F5"/>
          </a:solidFill>
          <a:ln w="9525">
            <a:solidFill>
              <a:srgbClr val="DDDBD2"/>
            </a:solidFill>
          </a:ln>
        </p:spPr>
        <p:txBody>
          <a:bodyPr rtlCol="0" anchor="ctr"/>
          <a:lstStyle/>
          <a:p>
            <a:pPr algn="ctr"/>
          </a:p>
        </p:txBody>
      </p:sp>
      <p:sp>
        <p:nvSpPr>
          <p:cNvPr id="24" name="Rounded Rectangle 23"/>
          <p:cNvSpPr/>
          <p:nvPr/>
        </p:nvSpPr>
        <p:spPr>
          <a:xfrm>
            <a:off x="6434176" y="2072386"/>
            <a:ext cx="146304" cy="146304"/>
          </a:xfrm>
          <a:prstGeom prst="roundRect">
            <a:avLst>
              <a:gd name="adj" fmla="val 25000"/>
            </a:avLst>
          </a:prstGeom>
          <a:solidFill>
            <a:srgbClr val="FFB21A"/>
          </a:solidFill>
          <a:ln>
            <a:noFill/>
          </a:ln>
        </p:spPr>
        <p:txBody>
          <a:bodyPr rtlCol="0" anchor="ctr"/>
          <a:lstStyle/>
          <a:p>
            <a:pPr algn="ctr"/>
          </a:p>
        </p:txBody>
      </p:sp>
      <p:sp>
        <p:nvSpPr>
          <p:cNvPr id="25" name="TextBox 24"/>
          <p:cNvSpPr txBox="1"/>
          <p:nvPr/>
        </p:nvSpPr>
        <p:spPr>
          <a:xfrm>
            <a:off x="6671920" y="2008378"/>
            <a:ext cx="4861408" cy="258572"/>
          </a:xfrm>
          <a:prstGeom prst="rect">
            <a:avLst/>
          </a:prstGeom>
          <a:noFill/>
        </p:spPr>
        <p:txBody>
          <a:bodyPr wrap="square" lIns="0" rIns="0" tIns="0" bIns="0" anchor="t">
            <a:noAutofit/>
          </a:bodyPr>
          <a:lstStyle/>
          <a:p>
            <a:pPr algn="l">
              <a:lnSpc>
                <a:spcPts val="1820"/>
              </a:lnSpc>
              <a:spcBef>
                <a:spcPts val="0"/>
              </a:spcBef>
              <a:spcAft>
                <a:spcPts val="0"/>
              </a:spcAft>
            </a:pPr>
            <a:r>
              <a:rPr sz="1400" b="1" i="0">
                <a:solidFill>
                  <a:srgbClr val="141413"/>
                </a:solidFill>
                <a:latin typeface="Apple SD Gothic Neo"/>
                <a:ea typeface="Apple SD Gothic Neo"/>
              </a:rPr>
              <a:t>약동학·독성 예측 및 서류 심사 (2.2 ~ 3.3 단계)</a:t>
            </a:r>
          </a:p>
        </p:txBody>
      </p:sp>
      <p:sp>
        <p:nvSpPr>
          <p:cNvPr id="26" name="Rounded Rectangle 25"/>
          <p:cNvSpPr/>
          <p:nvPr/>
        </p:nvSpPr>
        <p:spPr>
          <a:xfrm>
            <a:off x="6434176" y="2394966"/>
            <a:ext cx="5099152" cy="1793875"/>
          </a:xfrm>
          <a:prstGeom prst="roundRect">
            <a:avLst>
              <a:gd name="adj" fmla="val 8155"/>
            </a:avLst>
          </a:prstGeom>
          <a:solidFill>
            <a:srgbClr val="FFFFFF"/>
          </a:solidFill>
          <a:ln>
            <a:noFill/>
          </a:ln>
        </p:spPr>
        <p:txBody>
          <a:bodyPr rtlCol="0" anchor="ctr"/>
          <a:lstStyle/>
          <a:p>
            <a:pPr algn="ctr"/>
          </a:p>
        </p:txBody>
      </p:sp>
      <p:sp>
        <p:nvSpPr>
          <p:cNvPr id="27" name="TextBox 26"/>
          <p:cNvSpPr txBox="1"/>
          <p:nvPr/>
        </p:nvSpPr>
        <p:spPr>
          <a:xfrm>
            <a:off x="6580480" y="2541270"/>
            <a:ext cx="4806544" cy="1501267"/>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E3A1E"/>
                </a:solidFill>
                <a:latin typeface="Apple SD Gothic Neo"/>
                <a:ea typeface="Apple SD Gothic Neo"/>
              </a:rPr>
              <a:t>ADMET-AI v2 (그래프 신경망)</a:t>
            </a:r>
          </a:p>
          <a:p>
            <a:pPr algn="l">
              <a:lnSpc>
                <a:spcPts val="1420"/>
              </a:lnSpc>
              <a:spcBef>
                <a:spcPts val="300"/>
              </a:spcBef>
              <a:spcAft>
                <a:spcPts val="0"/>
              </a:spcAft>
            </a:pPr>
            <a:r>
              <a:rPr sz="1000" b="0" i="0">
                <a:solidFill>
                  <a:srgbClr val="141413"/>
                </a:solidFill>
                <a:latin typeface="Apple SD Gothic Neo"/>
                <a:ea typeface="Apple SD Gothic Neo"/>
              </a:rPr>
              <a:t>분자를 원자(점)와 결합(선)의 그래프로 읽는 딥러닝 모델(Chemprop MPNN)로 흡수·분포·대사·배설과 심장(hERG)·간독성 확률을 예측합니다.</a:t>
            </a:r>
          </a:p>
        </p:txBody>
      </p:sp>
      <p:sp>
        <p:nvSpPr>
          <p:cNvPr id="28" name="Rounded Rectangle 27"/>
          <p:cNvSpPr/>
          <p:nvPr/>
        </p:nvSpPr>
        <p:spPr>
          <a:xfrm>
            <a:off x="6434176" y="4298569"/>
            <a:ext cx="5099152" cy="1974215"/>
          </a:xfrm>
          <a:prstGeom prst="roundRect">
            <a:avLst>
              <a:gd name="adj" fmla="val 7410"/>
            </a:avLst>
          </a:prstGeom>
          <a:solidFill>
            <a:srgbClr val="FFFFFF"/>
          </a:solidFill>
          <a:ln>
            <a:noFill/>
          </a:ln>
        </p:spPr>
        <p:txBody>
          <a:bodyPr rtlCol="0" anchor="ctr"/>
          <a:lstStyle/>
          <a:p>
            <a:pPr algn="ctr"/>
          </a:p>
        </p:txBody>
      </p:sp>
      <p:sp>
        <p:nvSpPr>
          <p:cNvPr id="29" name="TextBox 28"/>
          <p:cNvSpPr txBox="1"/>
          <p:nvPr/>
        </p:nvSpPr>
        <p:spPr>
          <a:xfrm>
            <a:off x="6580480" y="4444873"/>
            <a:ext cx="4806544" cy="1681607"/>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E3A1E"/>
                </a:solidFill>
                <a:latin typeface="Apple SD Gothic Neo"/>
                <a:ea typeface="Apple SD Gothic Neo"/>
              </a:rPr>
              <a:t>규칙 엔진 + AI 심사관 (Claude Opus 5.5)</a:t>
            </a:r>
          </a:p>
          <a:p>
            <a:pPr algn="l">
              <a:lnSpc>
                <a:spcPts val="1420"/>
              </a:lnSpc>
              <a:spcBef>
                <a:spcPts val="300"/>
              </a:spcBef>
              <a:spcAft>
                <a:spcPts val="0"/>
              </a:spcAft>
            </a:pPr>
            <a:r>
              <a:rPr sz="1000" b="0" i="0">
                <a:solidFill>
                  <a:srgbClr val="141413"/>
                </a:solidFill>
                <a:latin typeface="Apple SD Gothic Neo"/>
                <a:ea typeface="Apple SD Gothic Neo"/>
              </a:rPr>
              <a:t>수치 판정·특허 중복·안전 용량(MRSD) 검사는 서버 규칙이 100% 처리하고, Claude Opus 5.5는 학생이 쓴 특허 출원서·동물실험계획서·임상 신청서의 내용 누락과 데이터 모순만 심사합니다.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07 / 26</a:t>
            </a:r>
          </a:p>
        </p:txBody>
      </p:sp>
      <p:sp>
        <p:nvSpPr>
          <p:cNvPr id="7" name="Rounded Rectangle 6"/>
          <p:cNvSpPr/>
          <p:nvPr/>
        </p:nvSpPr>
        <p:spPr>
          <a:xfrm>
            <a:off x="457200" y="566928"/>
            <a:ext cx="2460367"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186047"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1 · 자주 묻는 과학적 질문</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"왜 AlphaFold는 안 쓰나요?" — 저분자 합성신약과 항체 신약의 차이</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저분자 도킹에는 AI 예측 구조보다 실제 약이 꽂힌 실험 결정구조(PDB)가 정확하며, AlphaFold는 항체 신약 트랙에 쓰입니다.</a:t>
            </a:r>
          </a:p>
        </p:txBody>
      </p:sp>
      <p:sp>
        <p:nvSpPr>
          <p:cNvPr id="12" name="Rounded Rectangle 11"/>
          <p:cNvSpPr/>
          <p:nvPr/>
        </p:nvSpPr>
        <p:spPr>
          <a:xfrm>
            <a:off x="457200" y="1825498"/>
            <a:ext cx="3606698" cy="2737739"/>
          </a:xfrm>
          <a:prstGeom prst="roundRect">
            <a:avLst>
              <a:gd name="adj" fmla="val 5343"/>
            </a:avLst>
          </a:prstGeom>
          <a:solidFill>
            <a:srgbClr val="FFFFFF"/>
          </a:solidFill>
          <a:ln>
            <a:noFill/>
          </a:ln>
        </p:spPr>
        <p:txBody>
          <a:bodyPr rtlCol="0" anchor="ctr"/>
          <a:lstStyle/>
          <a:p>
            <a:pPr algn="ctr"/>
          </a:p>
        </p:txBody>
      </p:sp>
      <p:sp>
        <p:nvSpPr>
          <p:cNvPr id="13" name="TextBox 12"/>
          <p:cNvSpPr txBox="1"/>
          <p:nvPr/>
        </p:nvSpPr>
        <p:spPr>
          <a:xfrm>
            <a:off x="640080" y="2008378"/>
            <a:ext cx="3240938" cy="2371979"/>
          </a:xfrm>
          <a:prstGeom prst="rect">
            <a:avLst/>
          </a:prstGeom>
          <a:noFill/>
        </p:spPr>
        <p:txBody>
          <a:bodyPr wrap="square" lIns="0" rIns="0" tIns="0" bIns="0" anchor="t">
            <a:noAutofit/>
          </a:bodyPr>
          <a:lstStyle/>
          <a:p>
            <a:pPr algn="l">
              <a:lnSpc>
                <a:spcPts val="1625"/>
              </a:lnSpc>
              <a:spcBef>
                <a:spcPts val="0"/>
              </a:spcBef>
              <a:spcAft>
                <a:spcPts val="0"/>
              </a:spcAft>
            </a:pPr>
            <a:r>
              <a:rPr sz="1250" b="1" i="0">
                <a:solidFill>
                  <a:srgbClr val="141413"/>
                </a:solidFill>
                <a:latin typeface="Apple SD Gothic Neo"/>
                <a:ea typeface="Apple SD Gothic Neo"/>
              </a:rPr>
              <a:t>1. 열린 주머니(Holo) 실측 구조 vs 빈 주머니(Apo) 예측 구조</a:t>
            </a:r>
          </a:p>
          <a:p>
            <a:pPr algn="l">
              <a:lnSpc>
                <a:spcPts val="1539"/>
              </a:lnSpc>
              <a:spcBef>
                <a:spcPts val="400"/>
              </a:spcBef>
              <a:spcAft>
                <a:spcPts val="0"/>
              </a:spcAft>
            </a:pPr>
            <a:r>
              <a:rPr sz="1100" b="0" i="0">
                <a:solidFill>
                  <a:srgbClr val="5C5B56"/>
                </a:solidFill>
                <a:latin typeface="Apple SD Gothic Neo"/>
                <a:ea typeface="Apple SD Gothic Neo"/>
              </a:rPr>
              <a:t>AlphaFold는 아미노산 서열만으로 아직 구조가 밝혀지지 않은 단백질 모양을 예측하는 AI입니다. 하지만 우리 플랫폼의 12대 질병 표적은 이미 X선 결정학으로 실제 약이 꽂힌 채 찍힌 정밀 실측 구조(PDB)가 있습니다. 약이 들어갈 때 주머니가 살짝 벌어진 상태(유도 적합)와 금속 이온(Zn²⁺·Mg²⁺)·보조인자(FAD) 좌표가 보존된 실험 구조를 쓰는 것이 저분자 도킹의 표준입니다.</a:t>
            </a:r>
          </a:p>
        </p:txBody>
      </p:sp>
      <p:sp>
        <p:nvSpPr>
          <p:cNvPr id="14" name="Rounded Rectangle 13"/>
          <p:cNvSpPr/>
          <p:nvPr/>
        </p:nvSpPr>
        <p:spPr>
          <a:xfrm>
            <a:off x="4292498" y="1825498"/>
            <a:ext cx="3606698" cy="2737739"/>
          </a:xfrm>
          <a:prstGeom prst="roundRect">
            <a:avLst>
              <a:gd name="adj" fmla="val 5343"/>
            </a:avLst>
          </a:prstGeom>
          <a:solidFill>
            <a:srgbClr val="FFFFFF"/>
          </a:solidFill>
          <a:ln>
            <a:noFill/>
          </a:ln>
        </p:spPr>
        <p:txBody>
          <a:bodyPr rtlCol="0" anchor="ctr"/>
          <a:lstStyle/>
          <a:p>
            <a:pPr algn="ctr"/>
          </a:p>
        </p:txBody>
      </p:sp>
      <p:sp>
        <p:nvSpPr>
          <p:cNvPr id="15" name="TextBox 14"/>
          <p:cNvSpPr txBox="1"/>
          <p:nvPr/>
        </p:nvSpPr>
        <p:spPr>
          <a:xfrm>
            <a:off x="4475378" y="2008378"/>
            <a:ext cx="3240938" cy="2371979"/>
          </a:xfrm>
          <a:prstGeom prst="rect">
            <a:avLst/>
          </a:prstGeom>
          <a:noFill/>
        </p:spPr>
        <p:txBody>
          <a:bodyPr wrap="square" lIns="0" rIns="0" tIns="0" bIns="0" anchor="t">
            <a:noAutofit/>
          </a:bodyPr>
          <a:lstStyle/>
          <a:p>
            <a:pPr algn="l">
              <a:lnSpc>
                <a:spcPts val="1625"/>
              </a:lnSpc>
              <a:spcBef>
                <a:spcPts val="0"/>
              </a:spcBef>
              <a:spcAft>
                <a:spcPts val="0"/>
              </a:spcAft>
            </a:pPr>
            <a:r>
              <a:rPr sz="1250" b="1" i="0">
                <a:solidFill>
                  <a:srgbClr val="141413"/>
                </a:solidFill>
                <a:latin typeface="Apple SD Gothic Neo"/>
                <a:ea typeface="Apple SD Gothic Neo"/>
              </a:rPr>
              <a:t>2. 교실 30명 동시 수업을 위한 실시간 응답 속도</a:t>
            </a:r>
          </a:p>
          <a:p>
            <a:pPr algn="l">
              <a:lnSpc>
                <a:spcPts val="1539"/>
              </a:lnSpc>
              <a:spcBef>
                <a:spcPts val="400"/>
              </a:spcBef>
              <a:spcAft>
                <a:spcPts val="0"/>
              </a:spcAft>
            </a:pPr>
            <a:r>
              <a:rPr sz="1100" b="0" i="0">
                <a:solidFill>
                  <a:srgbClr val="5C5B56"/>
                </a:solidFill>
                <a:latin typeface="Apple SD Gothic Neo"/>
                <a:ea typeface="Apple SD Gothic Neo"/>
              </a:rPr>
              <a:t>ColabFold나 AlphaFold-Multimer는 고성능 GPU에서도 구조 하나를 예측하는 데 수 분에서 수십 분이 걸립니다. PDB 실측 구조와 AutoDock Vina 조합은 수 초~수십 초 안에 결과를 돌려주어 50분 정규 수업에서 반복 실험이 가능합니다.</a:t>
            </a:r>
          </a:p>
        </p:txBody>
      </p:sp>
      <p:sp>
        <p:nvSpPr>
          <p:cNvPr id="16" name="Rounded Rectangle 15"/>
          <p:cNvSpPr/>
          <p:nvPr/>
        </p:nvSpPr>
        <p:spPr>
          <a:xfrm>
            <a:off x="8127797" y="1825498"/>
            <a:ext cx="3606698" cy="2737739"/>
          </a:xfrm>
          <a:prstGeom prst="roundRect">
            <a:avLst>
              <a:gd name="adj" fmla="val 5343"/>
            </a:avLst>
          </a:prstGeom>
          <a:solidFill>
            <a:srgbClr val="FFFFFF"/>
          </a:solidFill>
          <a:ln>
            <a:noFill/>
          </a:ln>
        </p:spPr>
        <p:txBody>
          <a:bodyPr rtlCol="0" anchor="ctr"/>
          <a:lstStyle/>
          <a:p>
            <a:pPr algn="ctr"/>
          </a:p>
        </p:txBody>
      </p:sp>
      <p:sp>
        <p:nvSpPr>
          <p:cNvPr id="17" name="TextBox 16"/>
          <p:cNvSpPr txBox="1"/>
          <p:nvPr/>
        </p:nvSpPr>
        <p:spPr>
          <a:xfrm>
            <a:off x="8310677" y="2008378"/>
            <a:ext cx="3240938" cy="2371979"/>
          </a:xfrm>
          <a:prstGeom prst="rect">
            <a:avLst/>
          </a:prstGeom>
          <a:noFill/>
        </p:spPr>
        <p:txBody>
          <a:bodyPr wrap="square" lIns="0" rIns="0" tIns="0" bIns="0" anchor="t">
            <a:noAutofit/>
          </a:bodyPr>
          <a:lstStyle/>
          <a:p>
            <a:pPr algn="l">
              <a:lnSpc>
                <a:spcPts val="1625"/>
              </a:lnSpc>
              <a:spcBef>
                <a:spcPts val="0"/>
              </a:spcBef>
              <a:spcAft>
                <a:spcPts val="0"/>
              </a:spcAft>
            </a:pPr>
            <a:r>
              <a:rPr sz="1250" b="1" i="0">
                <a:solidFill>
                  <a:srgbClr val="141413"/>
                </a:solidFill>
                <a:latin typeface="Apple SD Gothic Neo"/>
                <a:ea typeface="Apple SD Gothic Neo"/>
              </a:rPr>
              <a:t>3. 트랙 2(항체·단백질 바이오 신약)로 확장 준비 완료</a:t>
            </a:r>
          </a:p>
          <a:p>
            <a:pPr algn="l">
              <a:lnSpc>
                <a:spcPts val="1539"/>
              </a:lnSpc>
              <a:spcBef>
                <a:spcPts val="400"/>
              </a:spcBef>
              <a:spcAft>
                <a:spcPts val="0"/>
              </a:spcAft>
            </a:pPr>
            <a:r>
              <a:rPr sz="1100" b="0" i="0">
                <a:solidFill>
                  <a:srgbClr val="5C5B56"/>
                </a:solidFill>
                <a:latin typeface="Apple SD Gothic Neo"/>
                <a:ea typeface="Apple SD Gothic Neo"/>
              </a:rPr>
              <a:t>새로운 단백질 서열을 설계하는 항체 신약에서는 단백질 구조 예측 AI가 필수입니다. 저장소에 준비된 두 번째 트랙에서 ProteinMPNN과 AlphaFold-Multimer를 다룹니다.</a:t>
            </a:r>
          </a:p>
        </p:txBody>
      </p:sp>
      <p:sp>
        <p:nvSpPr>
          <p:cNvPr id="18" name="TextBox 17"/>
          <p:cNvSpPr txBox="1"/>
          <p:nvPr/>
        </p:nvSpPr>
        <p:spPr>
          <a:xfrm>
            <a:off x="457200" y="4764405"/>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비교표</a:t>
            </a:r>
          </a:p>
        </p:txBody>
      </p:sp>
      <p:graphicFrame>
        <p:nvGraphicFramePr>
          <p:cNvPr id="19" name="Table 18"/>
          <p:cNvGraphicFramePr>
            <a:graphicFrameLocks noGrp="1"/>
          </p:cNvGraphicFramePr>
          <p:nvPr/>
        </p:nvGraphicFramePr>
        <p:xfrm>
          <a:off x="457200" y="4985258"/>
          <a:ext cx="11277296" cy="1453512"/>
        </p:xfrm>
        <a:graphic>
          <a:graphicData uri="http://schemas.openxmlformats.org/drawingml/2006/table">
            <a:tbl>
              <a:tblPr firstRow="1">
                <a:tableStyleId>{2D5ABB26-0587-4C30-8999-92F81FD0307C}</a:tableStyleId>
              </a:tblPr>
              <a:tblGrid>
                <a:gridCol w="1600200"/>
                <a:gridCol w="4838548"/>
                <a:gridCol w="4838548"/>
              </a:tblGrid>
              <a:tr h="242252">
                <a:tc>
                  <a:txBody>
                    <a:bodyPr wrap="square"/>
                    <a:lstStyle/>
                    <a:p>
                      <a:pPr algn="l">
                        <a:lnSpc>
                          <a:spcPts val="1187"/>
                        </a:lnSpc>
                        <a:spcBef>
                          <a:spcPts val="0"/>
                        </a:spcBef>
                        <a:spcAft>
                          <a:spcPts val="0"/>
                        </a:spcAft>
                      </a:pPr>
                      <a:r>
                        <a:rPr sz="950" b="1" i="0">
                          <a:solidFill>
                            <a:srgbClr val="FAF9F5"/>
                          </a:solidFill>
                          <a:latin typeface="Apple SD Gothic Neo"/>
                          <a:ea typeface="Apple SD Gothic Neo"/>
                        </a:rPr>
                        <a:t>구분</a:t>
                      </a:r>
                    </a:p>
                  </a:txBody>
                  <a:tcPr marL="64008" marR="64008" marT="45720" marB="45720" anchor="ctr">
                    <a:lnL w="0">
                      <a:noFill/>
                    </a:lnL>
                    <a:lnR w="0">
                      <a:noFill/>
                    </a:lnR>
                    <a:lnT w="0">
                      <a:noFill/>
                    </a:lnT>
                    <a:lnB w="0">
                      <a:noFill/>
                    </a:lnB>
                    <a:solidFill>
                      <a:srgbClr val="141413"/>
                    </a:solidFill>
                  </a:tcPr>
                </a:tc>
                <a:tc>
                  <a:txBody>
                    <a:bodyPr wrap="square"/>
                    <a:lstStyle/>
                    <a:p>
                      <a:pPr algn="l">
                        <a:lnSpc>
                          <a:spcPts val="1187"/>
                        </a:lnSpc>
                        <a:spcBef>
                          <a:spcPts val="0"/>
                        </a:spcBef>
                        <a:spcAft>
                          <a:spcPts val="0"/>
                        </a:spcAft>
                      </a:pPr>
                      <a:r>
                        <a:rPr sz="950" b="1" i="0">
                          <a:solidFill>
                            <a:srgbClr val="141413"/>
                          </a:solidFill>
                          <a:latin typeface="Apple SD Gothic Neo"/>
                          <a:ea typeface="Apple SD Gothic Neo"/>
                        </a:rPr>
                        <a:t>트랙 1: 저분자 합성신약 (현재 파이프라인 랩)</a:t>
                      </a:r>
                    </a:p>
                  </a:txBody>
                  <a:tcPr marL="64008" marR="64008" marT="45720" marB="45720" anchor="ctr">
                    <a:lnL w="0">
                      <a:noFill/>
                    </a:lnL>
                    <a:lnR w="0">
                      <a:noFill/>
                    </a:lnR>
                    <a:lnT w="0">
                      <a:noFill/>
                    </a:lnT>
                    <a:lnB w="0">
                      <a:noFill/>
                    </a:lnB>
                    <a:solidFill>
                      <a:srgbClr val="D4F94E"/>
                    </a:solidFill>
                  </a:tcPr>
                </a:tc>
                <a:tc>
                  <a:txBody>
                    <a:bodyPr wrap="square"/>
                    <a:lstStyle/>
                    <a:p>
                      <a:pPr algn="l">
                        <a:lnSpc>
                          <a:spcPts val="1187"/>
                        </a:lnSpc>
                        <a:spcBef>
                          <a:spcPts val="0"/>
                        </a:spcBef>
                        <a:spcAft>
                          <a:spcPts val="0"/>
                        </a:spcAft>
                      </a:pPr>
                      <a:r>
                        <a:rPr sz="950" b="1" i="0">
                          <a:solidFill>
                            <a:srgbClr val="FAF9F5"/>
                          </a:solidFill>
                          <a:latin typeface="Apple SD Gothic Neo"/>
                          <a:ea typeface="Apple SD Gothic Neo"/>
                        </a:rPr>
                        <a:t>트랙 2: 항체·단백질 신약 (확장 심화 트랙)</a:t>
                      </a:r>
                    </a:p>
                  </a:txBody>
                  <a:tcPr marL="64008" marR="64008" marT="45720" marB="45720" anchor="ctr">
                    <a:lnL w="0">
                      <a:noFill/>
                    </a:lnL>
                    <a:lnR w="0">
                      <a:noFill/>
                    </a:lnR>
                    <a:lnT w="0">
                      <a:noFill/>
                    </a:lnT>
                    <a:lnB w="0">
                      <a:noFill/>
                    </a:lnB>
                    <a:solidFill>
                      <a:srgbClr val="141413"/>
                    </a:solidFill>
                  </a:tcPr>
                </a:tc>
              </a:tr>
              <a:tr h="242252">
                <a:tc>
                  <a:txBody>
                    <a:bodyPr wrap="square"/>
                    <a:lstStyle/>
                    <a:p>
                      <a:pPr algn="l">
                        <a:lnSpc>
                          <a:spcPts val="1187"/>
                        </a:lnSpc>
                        <a:spcBef>
                          <a:spcPts val="0"/>
                        </a:spcBef>
                        <a:spcAft>
                          <a:spcPts val="0"/>
                        </a:spcAft>
                      </a:pPr>
                      <a:r>
                        <a:rPr sz="950" b="1" i="0">
                          <a:solidFill>
                            <a:srgbClr val="141413"/>
                          </a:solidFill>
                          <a:latin typeface="Apple SD Gothic Neo"/>
                          <a:ea typeface="Apple SD Gothic Neo"/>
                        </a:rPr>
                        <a:t>약물의 정체</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187"/>
                        </a:lnSpc>
                        <a:spcBef>
                          <a:spcPts val="0"/>
                        </a:spcBef>
                        <a:spcAft>
                          <a:spcPts val="0"/>
                        </a:spcAft>
                      </a:pPr>
                      <a:r>
                        <a:rPr sz="950" b="0" i="0">
                          <a:solidFill>
                            <a:srgbClr val="141413"/>
                          </a:solidFill>
                          <a:latin typeface="Apple SD Gothic Neo"/>
                          <a:ea typeface="Apple SD Gothic Neo"/>
                        </a:rPr>
                        <a:t>분자량 500 Da 안팎의 작은 화학 분자 (먹는 알약·뇌 투과 가능)</a:t>
                      </a:r>
                    </a:p>
                  </a:txBody>
                  <a:tcPr marL="64008" marR="64008" marT="45720" marB="45720" anchor="ctr">
                    <a:lnL w="0">
                      <a:noFill/>
                    </a:lnL>
                    <a:lnR w="0">
                      <a:noFill/>
                    </a:lnR>
                    <a:lnT w="0">
                      <a:noFill/>
                    </a:lnT>
                    <a:lnB w="9525">
                      <a:solidFill>
                        <a:srgbClr val="DDDBD2"/>
                      </a:solidFill>
                    </a:lnB>
                    <a:solidFill>
                      <a:srgbClr val="F6FCE0"/>
                    </a:solidFill>
                  </a:tcPr>
                </a:tc>
                <a:tc>
                  <a:txBody>
                    <a:bodyPr wrap="square"/>
                    <a:lstStyle/>
                    <a:p>
                      <a:pPr algn="l">
                        <a:lnSpc>
                          <a:spcPts val="1187"/>
                        </a:lnSpc>
                        <a:spcBef>
                          <a:spcPts val="0"/>
                        </a:spcBef>
                        <a:spcAft>
                          <a:spcPts val="0"/>
                        </a:spcAft>
                      </a:pPr>
                      <a:r>
                        <a:rPr sz="950" b="0" i="0">
                          <a:solidFill>
                            <a:srgbClr val="141413"/>
                          </a:solidFill>
                          <a:latin typeface="Apple SD Gothic Neo"/>
                          <a:ea typeface="Apple SD Gothic Neo"/>
                        </a:rPr>
                        <a:t>분자량 150,000 Da 급의 거대 단백질 (주로 주사제)</a:t>
                      </a:r>
                    </a:p>
                  </a:txBody>
                  <a:tcPr marL="64008" marR="64008" marT="45720" marB="45720" anchor="ctr">
                    <a:lnL w="0">
                      <a:noFill/>
                    </a:lnL>
                    <a:lnR w="0">
                      <a:noFill/>
                    </a:lnR>
                    <a:lnT w="0">
                      <a:noFill/>
                    </a:lnT>
                    <a:lnB w="9525">
                      <a:solidFill>
                        <a:srgbClr val="DDDBD2"/>
                      </a:solidFill>
                    </a:lnB>
                    <a:solidFill>
                      <a:srgbClr val="FFFFFF"/>
                    </a:solidFill>
                  </a:tcPr>
                </a:tc>
              </a:tr>
              <a:tr h="242252">
                <a:tc>
                  <a:txBody>
                    <a:bodyPr wrap="square"/>
                    <a:lstStyle/>
                    <a:p>
                      <a:pPr algn="l">
                        <a:lnSpc>
                          <a:spcPts val="1187"/>
                        </a:lnSpc>
                        <a:spcBef>
                          <a:spcPts val="0"/>
                        </a:spcBef>
                        <a:spcAft>
                          <a:spcPts val="0"/>
                        </a:spcAft>
                      </a:pPr>
                      <a:r>
                        <a:rPr sz="950" b="1" i="0">
                          <a:solidFill>
                            <a:srgbClr val="141413"/>
                          </a:solidFill>
                          <a:latin typeface="Apple SD Gothic Neo"/>
                          <a:ea typeface="Apple SD Gothic Neo"/>
                        </a:rPr>
                        <a:t>표적·구조 확보</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187"/>
                        </a:lnSpc>
                        <a:spcBef>
                          <a:spcPts val="0"/>
                        </a:spcBef>
                        <a:spcAft>
                          <a:spcPts val="0"/>
                        </a:spcAft>
                      </a:pPr>
                      <a:r>
                        <a:rPr sz="950" b="0" i="0">
                          <a:solidFill>
                            <a:srgbClr val="141413"/>
                          </a:solidFill>
                          <a:latin typeface="Apple SD Gothic Neo"/>
                          <a:ea typeface="Apple SD Gothic Neo"/>
                        </a:rPr>
                        <a:t>PDB 실험 실측 3D 결정구조 (열린 포켓 + 보조인자·이온 보존)</a:t>
                      </a:r>
                    </a:p>
                  </a:txBody>
                  <a:tcPr marL="64008" marR="64008" marT="45720" marB="45720" anchor="ctr">
                    <a:lnL w="0">
                      <a:noFill/>
                    </a:lnL>
                    <a:lnR w="0">
                      <a:noFill/>
                    </a:lnR>
                    <a:lnT w="0">
                      <a:noFill/>
                    </a:lnT>
                    <a:lnB w="9525">
                      <a:solidFill>
                        <a:srgbClr val="DDDBD2"/>
                      </a:solidFill>
                    </a:lnB>
                    <a:solidFill>
                      <a:srgbClr val="F6FCE0"/>
                    </a:solidFill>
                  </a:tcPr>
                </a:tc>
                <a:tc>
                  <a:txBody>
                    <a:bodyPr wrap="square"/>
                    <a:lstStyle/>
                    <a:p>
                      <a:pPr algn="l">
                        <a:lnSpc>
                          <a:spcPts val="1187"/>
                        </a:lnSpc>
                        <a:spcBef>
                          <a:spcPts val="0"/>
                        </a:spcBef>
                        <a:spcAft>
                          <a:spcPts val="0"/>
                        </a:spcAft>
                      </a:pPr>
                      <a:r>
                        <a:rPr sz="950" b="0" i="0">
                          <a:solidFill>
                            <a:srgbClr val="141413"/>
                          </a:solidFill>
                          <a:latin typeface="Apple SD Gothic Neo"/>
                          <a:ea typeface="Apple SD Gothic Neo"/>
                        </a:rPr>
                        <a:t>표적 구조(PDB) + 설계 항체 3D 구조 예측 (ColabFold / AlphaFold)</a:t>
                      </a:r>
                    </a:p>
                  </a:txBody>
                  <a:tcPr marL="64008" marR="64008" marT="45720" marB="45720" anchor="ctr">
                    <a:lnL w="0">
                      <a:noFill/>
                    </a:lnL>
                    <a:lnR w="0">
                      <a:noFill/>
                    </a:lnR>
                    <a:lnT w="0">
                      <a:noFill/>
                    </a:lnT>
                    <a:lnB w="9525">
                      <a:solidFill>
                        <a:srgbClr val="DDDBD2"/>
                      </a:solidFill>
                    </a:lnB>
                    <a:solidFill>
                      <a:srgbClr val="FFFFFF"/>
                    </a:solidFill>
                  </a:tcPr>
                </a:tc>
              </a:tr>
              <a:tr h="242252">
                <a:tc>
                  <a:txBody>
                    <a:bodyPr wrap="square"/>
                    <a:lstStyle/>
                    <a:p>
                      <a:pPr algn="l">
                        <a:lnSpc>
                          <a:spcPts val="1187"/>
                        </a:lnSpc>
                        <a:spcBef>
                          <a:spcPts val="0"/>
                        </a:spcBef>
                        <a:spcAft>
                          <a:spcPts val="0"/>
                        </a:spcAft>
                      </a:pPr>
                      <a:r>
                        <a:rPr sz="950" b="1" i="0">
                          <a:solidFill>
                            <a:srgbClr val="141413"/>
                          </a:solidFill>
                          <a:latin typeface="Apple SD Gothic Neo"/>
                          <a:ea typeface="Apple SD Gothic Neo"/>
                        </a:rPr>
                        <a:t>후보 설계·탐색</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187"/>
                        </a:lnSpc>
                        <a:spcBef>
                          <a:spcPts val="0"/>
                        </a:spcBef>
                        <a:spcAft>
                          <a:spcPts val="0"/>
                        </a:spcAft>
                      </a:pPr>
                      <a:r>
                        <a:rPr sz="950" b="0" i="0">
                          <a:solidFill>
                            <a:srgbClr val="141413"/>
                          </a:solidFill>
                          <a:latin typeface="Apple SD Gothic Neo"/>
                          <a:ea typeface="Apple SD Gothic Neo"/>
                        </a:rPr>
                        <a:t>ChEMBL·ZINC 스크리닝 + RDKit 작용기 변형 (SMILES)</a:t>
                      </a:r>
                    </a:p>
                  </a:txBody>
                  <a:tcPr marL="64008" marR="64008" marT="45720" marB="45720" anchor="ctr">
                    <a:lnL w="0">
                      <a:noFill/>
                    </a:lnL>
                    <a:lnR w="0">
                      <a:noFill/>
                    </a:lnR>
                    <a:lnT w="0">
                      <a:noFill/>
                    </a:lnT>
                    <a:lnB w="9525">
                      <a:solidFill>
                        <a:srgbClr val="DDDBD2"/>
                      </a:solidFill>
                    </a:lnB>
                    <a:solidFill>
                      <a:srgbClr val="F6FCE0"/>
                    </a:solidFill>
                  </a:tcPr>
                </a:tc>
                <a:tc>
                  <a:txBody>
                    <a:bodyPr wrap="square"/>
                    <a:lstStyle/>
                    <a:p>
                      <a:pPr algn="l">
                        <a:lnSpc>
                          <a:spcPts val="1187"/>
                        </a:lnSpc>
                        <a:spcBef>
                          <a:spcPts val="0"/>
                        </a:spcBef>
                        <a:spcAft>
                          <a:spcPts val="0"/>
                        </a:spcAft>
                      </a:pPr>
                      <a:r>
                        <a:rPr sz="950" b="0" i="0">
                          <a:solidFill>
                            <a:srgbClr val="141413"/>
                          </a:solidFill>
                          <a:latin typeface="Apple SD Gothic Neo"/>
                          <a:ea typeface="Apple SD Gothic Neo"/>
                        </a:rPr>
                        <a:t>ProteinMPNN으로 항체 결합부(CDR) 아미노산 서열 생성</a:t>
                      </a:r>
                    </a:p>
                  </a:txBody>
                  <a:tcPr marL="64008" marR="64008" marT="45720" marB="45720" anchor="ctr">
                    <a:lnL w="0">
                      <a:noFill/>
                    </a:lnL>
                    <a:lnR w="0">
                      <a:noFill/>
                    </a:lnR>
                    <a:lnT w="0">
                      <a:noFill/>
                    </a:lnT>
                    <a:lnB w="9525">
                      <a:solidFill>
                        <a:srgbClr val="DDDBD2"/>
                      </a:solidFill>
                    </a:lnB>
                    <a:solidFill>
                      <a:srgbClr val="FFFFFF"/>
                    </a:solidFill>
                  </a:tcPr>
                </a:tc>
              </a:tr>
              <a:tr h="242252">
                <a:tc>
                  <a:txBody>
                    <a:bodyPr wrap="square"/>
                    <a:lstStyle/>
                    <a:p>
                      <a:pPr algn="l">
                        <a:lnSpc>
                          <a:spcPts val="1187"/>
                        </a:lnSpc>
                        <a:spcBef>
                          <a:spcPts val="0"/>
                        </a:spcBef>
                        <a:spcAft>
                          <a:spcPts val="0"/>
                        </a:spcAft>
                      </a:pPr>
                      <a:r>
                        <a:rPr sz="950" b="1" i="0">
                          <a:solidFill>
                            <a:srgbClr val="141413"/>
                          </a:solidFill>
                          <a:latin typeface="Apple SD Gothic Neo"/>
                          <a:ea typeface="Apple SD Gothic Neo"/>
                        </a:rPr>
                        <a:t>결합력·성능 계산</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187"/>
                        </a:lnSpc>
                        <a:spcBef>
                          <a:spcPts val="0"/>
                        </a:spcBef>
                        <a:spcAft>
                          <a:spcPts val="0"/>
                        </a:spcAft>
                      </a:pPr>
                      <a:r>
                        <a:rPr sz="950" b="0" i="0">
                          <a:solidFill>
                            <a:srgbClr val="141413"/>
                          </a:solidFill>
                          <a:latin typeface="Apple SD Gothic Neo"/>
                          <a:ea typeface="Apple SD Gothic Neo"/>
                        </a:rPr>
                        <a:t>AutoDock Vina (ΔG) + PLIP + ADMET-AI v2</a:t>
                      </a:r>
                    </a:p>
                  </a:txBody>
                  <a:tcPr marL="64008" marR="64008" marT="45720" marB="45720" anchor="ctr">
                    <a:lnL w="0">
                      <a:noFill/>
                    </a:lnL>
                    <a:lnR w="0">
                      <a:noFill/>
                    </a:lnR>
                    <a:lnT w="0">
                      <a:noFill/>
                    </a:lnT>
                    <a:lnB w="9525">
                      <a:solidFill>
                        <a:srgbClr val="DDDBD2"/>
                      </a:solidFill>
                    </a:lnB>
                    <a:solidFill>
                      <a:srgbClr val="F6FCE0"/>
                    </a:solidFill>
                  </a:tcPr>
                </a:tc>
                <a:tc>
                  <a:txBody>
                    <a:bodyPr wrap="square"/>
                    <a:lstStyle/>
                    <a:p>
                      <a:pPr algn="l">
                        <a:lnSpc>
                          <a:spcPts val="1187"/>
                        </a:lnSpc>
                        <a:spcBef>
                          <a:spcPts val="0"/>
                        </a:spcBef>
                        <a:spcAft>
                          <a:spcPts val="0"/>
                        </a:spcAft>
                      </a:pPr>
                      <a:r>
                        <a:rPr sz="950" b="0" i="0">
                          <a:solidFill>
                            <a:srgbClr val="141413"/>
                          </a:solidFill>
                          <a:latin typeface="Apple SD Gothic Neo"/>
                          <a:ea typeface="Apple SD Gothic Neo"/>
                        </a:rPr>
                        <a:t>AlphaFold-Multimer (ipTM · pLDDT · PAE 결합 신뢰도)</a:t>
                      </a:r>
                    </a:p>
                  </a:txBody>
                  <a:tcPr marL="64008" marR="64008" marT="45720" marB="45720" anchor="ctr">
                    <a:lnL w="0">
                      <a:noFill/>
                    </a:lnL>
                    <a:lnR w="0">
                      <a:noFill/>
                    </a:lnR>
                    <a:lnT w="0">
                      <a:noFill/>
                    </a:lnT>
                    <a:lnB w="9525">
                      <a:solidFill>
                        <a:srgbClr val="DDDBD2"/>
                      </a:solidFill>
                    </a:lnB>
                    <a:solidFill>
                      <a:srgbClr val="FFFFFF"/>
                    </a:solidFill>
                  </a:tcPr>
                </a:tc>
              </a:tr>
              <a:tr h="242252">
                <a:tc>
                  <a:txBody>
                    <a:bodyPr wrap="square"/>
                    <a:lstStyle/>
                    <a:p>
                      <a:pPr algn="l">
                        <a:lnSpc>
                          <a:spcPts val="1187"/>
                        </a:lnSpc>
                        <a:spcBef>
                          <a:spcPts val="0"/>
                        </a:spcBef>
                        <a:spcAft>
                          <a:spcPts val="0"/>
                        </a:spcAft>
                      </a:pPr>
                      <a:r>
                        <a:rPr sz="950" b="1" i="0">
                          <a:solidFill>
                            <a:srgbClr val="141413"/>
                          </a:solidFill>
                          <a:latin typeface="Apple SD Gothic Neo"/>
                          <a:ea typeface="Apple SD Gothic Neo"/>
                        </a:rPr>
                        <a:t>적합한 수업 환경</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187"/>
                        </a:lnSpc>
                        <a:spcBef>
                          <a:spcPts val="0"/>
                        </a:spcBef>
                        <a:spcAft>
                          <a:spcPts val="0"/>
                        </a:spcAft>
                      </a:pPr>
                      <a:r>
                        <a:rPr sz="950" b="0" i="0">
                          <a:solidFill>
                            <a:srgbClr val="141413"/>
                          </a:solidFill>
                          <a:latin typeface="Apple SD Gothic Neo"/>
                          <a:ea typeface="Apple SD Gothic Neo"/>
                        </a:rPr>
                        <a:t>정규 수업(50~100분) 전 학급 실시간 모둠 협업·경쟁</a:t>
                      </a:r>
                    </a:p>
                  </a:txBody>
                  <a:tcPr marL="64008" marR="64008" marT="45720" marB="45720" anchor="ctr">
                    <a:lnL w="0">
                      <a:noFill/>
                    </a:lnL>
                    <a:lnR w="0">
                      <a:noFill/>
                    </a:lnR>
                    <a:lnT w="0">
                      <a:noFill/>
                    </a:lnT>
                    <a:lnB w="9525">
                      <a:solidFill>
                        <a:srgbClr val="DDDBD2"/>
                      </a:solidFill>
                    </a:lnB>
                    <a:solidFill>
                      <a:srgbClr val="F6FCE0"/>
                    </a:solidFill>
                  </a:tcPr>
                </a:tc>
                <a:tc>
                  <a:txBody>
                    <a:bodyPr wrap="square"/>
                    <a:lstStyle/>
                    <a:p>
                      <a:pPr algn="l">
                        <a:lnSpc>
                          <a:spcPts val="1187"/>
                        </a:lnSpc>
                        <a:spcBef>
                          <a:spcPts val="0"/>
                        </a:spcBef>
                        <a:spcAft>
                          <a:spcPts val="0"/>
                        </a:spcAft>
                      </a:pPr>
                      <a:r>
                        <a:rPr sz="950" b="0" i="0">
                          <a:solidFill>
                            <a:srgbClr val="141413"/>
                          </a:solidFill>
                          <a:latin typeface="Apple SD Gothic Neo"/>
                          <a:ea typeface="Apple SD Gothic Neo"/>
                        </a:rPr>
                        <a:t>과학고·영재고·동아리 장시간 심화 탐구 프로젝트</a:t>
                      </a:r>
                    </a:p>
                  </a:txBody>
                  <a:tcPr marL="64008" marR="64008" marT="45720" marB="45720" anchor="ctr">
                    <a:lnL w="0">
                      <a:noFill/>
                    </a:lnL>
                    <a:lnR w="0">
                      <a:noFill/>
                    </a:lnR>
                    <a:lnT w="0">
                      <a:noFill/>
                    </a:lnT>
                    <a:lnB w="9525">
                      <a:solidFill>
                        <a:srgbClr val="DDDBD2"/>
                      </a:solidFill>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08 / 26</a:t>
            </a:r>
          </a:p>
        </p:txBody>
      </p:sp>
      <p:sp>
        <p:nvSpPr>
          <p:cNvPr id="7" name="Rounded Rectangle 6"/>
          <p:cNvSpPr/>
          <p:nvPr/>
        </p:nvSpPr>
        <p:spPr>
          <a:xfrm>
            <a:off x="457200" y="566928"/>
            <a:ext cx="2460367"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186047"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2 · 수업 시작과 화면 구성</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설치 없이 학급 코드 6자리로 시작하는 세 단계 화면 흐름</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이메일 인증이나 복잡한 프로그램 설치 없이 브라우저에서 1분 안에 모둠 스타트업을 세웁니다.</a:t>
            </a:r>
          </a:p>
        </p:txBody>
      </p:sp>
      <p:sp>
        <p:nvSpPr>
          <p:cNvPr id="12" name="Rounded Rectangle 11"/>
          <p:cNvSpPr/>
          <p:nvPr/>
        </p:nvSpPr>
        <p:spPr>
          <a:xfrm>
            <a:off x="457200" y="1825498"/>
            <a:ext cx="3503066" cy="3666744"/>
          </a:xfrm>
          <a:prstGeom prst="roundRect">
            <a:avLst>
              <a:gd name="adj" fmla="val 5742"/>
            </a:avLst>
          </a:prstGeom>
          <a:solidFill>
            <a:srgbClr val="FFFFFF"/>
          </a:solidFill>
          <a:ln>
            <a:noFill/>
          </a:ln>
        </p:spPr>
        <p:txBody>
          <a:bodyPr rtlCol="0" anchor="ctr"/>
          <a:lstStyle/>
          <a:p>
            <a:pPr algn="ctr"/>
          </a:p>
        </p:txBody>
      </p:sp>
      <p:sp>
        <p:nvSpPr>
          <p:cNvPr id="13" name="Rounded Rectangle 12"/>
          <p:cNvSpPr/>
          <p:nvPr/>
        </p:nvSpPr>
        <p:spPr>
          <a:xfrm>
            <a:off x="658368" y="2026666"/>
            <a:ext cx="3100730" cy="1371600"/>
          </a:xfrm>
          <a:prstGeom prst="roundRect">
            <a:avLst>
              <a:gd name="adj" fmla="val 9333"/>
            </a:avLst>
          </a:prstGeom>
          <a:solidFill>
            <a:srgbClr val="F0EFE9"/>
          </a:solidFill>
          <a:ln>
            <a:noFill/>
          </a:ln>
        </p:spPr>
        <p:txBody>
          <a:bodyPr rtlCol="0" anchor="ctr"/>
          <a:lstStyle/>
          <a:p>
            <a:pPr algn="ctr"/>
          </a:p>
        </p:txBody>
      </p:sp>
      <p:sp>
        <p:nvSpPr>
          <p:cNvPr id="14" name="Rounded Rectangle 13"/>
          <p:cNvSpPr/>
          <p:nvPr/>
        </p:nvSpPr>
        <p:spPr>
          <a:xfrm>
            <a:off x="1340529" y="2209546"/>
            <a:ext cx="1736409" cy="155448"/>
          </a:xfrm>
          <a:prstGeom prst="roundRect">
            <a:avLst>
              <a:gd name="adj" fmla="val 35294"/>
            </a:avLst>
          </a:prstGeom>
          <a:solidFill>
            <a:srgbClr val="FFFFFF"/>
          </a:solidFill>
          <a:ln w="9525">
            <a:solidFill>
              <a:srgbClr val="DDDBD2"/>
            </a:solidFill>
          </a:ln>
        </p:spPr>
        <p:txBody>
          <a:bodyPr rtlCol="0" anchor="ctr"/>
          <a:lstStyle/>
          <a:p>
            <a:pPr algn="ctr"/>
          </a:p>
        </p:txBody>
      </p:sp>
      <p:sp>
        <p:nvSpPr>
          <p:cNvPr id="15" name="Rounded Rectangle 14"/>
          <p:cNvSpPr/>
          <p:nvPr/>
        </p:nvSpPr>
        <p:spPr>
          <a:xfrm>
            <a:off x="1340529" y="2429002"/>
            <a:ext cx="1736409" cy="155448"/>
          </a:xfrm>
          <a:prstGeom prst="roundRect">
            <a:avLst>
              <a:gd name="adj" fmla="val 35294"/>
            </a:avLst>
          </a:prstGeom>
          <a:solidFill>
            <a:srgbClr val="FFFFFF"/>
          </a:solidFill>
          <a:ln w="9525">
            <a:solidFill>
              <a:srgbClr val="DDDBD2"/>
            </a:solidFill>
          </a:ln>
        </p:spPr>
        <p:txBody>
          <a:bodyPr rtlCol="0" anchor="ctr"/>
          <a:lstStyle/>
          <a:p>
            <a:pPr algn="ctr"/>
          </a:p>
        </p:txBody>
      </p:sp>
      <p:sp>
        <p:nvSpPr>
          <p:cNvPr id="16" name="Rounded Rectangle 15"/>
          <p:cNvSpPr/>
          <p:nvPr/>
        </p:nvSpPr>
        <p:spPr>
          <a:xfrm>
            <a:off x="1340529" y="2648458"/>
            <a:ext cx="1736409" cy="155448"/>
          </a:xfrm>
          <a:prstGeom prst="roundRect">
            <a:avLst>
              <a:gd name="adj" fmla="val 35294"/>
            </a:avLst>
          </a:prstGeom>
          <a:solidFill>
            <a:srgbClr val="FFFFFF"/>
          </a:solidFill>
          <a:ln w="9525">
            <a:solidFill>
              <a:srgbClr val="DDDBD2"/>
            </a:solidFill>
          </a:ln>
        </p:spPr>
        <p:txBody>
          <a:bodyPr rtlCol="0" anchor="ctr"/>
          <a:lstStyle/>
          <a:p>
            <a:pPr algn="ctr"/>
          </a:p>
        </p:txBody>
      </p:sp>
      <p:sp>
        <p:nvSpPr>
          <p:cNvPr id="17" name="Rounded Rectangle 16"/>
          <p:cNvSpPr/>
          <p:nvPr/>
        </p:nvSpPr>
        <p:spPr>
          <a:xfrm>
            <a:off x="1340529" y="2867914"/>
            <a:ext cx="1736409" cy="155448"/>
          </a:xfrm>
          <a:prstGeom prst="roundRect">
            <a:avLst>
              <a:gd name="adj" fmla="val 35294"/>
            </a:avLst>
          </a:prstGeom>
          <a:solidFill>
            <a:srgbClr val="FFFFFF"/>
          </a:solidFill>
          <a:ln w="9525">
            <a:solidFill>
              <a:srgbClr val="DDDBD2"/>
            </a:solidFill>
          </a:ln>
        </p:spPr>
        <p:txBody>
          <a:bodyPr rtlCol="0" anchor="ctr"/>
          <a:lstStyle/>
          <a:p>
            <a:pPr algn="ctr"/>
          </a:p>
        </p:txBody>
      </p:sp>
      <p:sp>
        <p:nvSpPr>
          <p:cNvPr id="18" name="Rounded Rectangle 17"/>
          <p:cNvSpPr/>
          <p:nvPr/>
        </p:nvSpPr>
        <p:spPr>
          <a:xfrm>
            <a:off x="1340529" y="3123946"/>
            <a:ext cx="1736409" cy="182880"/>
          </a:xfrm>
          <a:prstGeom prst="roundRect">
            <a:avLst>
              <a:gd name="adj" fmla="val 50000"/>
            </a:avLst>
          </a:prstGeom>
          <a:solidFill>
            <a:srgbClr val="141413"/>
          </a:solidFill>
          <a:ln>
            <a:noFill/>
          </a:ln>
        </p:spPr>
        <p:txBody>
          <a:bodyPr rtlCol="0" anchor="ctr"/>
          <a:lstStyle/>
          <a:p>
            <a:pPr algn="ctr"/>
          </a:p>
        </p:txBody>
      </p:sp>
      <p:sp>
        <p:nvSpPr>
          <p:cNvPr id="19" name="TextBox 18"/>
          <p:cNvSpPr txBox="1"/>
          <p:nvPr/>
        </p:nvSpPr>
        <p:spPr>
          <a:xfrm>
            <a:off x="676656" y="3581146"/>
            <a:ext cx="3064154" cy="1773936"/>
          </a:xfrm>
          <a:prstGeom prst="rect">
            <a:avLst/>
          </a:prstGeom>
          <a:noFill/>
        </p:spPr>
        <p:txBody>
          <a:bodyPr wrap="square" lIns="0" rIns="0" tIns="0" bIns="0" anchor="t">
            <a:noAutofit/>
          </a:bodyPr>
          <a:lstStyle/>
          <a:p>
            <a:pPr algn="l">
              <a:lnSpc>
                <a:spcPts val="1755"/>
              </a:lnSpc>
              <a:spcBef>
                <a:spcPts val="0"/>
              </a:spcBef>
              <a:spcAft>
                <a:spcPts val="0"/>
              </a:spcAft>
            </a:pPr>
            <a:r>
              <a:rPr sz="1350" b="1" i="0">
                <a:solidFill>
                  <a:srgbClr val="141413"/>
                </a:solidFill>
                <a:latin typeface="Apple SD Gothic Neo"/>
                <a:ea typeface="Apple SD Gothic Neo"/>
              </a:rPr>
              <a:t>화면 ① 로그인 · 회원가입 (/crista/login)</a:t>
            </a:r>
          </a:p>
          <a:p>
            <a:pPr algn="l">
              <a:lnSpc>
                <a:spcPts val="1667"/>
              </a:lnSpc>
              <a:spcBef>
                <a:spcPts val="600"/>
              </a:spcBef>
              <a:spcAft>
                <a:spcPts val="0"/>
              </a:spcAft>
            </a:pPr>
            <a:r>
              <a:rPr sz="1150" b="0" i="0">
                <a:solidFill>
                  <a:srgbClr val="5C5B56"/>
                </a:solidFill>
                <a:latin typeface="Apple SD Gothic Neo"/>
                <a:ea typeface="Apple SD Gothic Neo"/>
              </a:rPr>
              <a:t>교사가 알려 준 6자리 학급 코드, 아이디, 화면 표시용 이름(별명 가능), 비밀번호만 입력하면 서버가 즉시 학생 계정을 만듭니다.</a:t>
            </a:r>
          </a:p>
        </p:txBody>
      </p:sp>
      <p:sp>
        <p:nvSpPr>
          <p:cNvPr id="20" name="Chevron 19"/>
          <p:cNvSpPr/>
          <p:nvPr/>
        </p:nvSpPr>
        <p:spPr>
          <a:xfrm>
            <a:off x="4051706" y="3457702"/>
            <a:ext cx="201168" cy="402336"/>
          </a:xfrm>
          <a:prstGeom prst="chevron">
            <a:avLst/>
          </a:prstGeom>
          <a:solidFill>
            <a:srgbClr val="141413"/>
          </a:solidFill>
          <a:ln>
            <a:noFill/>
          </a:ln>
        </p:spPr>
        <p:txBody>
          <a:bodyPr rtlCol="0" anchor="ctr"/>
          <a:lstStyle/>
          <a:p>
            <a:pPr algn="ctr"/>
          </a:p>
        </p:txBody>
      </p:sp>
      <p:sp>
        <p:nvSpPr>
          <p:cNvPr id="21" name="Rounded Rectangle 20"/>
          <p:cNvSpPr/>
          <p:nvPr/>
        </p:nvSpPr>
        <p:spPr>
          <a:xfrm>
            <a:off x="4344314" y="1825498"/>
            <a:ext cx="3503066" cy="3666744"/>
          </a:xfrm>
          <a:prstGeom prst="roundRect">
            <a:avLst>
              <a:gd name="adj" fmla="val 5742"/>
            </a:avLst>
          </a:prstGeom>
          <a:solidFill>
            <a:srgbClr val="FFFFFF"/>
          </a:solidFill>
          <a:ln>
            <a:noFill/>
          </a:ln>
        </p:spPr>
        <p:txBody>
          <a:bodyPr rtlCol="0" anchor="ctr"/>
          <a:lstStyle/>
          <a:p>
            <a:pPr algn="ctr"/>
          </a:p>
        </p:txBody>
      </p:sp>
      <p:sp>
        <p:nvSpPr>
          <p:cNvPr id="22" name="Rounded Rectangle 21"/>
          <p:cNvSpPr/>
          <p:nvPr/>
        </p:nvSpPr>
        <p:spPr>
          <a:xfrm>
            <a:off x="4545482" y="2026666"/>
            <a:ext cx="3100730" cy="1371600"/>
          </a:xfrm>
          <a:prstGeom prst="roundRect">
            <a:avLst>
              <a:gd name="adj" fmla="val 9333"/>
            </a:avLst>
          </a:prstGeom>
          <a:solidFill>
            <a:srgbClr val="F0EFE9"/>
          </a:solidFill>
          <a:ln>
            <a:noFill/>
          </a:ln>
        </p:spPr>
        <p:txBody>
          <a:bodyPr rtlCol="0" anchor="ctr"/>
          <a:lstStyle/>
          <a:p>
            <a:pPr algn="ctr"/>
          </a:p>
        </p:txBody>
      </p:sp>
      <p:sp>
        <p:nvSpPr>
          <p:cNvPr id="23" name="Rectangle 22"/>
          <p:cNvSpPr/>
          <p:nvPr/>
        </p:nvSpPr>
        <p:spPr>
          <a:xfrm>
            <a:off x="4545482" y="3123946"/>
            <a:ext cx="3100730" cy="274320"/>
          </a:xfrm>
          <a:prstGeom prst="rect">
            <a:avLst/>
          </a:prstGeom>
          <a:solidFill>
            <a:srgbClr val="D9D7CC"/>
          </a:solidFill>
          <a:ln>
            <a:noFill/>
          </a:ln>
        </p:spPr>
        <p:txBody>
          <a:bodyPr rtlCol="0" anchor="ctr"/>
          <a:lstStyle/>
          <a:p>
            <a:pPr algn="ctr"/>
          </a:p>
        </p:txBody>
      </p:sp>
      <p:sp>
        <p:nvSpPr>
          <p:cNvPr id="24" name="Rectangle 23"/>
          <p:cNvSpPr/>
          <p:nvPr/>
        </p:nvSpPr>
        <p:spPr>
          <a:xfrm>
            <a:off x="4774082" y="2621026"/>
            <a:ext cx="566928" cy="502920"/>
          </a:xfrm>
          <a:prstGeom prst="rect">
            <a:avLst/>
          </a:prstGeom>
          <a:solidFill>
            <a:srgbClr val="D4F94E"/>
          </a:solidFill>
          <a:ln>
            <a:noFill/>
          </a:ln>
        </p:spPr>
        <p:txBody>
          <a:bodyPr rtlCol="0" anchor="ctr"/>
          <a:lstStyle/>
          <a:p>
            <a:pPr algn="ctr"/>
          </a:p>
        </p:txBody>
      </p:sp>
      <p:sp>
        <p:nvSpPr>
          <p:cNvPr id="25" name="Isosceles Triangle 24"/>
          <p:cNvSpPr/>
          <p:nvPr/>
        </p:nvSpPr>
        <p:spPr>
          <a:xfrm>
            <a:off x="4728362" y="2438146"/>
            <a:ext cx="658368" cy="182880"/>
          </a:xfrm>
          <a:prstGeom prst="triangle">
            <a:avLst/>
          </a:prstGeom>
          <a:solidFill>
            <a:srgbClr val="141413"/>
          </a:solidFill>
          <a:ln>
            <a:noFill/>
          </a:ln>
        </p:spPr>
        <p:txBody>
          <a:bodyPr rtlCol="0" anchor="ctr"/>
          <a:lstStyle/>
          <a:p>
            <a:pPr algn="ctr"/>
          </a:p>
        </p:txBody>
      </p:sp>
      <p:sp>
        <p:nvSpPr>
          <p:cNvPr id="26" name="Rectangle 25"/>
          <p:cNvSpPr/>
          <p:nvPr/>
        </p:nvSpPr>
        <p:spPr>
          <a:xfrm>
            <a:off x="5434965" y="2511298"/>
            <a:ext cx="566928" cy="612648"/>
          </a:xfrm>
          <a:prstGeom prst="rect">
            <a:avLst/>
          </a:prstGeom>
          <a:solidFill>
            <a:srgbClr val="FFB21A"/>
          </a:solidFill>
          <a:ln>
            <a:noFill/>
          </a:ln>
        </p:spPr>
        <p:txBody>
          <a:bodyPr rtlCol="0" anchor="ctr"/>
          <a:lstStyle/>
          <a:p>
            <a:pPr algn="ctr"/>
          </a:p>
        </p:txBody>
      </p:sp>
      <p:sp>
        <p:nvSpPr>
          <p:cNvPr id="27" name="Isosceles Triangle 26"/>
          <p:cNvSpPr/>
          <p:nvPr/>
        </p:nvSpPr>
        <p:spPr>
          <a:xfrm>
            <a:off x="5389245" y="2328418"/>
            <a:ext cx="658368" cy="182880"/>
          </a:xfrm>
          <a:prstGeom prst="triangle">
            <a:avLst/>
          </a:prstGeom>
          <a:solidFill>
            <a:srgbClr val="141413"/>
          </a:solidFill>
          <a:ln>
            <a:noFill/>
          </a:ln>
        </p:spPr>
        <p:txBody>
          <a:bodyPr rtlCol="0" anchor="ctr"/>
          <a:lstStyle/>
          <a:p>
            <a:pPr algn="ctr"/>
          </a:p>
        </p:txBody>
      </p:sp>
      <p:sp>
        <p:nvSpPr>
          <p:cNvPr id="28" name="Rectangle 27"/>
          <p:cNvSpPr/>
          <p:nvPr/>
        </p:nvSpPr>
        <p:spPr>
          <a:xfrm>
            <a:off x="6095848" y="2401570"/>
            <a:ext cx="566928" cy="722376"/>
          </a:xfrm>
          <a:prstGeom prst="rect">
            <a:avLst/>
          </a:prstGeom>
          <a:solidFill>
            <a:srgbClr val="7FB8FF"/>
          </a:solidFill>
          <a:ln>
            <a:noFill/>
          </a:ln>
        </p:spPr>
        <p:txBody>
          <a:bodyPr rtlCol="0" anchor="ctr"/>
          <a:lstStyle/>
          <a:p>
            <a:pPr algn="ctr"/>
          </a:p>
        </p:txBody>
      </p:sp>
      <p:sp>
        <p:nvSpPr>
          <p:cNvPr id="29" name="Isosceles Triangle 28"/>
          <p:cNvSpPr/>
          <p:nvPr/>
        </p:nvSpPr>
        <p:spPr>
          <a:xfrm>
            <a:off x="6050128" y="2218690"/>
            <a:ext cx="658368" cy="182880"/>
          </a:xfrm>
          <a:prstGeom prst="triangle">
            <a:avLst/>
          </a:prstGeom>
          <a:solidFill>
            <a:srgbClr val="141413"/>
          </a:solidFill>
          <a:ln>
            <a:noFill/>
          </a:ln>
        </p:spPr>
        <p:txBody>
          <a:bodyPr rtlCol="0" anchor="ctr"/>
          <a:lstStyle/>
          <a:p>
            <a:pPr algn="ctr"/>
          </a:p>
        </p:txBody>
      </p:sp>
      <p:sp>
        <p:nvSpPr>
          <p:cNvPr id="30" name="Rectangle 29"/>
          <p:cNvSpPr/>
          <p:nvPr/>
        </p:nvSpPr>
        <p:spPr>
          <a:xfrm>
            <a:off x="6756730" y="2621026"/>
            <a:ext cx="566928" cy="502920"/>
          </a:xfrm>
          <a:prstGeom prst="rect">
            <a:avLst/>
          </a:prstGeom>
          <a:solidFill>
            <a:srgbClr val="FF8A7A"/>
          </a:solidFill>
          <a:ln>
            <a:noFill/>
          </a:ln>
        </p:spPr>
        <p:txBody>
          <a:bodyPr rtlCol="0" anchor="ctr"/>
          <a:lstStyle/>
          <a:p>
            <a:pPr algn="ctr"/>
          </a:p>
        </p:txBody>
      </p:sp>
      <p:sp>
        <p:nvSpPr>
          <p:cNvPr id="31" name="Isosceles Triangle 30"/>
          <p:cNvSpPr/>
          <p:nvPr/>
        </p:nvSpPr>
        <p:spPr>
          <a:xfrm>
            <a:off x="6711010" y="2438146"/>
            <a:ext cx="658368" cy="182880"/>
          </a:xfrm>
          <a:prstGeom prst="triangle">
            <a:avLst/>
          </a:prstGeom>
          <a:solidFill>
            <a:srgbClr val="141413"/>
          </a:solidFill>
          <a:ln>
            <a:noFill/>
          </a:ln>
        </p:spPr>
        <p:txBody>
          <a:bodyPr rtlCol="0" anchor="ctr"/>
          <a:lstStyle/>
          <a:p>
            <a:pPr algn="ctr"/>
          </a:p>
        </p:txBody>
      </p:sp>
      <p:sp>
        <p:nvSpPr>
          <p:cNvPr id="32" name="Oval 31"/>
          <p:cNvSpPr/>
          <p:nvPr/>
        </p:nvSpPr>
        <p:spPr>
          <a:xfrm>
            <a:off x="6040984" y="3142234"/>
            <a:ext cx="109728" cy="109728"/>
          </a:xfrm>
          <a:prstGeom prst="ellipse">
            <a:avLst/>
          </a:prstGeom>
          <a:solidFill>
            <a:srgbClr val="FF6B4A"/>
          </a:solidFill>
          <a:ln>
            <a:noFill/>
          </a:ln>
        </p:spPr>
        <p:txBody>
          <a:bodyPr rtlCol="0" anchor="ctr"/>
          <a:lstStyle/>
          <a:p>
            <a:pPr algn="ctr"/>
          </a:p>
        </p:txBody>
      </p:sp>
      <p:sp>
        <p:nvSpPr>
          <p:cNvPr id="33" name="TextBox 32"/>
          <p:cNvSpPr txBox="1"/>
          <p:nvPr/>
        </p:nvSpPr>
        <p:spPr>
          <a:xfrm>
            <a:off x="4563770" y="3581146"/>
            <a:ext cx="3064154" cy="1773936"/>
          </a:xfrm>
          <a:prstGeom prst="rect">
            <a:avLst/>
          </a:prstGeom>
          <a:noFill/>
        </p:spPr>
        <p:txBody>
          <a:bodyPr wrap="square" lIns="0" rIns="0" tIns="0" bIns="0" anchor="t">
            <a:noAutofit/>
          </a:bodyPr>
          <a:lstStyle/>
          <a:p>
            <a:pPr algn="l">
              <a:lnSpc>
                <a:spcPts val="1755"/>
              </a:lnSpc>
              <a:spcBef>
                <a:spcPts val="0"/>
              </a:spcBef>
              <a:spcAft>
                <a:spcPts val="0"/>
              </a:spcAft>
            </a:pPr>
            <a:r>
              <a:rPr sz="1350" b="1" i="0">
                <a:solidFill>
                  <a:srgbClr val="141413"/>
                </a:solidFill>
                <a:latin typeface="Apple SD Gothic Neo"/>
                <a:ea typeface="Apple SD Gothic Neo"/>
              </a:rPr>
              <a:t>화면 ② 2D 사옥 지구 (스타트업 등기)</a:t>
            </a:r>
          </a:p>
          <a:p>
            <a:pPr algn="l">
              <a:lnSpc>
                <a:spcPts val="1667"/>
              </a:lnSpc>
              <a:spcBef>
                <a:spcPts val="600"/>
              </a:spcBef>
              <a:spcAft>
                <a:spcPts val="0"/>
              </a:spcAft>
            </a:pPr>
            <a:r>
              <a:rPr sz="1150" b="0" i="0">
                <a:solidFill>
                  <a:srgbClr val="5C5B56"/>
                </a:solidFill>
                <a:latin typeface="Apple SD Gothic Neo"/>
                <a:ea typeface="Apple SD Gothic Neo"/>
              </a:rPr>
              <a:t>CEO·CSO·CTO·CMO 중 내 직책 아바타를 골라 모둠 사옥 앞으로 걸어갑니다. 사옥 문 앞에서 스타트업 이름(2~14자)과 영문 티커(3~4자, 예: SEUM)를 등기합니다.</a:t>
            </a:r>
          </a:p>
        </p:txBody>
      </p:sp>
      <p:sp>
        <p:nvSpPr>
          <p:cNvPr id="34" name="Chevron 33"/>
          <p:cNvSpPr/>
          <p:nvPr/>
        </p:nvSpPr>
        <p:spPr>
          <a:xfrm>
            <a:off x="7938821" y="3457702"/>
            <a:ext cx="201168" cy="402336"/>
          </a:xfrm>
          <a:prstGeom prst="chevron">
            <a:avLst/>
          </a:prstGeom>
          <a:solidFill>
            <a:srgbClr val="141413"/>
          </a:solidFill>
          <a:ln>
            <a:noFill/>
          </a:ln>
        </p:spPr>
        <p:txBody>
          <a:bodyPr rtlCol="0" anchor="ctr"/>
          <a:lstStyle/>
          <a:p>
            <a:pPr algn="ctr"/>
          </a:p>
        </p:txBody>
      </p:sp>
      <p:sp>
        <p:nvSpPr>
          <p:cNvPr id="35" name="Rounded Rectangle 34"/>
          <p:cNvSpPr/>
          <p:nvPr/>
        </p:nvSpPr>
        <p:spPr>
          <a:xfrm>
            <a:off x="8231429" y="1825498"/>
            <a:ext cx="3503066" cy="3666744"/>
          </a:xfrm>
          <a:prstGeom prst="roundRect">
            <a:avLst>
              <a:gd name="adj" fmla="val 5742"/>
            </a:avLst>
          </a:prstGeom>
          <a:solidFill>
            <a:srgbClr val="FFFFFF"/>
          </a:solidFill>
          <a:ln>
            <a:noFill/>
          </a:ln>
        </p:spPr>
        <p:txBody>
          <a:bodyPr rtlCol="0" anchor="ctr"/>
          <a:lstStyle/>
          <a:p>
            <a:pPr algn="ctr"/>
          </a:p>
        </p:txBody>
      </p:sp>
      <p:sp>
        <p:nvSpPr>
          <p:cNvPr id="36" name="Rounded Rectangle 35"/>
          <p:cNvSpPr/>
          <p:nvPr/>
        </p:nvSpPr>
        <p:spPr>
          <a:xfrm>
            <a:off x="8432597" y="2026666"/>
            <a:ext cx="3100730" cy="1371600"/>
          </a:xfrm>
          <a:prstGeom prst="roundRect">
            <a:avLst>
              <a:gd name="adj" fmla="val 9333"/>
            </a:avLst>
          </a:prstGeom>
          <a:solidFill>
            <a:srgbClr val="F0EFE9"/>
          </a:solidFill>
          <a:ln>
            <a:noFill/>
          </a:ln>
        </p:spPr>
        <p:txBody>
          <a:bodyPr rtlCol="0" anchor="ctr"/>
          <a:lstStyle/>
          <a:p>
            <a:pPr algn="ctr"/>
          </a:p>
        </p:txBody>
      </p:sp>
      <p:sp>
        <p:nvSpPr>
          <p:cNvPr id="37" name="Rounded Rectangle 36"/>
          <p:cNvSpPr/>
          <p:nvPr/>
        </p:nvSpPr>
        <p:spPr>
          <a:xfrm>
            <a:off x="8542325" y="2136394"/>
            <a:ext cx="2881274" cy="109728"/>
          </a:xfrm>
          <a:prstGeom prst="roundRect">
            <a:avLst>
              <a:gd name="adj" fmla="val 25000"/>
            </a:avLst>
          </a:prstGeom>
          <a:solidFill>
            <a:srgbClr val="FAF9F5"/>
          </a:solidFill>
          <a:ln>
            <a:noFill/>
          </a:ln>
        </p:spPr>
        <p:txBody>
          <a:bodyPr rtlCol="0" anchor="ctr"/>
          <a:lstStyle/>
          <a:p>
            <a:pPr algn="ctr"/>
          </a:p>
        </p:txBody>
      </p:sp>
      <p:sp>
        <p:nvSpPr>
          <p:cNvPr id="38" name="Rectangle 37"/>
          <p:cNvSpPr/>
          <p:nvPr/>
        </p:nvSpPr>
        <p:spPr>
          <a:xfrm>
            <a:off x="8542325" y="2273554"/>
            <a:ext cx="2881274" cy="146304"/>
          </a:xfrm>
          <a:prstGeom prst="rect">
            <a:avLst/>
          </a:prstGeom>
          <a:solidFill>
            <a:srgbClr val="141413"/>
          </a:solidFill>
          <a:ln>
            <a:noFill/>
          </a:ln>
        </p:spPr>
        <p:txBody>
          <a:bodyPr rtlCol="0" anchor="ctr"/>
          <a:lstStyle/>
          <a:p>
            <a:pPr algn="ctr"/>
          </a:p>
        </p:txBody>
      </p:sp>
      <p:sp>
        <p:nvSpPr>
          <p:cNvPr id="39" name="Oval 38"/>
          <p:cNvSpPr/>
          <p:nvPr/>
        </p:nvSpPr>
        <p:spPr>
          <a:xfrm>
            <a:off x="8615477" y="2323846"/>
            <a:ext cx="41148" cy="41148"/>
          </a:xfrm>
          <a:prstGeom prst="ellipse">
            <a:avLst/>
          </a:prstGeom>
          <a:solidFill>
            <a:srgbClr val="141413"/>
          </a:solidFill>
          <a:ln>
            <a:noFill/>
          </a:ln>
        </p:spPr>
        <p:txBody>
          <a:bodyPr rtlCol="0" anchor="ctr"/>
          <a:lstStyle/>
          <a:p>
            <a:pPr algn="ctr"/>
          </a:p>
        </p:txBody>
      </p:sp>
      <p:sp>
        <p:nvSpPr>
          <p:cNvPr id="40" name="Oval 39"/>
          <p:cNvSpPr/>
          <p:nvPr/>
        </p:nvSpPr>
        <p:spPr>
          <a:xfrm>
            <a:off x="8697773" y="2323846"/>
            <a:ext cx="41148" cy="41148"/>
          </a:xfrm>
          <a:prstGeom prst="ellipse">
            <a:avLst/>
          </a:prstGeom>
          <a:solidFill>
            <a:srgbClr val="FFB21A"/>
          </a:solidFill>
          <a:ln>
            <a:noFill/>
          </a:ln>
        </p:spPr>
        <p:txBody>
          <a:bodyPr rtlCol="0" anchor="ctr"/>
          <a:lstStyle/>
          <a:p>
            <a:pPr algn="ctr"/>
          </a:p>
        </p:txBody>
      </p:sp>
      <p:sp>
        <p:nvSpPr>
          <p:cNvPr id="41" name="Oval 40"/>
          <p:cNvSpPr/>
          <p:nvPr/>
        </p:nvSpPr>
        <p:spPr>
          <a:xfrm>
            <a:off x="8780069" y="2323846"/>
            <a:ext cx="41148" cy="41148"/>
          </a:xfrm>
          <a:prstGeom prst="ellipse">
            <a:avLst/>
          </a:prstGeom>
          <a:solidFill>
            <a:srgbClr val="FFB21A"/>
          </a:solidFill>
          <a:ln>
            <a:noFill/>
          </a:ln>
        </p:spPr>
        <p:txBody>
          <a:bodyPr rtlCol="0" anchor="ctr"/>
          <a:lstStyle/>
          <a:p>
            <a:pPr algn="ctr"/>
          </a:p>
        </p:txBody>
      </p:sp>
      <p:sp>
        <p:nvSpPr>
          <p:cNvPr id="42" name="Oval 41"/>
          <p:cNvSpPr/>
          <p:nvPr/>
        </p:nvSpPr>
        <p:spPr>
          <a:xfrm>
            <a:off x="8862365" y="2323846"/>
            <a:ext cx="41148" cy="41148"/>
          </a:xfrm>
          <a:prstGeom prst="ellipse">
            <a:avLst/>
          </a:prstGeom>
          <a:solidFill>
            <a:srgbClr val="FFB21A"/>
          </a:solidFill>
          <a:ln>
            <a:noFill/>
          </a:ln>
        </p:spPr>
        <p:txBody>
          <a:bodyPr rtlCol="0" anchor="ctr"/>
          <a:lstStyle/>
          <a:p>
            <a:pPr algn="ctr"/>
          </a:p>
        </p:txBody>
      </p:sp>
      <p:sp>
        <p:nvSpPr>
          <p:cNvPr id="43" name="Oval 42"/>
          <p:cNvSpPr/>
          <p:nvPr/>
        </p:nvSpPr>
        <p:spPr>
          <a:xfrm>
            <a:off x="8944661" y="2323846"/>
            <a:ext cx="41148" cy="41148"/>
          </a:xfrm>
          <a:prstGeom prst="ellipse">
            <a:avLst/>
          </a:prstGeom>
          <a:solidFill>
            <a:srgbClr val="FFB21A"/>
          </a:solidFill>
          <a:ln>
            <a:noFill/>
          </a:ln>
        </p:spPr>
        <p:txBody>
          <a:bodyPr rtlCol="0" anchor="ctr"/>
          <a:lstStyle/>
          <a:p>
            <a:pPr algn="ctr"/>
          </a:p>
        </p:txBody>
      </p:sp>
      <p:sp>
        <p:nvSpPr>
          <p:cNvPr id="44" name="Oval 43"/>
          <p:cNvSpPr/>
          <p:nvPr/>
        </p:nvSpPr>
        <p:spPr>
          <a:xfrm>
            <a:off x="9026957" y="2323846"/>
            <a:ext cx="41148" cy="41148"/>
          </a:xfrm>
          <a:prstGeom prst="ellipse">
            <a:avLst/>
          </a:prstGeom>
          <a:solidFill>
            <a:srgbClr val="141413"/>
          </a:solidFill>
          <a:ln>
            <a:noFill/>
          </a:ln>
        </p:spPr>
        <p:txBody>
          <a:bodyPr rtlCol="0" anchor="ctr"/>
          <a:lstStyle/>
          <a:p>
            <a:pPr algn="ctr"/>
          </a:p>
        </p:txBody>
      </p:sp>
      <p:sp>
        <p:nvSpPr>
          <p:cNvPr id="45" name="Oval 44"/>
          <p:cNvSpPr/>
          <p:nvPr/>
        </p:nvSpPr>
        <p:spPr>
          <a:xfrm>
            <a:off x="9109253" y="2323846"/>
            <a:ext cx="41148" cy="41148"/>
          </a:xfrm>
          <a:prstGeom prst="ellipse">
            <a:avLst/>
          </a:prstGeom>
          <a:solidFill>
            <a:srgbClr val="FFB21A"/>
          </a:solidFill>
          <a:ln>
            <a:noFill/>
          </a:ln>
        </p:spPr>
        <p:txBody>
          <a:bodyPr rtlCol="0" anchor="ctr"/>
          <a:lstStyle/>
          <a:p>
            <a:pPr algn="ctr"/>
          </a:p>
        </p:txBody>
      </p:sp>
      <p:sp>
        <p:nvSpPr>
          <p:cNvPr id="46" name="Oval 45"/>
          <p:cNvSpPr/>
          <p:nvPr/>
        </p:nvSpPr>
        <p:spPr>
          <a:xfrm>
            <a:off x="9191549" y="2323846"/>
            <a:ext cx="41148" cy="41148"/>
          </a:xfrm>
          <a:prstGeom prst="ellipse">
            <a:avLst/>
          </a:prstGeom>
          <a:solidFill>
            <a:srgbClr val="FFB21A"/>
          </a:solidFill>
          <a:ln>
            <a:noFill/>
          </a:ln>
        </p:spPr>
        <p:txBody>
          <a:bodyPr rtlCol="0" anchor="ctr"/>
          <a:lstStyle/>
          <a:p>
            <a:pPr algn="ctr"/>
          </a:p>
        </p:txBody>
      </p:sp>
      <p:sp>
        <p:nvSpPr>
          <p:cNvPr id="47" name="Oval 46"/>
          <p:cNvSpPr/>
          <p:nvPr/>
        </p:nvSpPr>
        <p:spPr>
          <a:xfrm>
            <a:off x="9273845" y="2323846"/>
            <a:ext cx="41148" cy="41148"/>
          </a:xfrm>
          <a:prstGeom prst="ellipse">
            <a:avLst/>
          </a:prstGeom>
          <a:solidFill>
            <a:srgbClr val="FFB21A"/>
          </a:solidFill>
          <a:ln>
            <a:noFill/>
          </a:ln>
        </p:spPr>
        <p:txBody>
          <a:bodyPr rtlCol="0" anchor="ctr"/>
          <a:lstStyle/>
          <a:p>
            <a:pPr algn="ctr"/>
          </a:p>
        </p:txBody>
      </p:sp>
      <p:sp>
        <p:nvSpPr>
          <p:cNvPr id="48" name="Oval 47"/>
          <p:cNvSpPr/>
          <p:nvPr/>
        </p:nvSpPr>
        <p:spPr>
          <a:xfrm>
            <a:off x="9356141" y="2323846"/>
            <a:ext cx="41148" cy="41148"/>
          </a:xfrm>
          <a:prstGeom prst="ellipse">
            <a:avLst/>
          </a:prstGeom>
          <a:solidFill>
            <a:srgbClr val="FFB21A"/>
          </a:solidFill>
          <a:ln>
            <a:noFill/>
          </a:ln>
        </p:spPr>
        <p:txBody>
          <a:bodyPr rtlCol="0" anchor="ctr"/>
          <a:lstStyle/>
          <a:p>
            <a:pPr algn="ctr"/>
          </a:p>
        </p:txBody>
      </p:sp>
      <p:sp>
        <p:nvSpPr>
          <p:cNvPr id="49" name="Oval 48"/>
          <p:cNvSpPr/>
          <p:nvPr/>
        </p:nvSpPr>
        <p:spPr>
          <a:xfrm>
            <a:off x="9438437" y="2323846"/>
            <a:ext cx="41148" cy="41148"/>
          </a:xfrm>
          <a:prstGeom prst="ellipse">
            <a:avLst/>
          </a:prstGeom>
          <a:solidFill>
            <a:srgbClr val="141413"/>
          </a:solidFill>
          <a:ln>
            <a:noFill/>
          </a:ln>
        </p:spPr>
        <p:txBody>
          <a:bodyPr rtlCol="0" anchor="ctr"/>
          <a:lstStyle/>
          <a:p>
            <a:pPr algn="ctr"/>
          </a:p>
        </p:txBody>
      </p:sp>
      <p:sp>
        <p:nvSpPr>
          <p:cNvPr id="50" name="Oval 49"/>
          <p:cNvSpPr/>
          <p:nvPr/>
        </p:nvSpPr>
        <p:spPr>
          <a:xfrm>
            <a:off x="9520733" y="2323846"/>
            <a:ext cx="41148" cy="41148"/>
          </a:xfrm>
          <a:prstGeom prst="ellipse">
            <a:avLst/>
          </a:prstGeom>
          <a:solidFill>
            <a:srgbClr val="FFB21A"/>
          </a:solidFill>
          <a:ln>
            <a:noFill/>
          </a:ln>
        </p:spPr>
        <p:txBody>
          <a:bodyPr rtlCol="0" anchor="ctr"/>
          <a:lstStyle/>
          <a:p>
            <a:pPr algn="ctr"/>
          </a:p>
        </p:txBody>
      </p:sp>
      <p:sp>
        <p:nvSpPr>
          <p:cNvPr id="51" name="Oval 50"/>
          <p:cNvSpPr/>
          <p:nvPr/>
        </p:nvSpPr>
        <p:spPr>
          <a:xfrm>
            <a:off x="9603029" y="2323846"/>
            <a:ext cx="41148" cy="41148"/>
          </a:xfrm>
          <a:prstGeom prst="ellipse">
            <a:avLst/>
          </a:prstGeom>
          <a:solidFill>
            <a:srgbClr val="FFB21A"/>
          </a:solidFill>
          <a:ln>
            <a:noFill/>
          </a:ln>
        </p:spPr>
        <p:txBody>
          <a:bodyPr rtlCol="0" anchor="ctr"/>
          <a:lstStyle/>
          <a:p>
            <a:pPr algn="ctr"/>
          </a:p>
        </p:txBody>
      </p:sp>
      <p:sp>
        <p:nvSpPr>
          <p:cNvPr id="52" name="Oval 51"/>
          <p:cNvSpPr/>
          <p:nvPr/>
        </p:nvSpPr>
        <p:spPr>
          <a:xfrm>
            <a:off x="9685325" y="2323846"/>
            <a:ext cx="41148" cy="41148"/>
          </a:xfrm>
          <a:prstGeom prst="ellipse">
            <a:avLst/>
          </a:prstGeom>
          <a:solidFill>
            <a:srgbClr val="FFB21A"/>
          </a:solidFill>
          <a:ln>
            <a:noFill/>
          </a:ln>
        </p:spPr>
        <p:txBody>
          <a:bodyPr rtlCol="0" anchor="ctr"/>
          <a:lstStyle/>
          <a:p>
            <a:pPr algn="ctr"/>
          </a:p>
        </p:txBody>
      </p:sp>
      <p:sp>
        <p:nvSpPr>
          <p:cNvPr id="53" name="Oval 52"/>
          <p:cNvSpPr/>
          <p:nvPr/>
        </p:nvSpPr>
        <p:spPr>
          <a:xfrm>
            <a:off x="9767621" y="2323846"/>
            <a:ext cx="41148" cy="41148"/>
          </a:xfrm>
          <a:prstGeom prst="ellipse">
            <a:avLst/>
          </a:prstGeom>
          <a:solidFill>
            <a:srgbClr val="FFB21A"/>
          </a:solidFill>
          <a:ln>
            <a:noFill/>
          </a:ln>
        </p:spPr>
        <p:txBody>
          <a:bodyPr rtlCol="0" anchor="ctr"/>
          <a:lstStyle/>
          <a:p>
            <a:pPr algn="ctr"/>
          </a:p>
        </p:txBody>
      </p:sp>
      <p:sp>
        <p:nvSpPr>
          <p:cNvPr id="54" name="Oval 53"/>
          <p:cNvSpPr/>
          <p:nvPr/>
        </p:nvSpPr>
        <p:spPr>
          <a:xfrm>
            <a:off x="9849917" y="2323846"/>
            <a:ext cx="41148" cy="41148"/>
          </a:xfrm>
          <a:prstGeom prst="ellipse">
            <a:avLst/>
          </a:prstGeom>
          <a:solidFill>
            <a:srgbClr val="141413"/>
          </a:solidFill>
          <a:ln>
            <a:noFill/>
          </a:ln>
        </p:spPr>
        <p:txBody>
          <a:bodyPr rtlCol="0" anchor="ctr"/>
          <a:lstStyle/>
          <a:p>
            <a:pPr algn="ctr"/>
          </a:p>
        </p:txBody>
      </p:sp>
      <p:sp>
        <p:nvSpPr>
          <p:cNvPr id="55" name="Oval 54"/>
          <p:cNvSpPr/>
          <p:nvPr/>
        </p:nvSpPr>
        <p:spPr>
          <a:xfrm>
            <a:off x="9932213" y="2323846"/>
            <a:ext cx="41148" cy="41148"/>
          </a:xfrm>
          <a:prstGeom prst="ellipse">
            <a:avLst/>
          </a:prstGeom>
          <a:solidFill>
            <a:srgbClr val="FFB21A"/>
          </a:solidFill>
          <a:ln>
            <a:noFill/>
          </a:ln>
        </p:spPr>
        <p:txBody>
          <a:bodyPr rtlCol="0" anchor="ctr"/>
          <a:lstStyle/>
          <a:p>
            <a:pPr algn="ctr"/>
          </a:p>
        </p:txBody>
      </p:sp>
      <p:sp>
        <p:nvSpPr>
          <p:cNvPr id="56" name="Oval 55"/>
          <p:cNvSpPr/>
          <p:nvPr/>
        </p:nvSpPr>
        <p:spPr>
          <a:xfrm>
            <a:off x="10014509" y="2323846"/>
            <a:ext cx="41148" cy="41148"/>
          </a:xfrm>
          <a:prstGeom prst="ellipse">
            <a:avLst/>
          </a:prstGeom>
          <a:solidFill>
            <a:srgbClr val="FFB21A"/>
          </a:solidFill>
          <a:ln>
            <a:noFill/>
          </a:ln>
        </p:spPr>
        <p:txBody>
          <a:bodyPr rtlCol="0" anchor="ctr"/>
          <a:lstStyle/>
          <a:p>
            <a:pPr algn="ctr"/>
          </a:p>
        </p:txBody>
      </p:sp>
      <p:sp>
        <p:nvSpPr>
          <p:cNvPr id="57" name="Oval 56"/>
          <p:cNvSpPr/>
          <p:nvPr/>
        </p:nvSpPr>
        <p:spPr>
          <a:xfrm>
            <a:off x="10096805" y="2323846"/>
            <a:ext cx="41148" cy="41148"/>
          </a:xfrm>
          <a:prstGeom prst="ellipse">
            <a:avLst/>
          </a:prstGeom>
          <a:solidFill>
            <a:srgbClr val="FFB21A"/>
          </a:solidFill>
          <a:ln>
            <a:noFill/>
          </a:ln>
        </p:spPr>
        <p:txBody>
          <a:bodyPr rtlCol="0" anchor="ctr"/>
          <a:lstStyle/>
          <a:p>
            <a:pPr algn="ctr"/>
          </a:p>
        </p:txBody>
      </p:sp>
      <p:sp>
        <p:nvSpPr>
          <p:cNvPr id="58" name="Oval 57"/>
          <p:cNvSpPr/>
          <p:nvPr/>
        </p:nvSpPr>
        <p:spPr>
          <a:xfrm>
            <a:off x="10179101" y="2323846"/>
            <a:ext cx="41148" cy="41148"/>
          </a:xfrm>
          <a:prstGeom prst="ellipse">
            <a:avLst/>
          </a:prstGeom>
          <a:solidFill>
            <a:srgbClr val="FFB21A"/>
          </a:solidFill>
          <a:ln>
            <a:noFill/>
          </a:ln>
        </p:spPr>
        <p:txBody>
          <a:bodyPr rtlCol="0" anchor="ctr"/>
          <a:lstStyle/>
          <a:p>
            <a:pPr algn="ctr"/>
          </a:p>
        </p:txBody>
      </p:sp>
      <p:sp>
        <p:nvSpPr>
          <p:cNvPr id="59" name="Oval 58"/>
          <p:cNvSpPr/>
          <p:nvPr/>
        </p:nvSpPr>
        <p:spPr>
          <a:xfrm>
            <a:off x="10261397" y="2323846"/>
            <a:ext cx="41148" cy="41148"/>
          </a:xfrm>
          <a:prstGeom prst="ellipse">
            <a:avLst/>
          </a:prstGeom>
          <a:solidFill>
            <a:srgbClr val="141413"/>
          </a:solidFill>
          <a:ln>
            <a:noFill/>
          </a:ln>
        </p:spPr>
        <p:txBody>
          <a:bodyPr rtlCol="0" anchor="ctr"/>
          <a:lstStyle/>
          <a:p>
            <a:pPr algn="ctr"/>
          </a:p>
        </p:txBody>
      </p:sp>
      <p:sp>
        <p:nvSpPr>
          <p:cNvPr id="60" name="Oval 59"/>
          <p:cNvSpPr/>
          <p:nvPr/>
        </p:nvSpPr>
        <p:spPr>
          <a:xfrm>
            <a:off x="10343693" y="2323846"/>
            <a:ext cx="41148" cy="41148"/>
          </a:xfrm>
          <a:prstGeom prst="ellipse">
            <a:avLst/>
          </a:prstGeom>
          <a:solidFill>
            <a:srgbClr val="FFB21A"/>
          </a:solidFill>
          <a:ln>
            <a:noFill/>
          </a:ln>
        </p:spPr>
        <p:txBody>
          <a:bodyPr rtlCol="0" anchor="ctr"/>
          <a:lstStyle/>
          <a:p>
            <a:pPr algn="ctr"/>
          </a:p>
        </p:txBody>
      </p:sp>
      <p:sp>
        <p:nvSpPr>
          <p:cNvPr id="61" name="Oval 60"/>
          <p:cNvSpPr/>
          <p:nvPr/>
        </p:nvSpPr>
        <p:spPr>
          <a:xfrm>
            <a:off x="10425989" y="2323846"/>
            <a:ext cx="41148" cy="41148"/>
          </a:xfrm>
          <a:prstGeom prst="ellipse">
            <a:avLst/>
          </a:prstGeom>
          <a:solidFill>
            <a:srgbClr val="FFB21A"/>
          </a:solidFill>
          <a:ln>
            <a:noFill/>
          </a:ln>
        </p:spPr>
        <p:txBody>
          <a:bodyPr rtlCol="0" anchor="ctr"/>
          <a:lstStyle/>
          <a:p>
            <a:pPr algn="ctr"/>
          </a:p>
        </p:txBody>
      </p:sp>
      <p:sp>
        <p:nvSpPr>
          <p:cNvPr id="62" name="Oval 61"/>
          <p:cNvSpPr/>
          <p:nvPr/>
        </p:nvSpPr>
        <p:spPr>
          <a:xfrm>
            <a:off x="10508285" y="2323846"/>
            <a:ext cx="41148" cy="41148"/>
          </a:xfrm>
          <a:prstGeom prst="ellipse">
            <a:avLst/>
          </a:prstGeom>
          <a:solidFill>
            <a:srgbClr val="FFB21A"/>
          </a:solidFill>
          <a:ln>
            <a:noFill/>
          </a:ln>
        </p:spPr>
        <p:txBody>
          <a:bodyPr rtlCol="0" anchor="ctr"/>
          <a:lstStyle/>
          <a:p>
            <a:pPr algn="ctr"/>
          </a:p>
        </p:txBody>
      </p:sp>
      <p:sp>
        <p:nvSpPr>
          <p:cNvPr id="63" name="Oval 62"/>
          <p:cNvSpPr/>
          <p:nvPr/>
        </p:nvSpPr>
        <p:spPr>
          <a:xfrm>
            <a:off x="10590581" y="2323846"/>
            <a:ext cx="41148" cy="41148"/>
          </a:xfrm>
          <a:prstGeom prst="ellipse">
            <a:avLst/>
          </a:prstGeom>
          <a:solidFill>
            <a:srgbClr val="FFB21A"/>
          </a:solidFill>
          <a:ln>
            <a:noFill/>
          </a:ln>
        </p:spPr>
        <p:txBody>
          <a:bodyPr rtlCol="0" anchor="ctr"/>
          <a:lstStyle/>
          <a:p>
            <a:pPr algn="ctr"/>
          </a:p>
        </p:txBody>
      </p:sp>
      <p:sp>
        <p:nvSpPr>
          <p:cNvPr id="64" name="Oval 63"/>
          <p:cNvSpPr/>
          <p:nvPr/>
        </p:nvSpPr>
        <p:spPr>
          <a:xfrm>
            <a:off x="10672877" y="2323846"/>
            <a:ext cx="41148" cy="41148"/>
          </a:xfrm>
          <a:prstGeom prst="ellipse">
            <a:avLst/>
          </a:prstGeom>
          <a:solidFill>
            <a:srgbClr val="141413"/>
          </a:solidFill>
          <a:ln>
            <a:noFill/>
          </a:ln>
        </p:spPr>
        <p:txBody>
          <a:bodyPr rtlCol="0" anchor="ctr"/>
          <a:lstStyle/>
          <a:p>
            <a:pPr algn="ctr"/>
          </a:p>
        </p:txBody>
      </p:sp>
      <p:sp>
        <p:nvSpPr>
          <p:cNvPr id="65" name="Oval 64"/>
          <p:cNvSpPr/>
          <p:nvPr/>
        </p:nvSpPr>
        <p:spPr>
          <a:xfrm>
            <a:off x="10755173" y="2323846"/>
            <a:ext cx="41148" cy="41148"/>
          </a:xfrm>
          <a:prstGeom prst="ellipse">
            <a:avLst/>
          </a:prstGeom>
          <a:solidFill>
            <a:srgbClr val="FFB21A"/>
          </a:solidFill>
          <a:ln>
            <a:noFill/>
          </a:ln>
        </p:spPr>
        <p:txBody>
          <a:bodyPr rtlCol="0" anchor="ctr"/>
          <a:lstStyle/>
          <a:p>
            <a:pPr algn="ctr"/>
          </a:p>
        </p:txBody>
      </p:sp>
      <p:sp>
        <p:nvSpPr>
          <p:cNvPr id="66" name="Oval 65"/>
          <p:cNvSpPr/>
          <p:nvPr/>
        </p:nvSpPr>
        <p:spPr>
          <a:xfrm>
            <a:off x="10837469" y="2323846"/>
            <a:ext cx="41148" cy="41148"/>
          </a:xfrm>
          <a:prstGeom prst="ellipse">
            <a:avLst/>
          </a:prstGeom>
          <a:solidFill>
            <a:srgbClr val="FFB21A"/>
          </a:solidFill>
          <a:ln>
            <a:noFill/>
          </a:ln>
        </p:spPr>
        <p:txBody>
          <a:bodyPr rtlCol="0" anchor="ctr"/>
          <a:lstStyle/>
          <a:p>
            <a:pPr algn="ctr"/>
          </a:p>
        </p:txBody>
      </p:sp>
      <p:sp>
        <p:nvSpPr>
          <p:cNvPr id="67" name="Oval 66"/>
          <p:cNvSpPr/>
          <p:nvPr/>
        </p:nvSpPr>
        <p:spPr>
          <a:xfrm>
            <a:off x="10919765" y="2323846"/>
            <a:ext cx="41148" cy="41148"/>
          </a:xfrm>
          <a:prstGeom prst="ellipse">
            <a:avLst/>
          </a:prstGeom>
          <a:solidFill>
            <a:srgbClr val="FFB21A"/>
          </a:solidFill>
          <a:ln>
            <a:noFill/>
          </a:ln>
        </p:spPr>
        <p:txBody>
          <a:bodyPr rtlCol="0" anchor="ctr"/>
          <a:lstStyle/>
          <a:p>
            <a:pPr algn="ctr"/>
          </a:p>
        </p:txBody>
      </p:sp>
      <p:sp>
        <p:nvSpPr>
          <p:cNvPr id="68" name="Oval 67"/>
          <p:cNvSpPr/>
          <p:nvPr/>
        </p:nvSpPr>
        <p:spPr>
          <a:xfrm>
            <a:off x="11002061" y="2323846"/>
            <a:ext cx="41148" cy="41148"/>
          </a:xfrm>
          <a:prstGeom prst="ellipse">
            <a:avLst/>
          </a:prstGeom>
          <a:solidFill>
            <a:srgbClr val="FFB21A"/>
          </a:solidFill>
          <a:ln>
            <a:noFill/>
          </a:ln>
        </p:spPr>
        <p:txBody>
          <a:bodyPr rtlCol="0" anchor="ctr"/>
          <a:lstStyle/>
          <a:p>
            <a:pPr algn="ctr"/>
          </a:p>
        </p:txBody>
      </p:sp>
      <p:sp>
        <p:nvSpPr>
          <p:cNvPr id="69" name="Oval 68"/>
          <p:cNvSpPr/>
          <p:nvPr/>
        </p:nvSpPr>
        <p:spPr>
          <a:xfrm>
            <a:off x="11084357" y="2323846"/>
            <a:ext cx="41148" cy="41148"/>
          </a:xfrm>
          <a:prstGeom prst="ellipse">
            <a:avLst/>
          </a:prstGeom>
          <a:solidFill>
            <a:srgbClr val="141413"/>
          </a:solidFill>
          <a:ln>
            <a:noFill/>
          </a:ln>
        </p:spPr>
        <p:txBody>
          <a:bodyPr rtlCol="0" anchor="ctr"/>
          <a:lstStyle/>
          <a:p>
            <a:pPr algn="ctr"/>
          </a:p>
        </p:txBody>
      </p:sp>
      <p:sp>
        <p:nvSpPr>
          <p:cNvPr id="70" name="Oval 69"/>
          <p:cNvSpPr/>
          <p:nvPr/>
        </p:nvSpPr>
        <p:spPr>
          <a:xfrm>
            <a:off x="11166653" y="2323846"/>
            <a:ext cx="41148" cy="41148"/>
          </a:xfrm>
          <a:prstGeom prst="ellipse">
            <a:avLst/>
          </a:prstGeom>
          <a:solidFill>
            <a:srgbClr val="FFB21A"/>
          </a:solidFill>
          <a:ln>
            <a:noFill/>
          </a:ln>
        </p:spPr>
        <p:txBody>
          <a:bodyPr rtlCol="0" anchor="ctr"/>
          <a:lstStyle/>
          <a:p>
            <a:pPr algn="ctr"/>
          </a:p>
        </p:txBody>
      </p:sp>
      <p:sp>
        <p:nvSpPr>
          <p:cNvPr id="71" name="Oval 70"/>
          <p:cNvSpPr/>
          <p:nvPr/>
        </p:nvSpPr>
        <p:spPr>
          <a:xfrm>
            <a:off x="11248949" y="2323846"/>
            <a:ext cx="41148" cy="41148"/>
          </a:xfrm>
          <a:prstGeom prst="ellipse">
            <a:avLst/>
          </a:prstGeom>
          <a:solidFill>
            <a:srgbClr val="FFB21A"/>
          </a:solidFill>
          <a:ln>
            <a:noFill/>
          </a:ln>
        </p:spPr>
        <p:txBody>
          <a:bodyPr rtlCol="0" anchor="ctr"/>
          <a:lstStyle/>
          <a:p>
            <a:pPr algn="ctr"/>
          </a:p>
        </p:txBody>
      </p:sp>
      <p:sp>
        <p:nvSpPr>
          <p:cNvPr id="72" name="Rounded Rectangle 71"/>
          <p:cNvSpPr/>
          <p:nvPr/>
        </p:nvSpPr>
        <p:spPr>
          <a:xfrm>
            <a:off x="8542325" y="2483866"/>
            <a:ext cx="548640" cy="804672"/>
          </a:xfrm>
          <a:prstGeom prst="roundRect">
            <a:avLst>
              <a:gd name="adj" fmla="val 13333"/>
            </a:avLst>
          </a:prstGeom>
          <a:solidFill>
            <a:srgbClr val="FFFFFF"/>
          </a:solidFill>
          <a:ln>
            <a:noFill/>
          </a:ln>
        </p:spPr>
        <p:txBody>
          <a:bodyPr rtlCol="0" anchor="ctr"/>
          <a:lstStyle/>
          <a:p>
            <a:pPr algn="ctr"/>
          </a:p>
        </p:txBody>
      </p:sp>
      <p:sp>
        <p:nvSpPr>
          <p:cNvPr id="73" name="Rounded Rectangle 72"/>
          <p:cNvSpPr/>
          <p:nvPr/>
        </p:nvSpPr>
        <p:spPr>
          <a:xfrm>
            <a:off x="9145829" y="2483866"/>
            <a:ext cx="2277770" cy="237744"/>
          </a:xfrm>
          <a:prstGeom prst="roundRect">
            <a:avLst>
              <a:gd name="adj" fmla="val 30769"/>
            </a:avLst>
          </a:prstGeom>
          <a:solidFill>
            <a:srgbClr val="FFFFFF"/>
          </a:solidFill>
          <a:ln>
            <a:noFill/>
          </a:ln>
        </p:spPr>
        <p:txBody>
          <a:bodyPr rtlCol="0" anchor="ctr"/>
          <a:lstStyle/>
          <a:p>
            <a:pPr algn="ctr"/>
          </a:p>
        </p:txBody>
      </p:sp>
      <p:sp>
        <p:nvSpPr>
          <p:cNvPr id="74" name="Rounded Rectangle 73"/>
          <p:cNvSpPr/>
          <p:nvPr/>
        </p:nvSpPr>
        <p:spPr>
          <a:xfrm>
            <a:off x="9145829" y="2776474"/>
            <a:ext cx="1111453" cy="512064"/>
          </a:xfrm>
          <a:prstGeom prst="roundRect">
            <a:avLst>
              <a:gd name="adj" fmla="val 14285"/>
            </a:avLst>
          </a:prstGeom>
          <a:solidFill>
            <a:srgbClr val="FFFFFF"/>
          </a:solidFill>
          <a:ln>
            <a:noFill/>
          </a:ln>
        </p:spPr>
        <p:txBody>
          <a:bodyPr rtlCol="0" anchor="ctr"/>
          <a:lstStyle/>
          <a:p>
            <a:pPr algn="ctr"/>
          </a:p>
        </p:txBody>
      </p:sp>
      <p:sp>
        <p:nvSpPr>
          <p:cNvPr id="75" name="Rounded Rectangle 74"/>
          <p:cNvSpPr/>
          <p:nvPr/>
        </p:nvSpPr>
        <p:spPr>
          <a:xfrm>
            <a:off x="10312146" y="2776474"/>
            <a:ext cx="1111453" cy="512064"/>
          </a:xfrm>
          <a:prstGeom prst="roundRect">
            <a:avLst>
              <a:gd name="adj" fmla="val 14285"/>
            </a:avLst>
          </a:prstGeom>
          <a:solidFill>
            <a:srgbClr val="F6FCE0"/>
          </a:solidFill>
          <a:ln>
            <a:noFill/>
          </a:ln>
        </p:spPr>
        <p:txBody>
          <a:bodyPr rtlCol="0" anchor="ctr"/>
          <a:lstStyle/>
          <a:p>
            <a:pPr algn="ctr"/>
          </a:p>
        </p:txBody>
      </p:sp>
      <p:sp>
        <p:nvSpPr>
          <p:cNvPr id="76" name="TextBox 75"/>
          <p:cNvSpPr txBox="1"/>
          <p:nvPr/>
        </p:nvSpPr>
        <p:spPr>
          <a:xfrm>
            <a:off x="8450885" y="3581146"/>
            <a:ext cx="3064154" cy="1773936"/>
          </a:xfrm>
          <a:prstGeom prst="rect">
            <a:avLst/>
          </a:prstGeom>
          <a:noFill/>
        </p:spPr>
        <p:txBody>
          <a:bodyPr wrap="square" lIns="0" rIns="0" tIns="0" bIns="0" anchor="t">
            <a:noAutofit/>
          </a:bodyPr>
          <a:lstStyle/>
          <a:p>
            <a:pPr algn="l">
              <a:lnSpc>
                <a:spcPts val="1755"/>
              </a:lnSpc>
              <a:spcBef>
                <a:spcPts val="0"/>
              </a:spcBef>
              <a:spcAft>
                <a:spcPts val="0"/>
              </a:spcAft>
            </a:pPr>
            <a:r>
              <a:rPr sz="1350" b="1" i="0">
                <a:solidFill>
                  <a:srgbClr val="141413"/>
                </a:solidFill>
                <a:latin typeface="Apple SD Gothic Neo"/>
                <a:ea typeface="Apple SD Gothic Neo"/>
              </a:rPr>
              <a:t>화면 ③ 전광판 + 파이프라인 작업실</a:t>
            </a:r>
          </a:p>
          <a:p>
            <a:pPr algn="l">
              <a:lnSpc>
                <a:spcPts val="1667"/>
              </a:lnSpc>
              <a:spcBef>
                <a:spcPts val="600"/>
              </a:spcBef>
              <a:spcAft>
                <a:spcPts val="0"/>
              </a:spcAft>
            </a:pPr>
            <a:r>
              <a:rPr sz="1150" b="0" i="0">
                <a:solidFill>
                  <a:srgbClr val="5C5B56"/>
                </a:solidFill>
                <a:latin typeface="Apple SD Gothic Neo"/>
                <a:ea typeface="Apple SD Gothic Neo"/>
              </a:rPr>
              <a:t>등기와 동시에 전광판에 상장 첫 소식이 흐르고 본 작업 화면으로 이동합니다. 다음 접속부터는 로그인 즉시 이 화면으로 바로 들어옵니다.</a:t>
            </a:r>
          </a:p>
        </p:txBody>
      </p:sp>
      <p:sp>
        <p:nvSpPr>
          <p:cNvPr id="77" name="Rounded Rectangle 76"/>
          <p:cNvSpPr/>
          <p:nvPr/>
        </p:nvSpPr>
        <p:spPr>
          <a:xfrm>
            <a:off x="457200" y="5693410"/>
            <a:ext cx="11277295" cy="780542"/>
          </a:xfrm>
          <a:prstGeom prst="roundRect">
            <a:avLst>
              <a:gd name="adj" fmla="val 23429"/>
            </a:avLst>
          </a:prstGeom>
          <a:solidFill>
            <a:srgbClr val="1E3A1E"/>
          </a:solidFill>
          <a:ln>
            <a:noFill/>
          </a:ln>
        </p:spPr>
        <p:txBody>
          <a:bodyPr rtlCol="0" anchor="ctr"/>
          <a:lstStyle/>
          <a:p>
            <a:pPr algn="ctr"/>
          </a:p>
        </p:txBody>
      </p:sp>
      <p:sp>
        <p:nvSpPr>
          <p:cNvPr id="78" name="TextBox 77"/>
          <p:cNvSpPr txBox="1"/>
          <p:nvPr/>
        </p:nvSpPr>
        <p:spPr>
          <a:xfrm>
            <a:off x="685800" y="5876290"/>
            <a:ext cx="2286000" cy="414782"/>
          </a:xfrm>
          <a:prstGeom prst="rect">
            <a:avLst/>
          </a:prstGeom>
          <a:noFill/>
        </p:spPr>
        <p:txBody>
          <a:bodyPr wrap="square" lIns="0" rIns="0" tIns="0" bIns="0" anchor="ctr">
            <a:noAutofit/>
          </a:bodyPr>
          <a:lstStyle/>
          <a:p>
            <a:pPr algn="l">
              <a:lnSpc>
                <a:spcPts val="1560"/>
              </a:lnSpc>
              <a:spcBef>
                <a:spcPts val="0"/>
              </a:spcBef>
              <a:spcAft>
                <a:spcPts val="0"/>
              </a:spcAft>
            </a:pPr>
            <a:r>
              <a:rPr sz="1200" b="1" i="0">
                <a:solidFill>
                  <a:srgbClr val="D4F94E"/>
                </a:solidFill>
                <a:latin typeface="Apple SD Gothic Neo"/>
                <a:ea typeface="Apple SD Gothic Neo"/>
              </a:rPr>
              <a:t>모둠 배정 방식 2가지 지원</a:t>
            </a:r>
          </a:p>
        </p:txBody>
      </p:sp>
      <p:sp>
        <p:nvSpPr>
          <p:cNvPr id="79" name="TextBox 78"/>
          <p:cNvSpPr txBox="1"/>
          <p:nvPr/>
        </p:nvSpPr>
        <p:spPr>
          <a:xfrm>
            <a:off x="3200400" y="5876290"/>
            <a:ext cx="8259775" cy="414782"/>
          </a:xfrm>
          <a:prstGeom prst="rect">
            <a:avLst/>
          </a:prstGeom>
          <a:noFill/>
        </p:spPr>
        <p:txBody>
          <a:bodyPr wrap="square" lIns="0" rIns="0" tIns="0" bIns="0" anchor="ctr">
            <a:noAutofit/>
          </a:bodyPr>
          <a:lstStyle/>
          <a:p>
            <a:pPr algn="l">
              <a:lnSpc>
                <a:spcPts val="1632"/>
              </a:lnSpc>
              <a:spcBef>
                <a:spcPts val="0"/>
              </a:spcBef>
              <a:spcAft>
                <a:spcPts val="0"/>
              </a:spcAft>
            </a:pPr>
            <a:r>
              <a:rPr sz="1150" b="0" i="0">
                <a:solidFill>
                  <a:srgbClr val="FAF9F5"/>
                </a:solidFill>
                <a:latin typeface="Apple SD Gothic Neo"/>
                <a:ea typeface="Apple SD Gothic Neo"/>
              </a:rPr>
              <a:t>교사가 명단에서 미리 모둠을 지정하는 방식(assigned)과, 학생이 처음 문을 연 사옥이 자기 모둠이 되는 자율 입사 방식(walk-in, 정원 자동 제한) 중 학급마다 고를 수 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09 / 26</a:t>
            </a:r>
          </a:p>
        </p:txBody>
      </p:sp>
      <p:sp>
        <p:nvSpPr>
          <p:cNvPr id="7" name="Rounded Rectangle 6"/>
          <p:cNvSpPr/>
          <p:nvPr/>
        </p:nvSpPr>
        <p:spPr>
          <a:xfrm>
            <a:off x="457200" y="566928"/>
            <a:ext cx="2010866"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1736546"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2 · 사옥 지구 연출</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모둠의 연구 성과에 따라 3단계로 자라나는 우리 회사 사옥</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사옥 지구는 실험하러 뛰어다니는 번거로운 맵이 아니라, 이름을 정하고 서로의 성장을 확인하는 작은 광장입니다.</a:t>
            </a:r>
          </a:p>
        </p:txBody>
      </p:sp>
      <p:sp>
        <p:nvSpPr>
          <p:cNvPr id="12" name="Rounded Rectangle 11"/>
          <p:cNvSpPr/>
          <p:nvPr/>
        </p:nvSpPr>
        <p:spPr>
          <a:xfrm>
            <a:off x="457200" y="1825498"/>
            <a:ext cx="3931920" cy="2209927"/>
          </a:xfrm>
          <a:prstGeom prst="roundRect">
            <a:avLst>
              <a:gd name="adj" fmla="val 9102"/>
            </a:avLst>
          </a:prstGeom>
          <a:solidFill>
            <a:srgbClr val="FFFFFF"/>
          </a:solidFill>
          <a:ln>
            <a:noFill/>
          </a:ln>
        </p:spPr>
        <p:txBody>
          <a:bodyPr rtlCol="0" anchor="ctr"/>
          <a:lstStyle/>
          <a:p>
            <a:pPr algn="ctr"/>
          </a:p>
        </p:txBody>
      </p:sp>
      <p:sp>
        <p:nvSpPr>
          <p:cNvPr id="13" name="TextBox 12"/>
          <p:cNvSpPr txBox="1"/>
          <p:nvPr/>
        </p:nvSpPr>
        <p:spPr>
          <a:xfrm>
            <a:off x="694944" y="2044954"/>
            <a:ext cx="3456432" cy="1478407"/>
          </a:xfrm>
          <a:prstGeom prst="rect">
            <a:avLst/>
          </a:prstGeom>
          <a:noFill/>
        </p:spPr>
        <p:txBody>
          <a:bodyPr wrap="square" lIns="0" rIns="0" tIns="0" bIns="0" anchor="t">
            <a:noAutofit/>
          </a:bodyPr>
          <a:lstStyle/>
          <a:p>
            <a:pPr algn="l">
              <a:lnSpc>
                <a:spcPts val="1755"/>
              </a:lnSpc>
              <a:spcBef>
                <a:spcPts val="0"/>
              </a:spcBef>
              <a:spcAft>
                <a:spcPts val="0"/>
              </a:spcAft>
            </a:pPr>
            <a:r>
              <a:rPr sz="1350" b="1" i="0">
                <a:solidFill>
                  <a:srgbClr val="141413"/>
                </a:solidFill>
                <a:latin typeface="Apple SD Gothic Neo"/>
                <a:ea typeface="Apple SD Gothic Neo"/>
              </a:rPr>
              <a:t>8종 외관 × 8색 모둠 잉크</a:t>
            </a:r>
          </a:p>
          <a:p>
            <a:pPr algn="l">
              <a:lnSpc>
                <a:spcPts val="1667"/>
              </a:lnSpc>
              <a:spcBef>
                <a:spcPts val="500"/>
              </a:spcBef>
              <a:spcAft>
                <a:spcPts val="0"/>
              </a:spcAft>
            </a:pPr>
            <a:r>
              <a:rPr sz="1150" b="0" i="0">
                <a:solidFill>
                  <a:srgbClr val="5C5B56"/>
                </a:solidFill>
                <a:latin typeface="Apple SD Gothic Neo"/>
                <a:ea typeface="Apple SD Gothic Neo"/>
              </a:rPr>
              <a:t>학급 안 모둠마다 지붕·차양·창문 모양과 고유 잉크 색상이 다른 사옥 부지를 받습니다.</a:t>
            </a:r>
          </a:p>
        </p:txBody>
      </p:sp>
      <p:sp>
        <p:nvSpPr>
          <p:cNvPr id="14" name="Rounded Rectangle 13"/>
          <p:cNvSpPr/>
          <p:nvPr/>
        </p:nvSpPr>
        <p:spPr>
          <a:xfrm>
            <a:off x="694944" y="3559937"/>
            <a:ext cx="310896" cy="274320"/>
          </a:xfrm>
          <a:prstGeom prst="roundRect">
            <a:avLst>
              <a:gd name="adj" fmla="val 16666"/>
            </a:avLst>
          </a:prstGeom>
          <a:solidFill>
            <a:srgbClr val="D4F94E"/>
          </a:solidFill>
          <a:ln>
            <a:noFill/>
          </a:ln>
        </p:spPr>
        <p:txBody>
          <a:bodyPr rtlCol="0" anchor="ctr"/>
          <a:lstStyle/>
          <a:p>
            <a:pPr algn="ctr"/>
          </a:p>
        </p:txBody>
      </p:sp>
      <p:sp>
        <p:nvSpPr>
          <p:cNvPr id="15" name="Isosceles Triangle 14"/>
          <p:cNvSpPr/>
          <p:nvPr/>
        </p:nvSpPr>
        <p:spPr>
          <a:xfrm>
            <a:off x="676656" y="3450209"/>
            <a:ext cx="347472" cy="118872"/>
          </a:xfrm>
          <a:prstGeom prst="triangle">
            <a:avLst/>
          </a:prstGeom>
          <a:solidFill>
            <a:srgbClr val="141413"/>
          </a:solidFill>
          <a:ln>
            <a:noFill/>
          </a:ln>
        </p:spPr>
        <p:txBody>
          <a:bodyPr rtlCol="0" anchor="ctr"/>
          <a:lstStyle/>
          <a:p>
            <a:pPr algn="ctr"/>
          </a:p>
        </p:txBody>
      </p:sp>
      <p:sp>
        <p:nvSpPr>
          <p:cNvPr id="16" name="Rounded Rectangle 15"/>
          <p:cNvSpPr/>
          <p:nvPr/>
        </p:nvSpPr>
        <p:spPr>
          <a:xfrm>
            <a:off x="1115568" y="3559937"/>
            <a:ext cx="310896" cy="274320"/>
          </a:xfrm>
          <a:prstGeom prst="roundRect">
            <a:avLst>
              <a:gd name="adj" fmla="val 16666"/>
            </a:avLst>
          </a:prstGeom>
          <a:solidFill>
            <a:srgbClr val="FFB21A"/>
          </a:solidFill>
          <a:ln>
            <a:noFill/>
          </a:ln>
        </p:spPr>
        <p:txBody>
          <a:bodyPr rtlCol="0" anchor="ctr"/>
          <a:lstStyle/>
          <a:p>
            <a:pPr algn="ctr"/>
          </a:p>
        </p:txBody>
      </p:sp>
      <p:sp>
        <p:nvSpPr>
          <p:cNvPr id="17" name="Isosceles Triangle 16"/>
          <p:cNvSpPr/>
          <p:nvPr/>
        </p:nvSpPr>
        <p:spPr>
          <a:xfrm>
            <a:off x="1097280" y="3450209"/>
            <a:ext cx="347472" cy="118872"/>
          </a:xfrm>
          <a:prstGeom prst="triangle">
            <a:avLst/>
          </a:prstGeom>
          <a:solidFill>
            <a:srgbClr val="141413"/>
          </a:solidFill>
          <a:ln>
            <a:noFill/>
          </a:ln>
        </p:spPr>
        <p:txBody>
          <a:bodyPr rtlCol="0" anchor="ctr"/>
          <a:lstStyle/>
          <a:p>
            <a:pPr algn="ctr"/>
          </a:p>
        </p:txBody>
      </p:sp>
      <p:sp>
        <p:nvSpPr>
          <p:cNvPr id="18" name="Rounded Rectangle 17"/>
          <p:cNvSpPr/>
          <p:nvPr/>
        </p:nvSpPr>
        <p:spPr>
          <a:xfrm>
            <a:off x="1536192" y="3559937"/>
            <a:ext cx="310896" cy="274320"/>
          </a:xfrm>
          <a:prstGeom prst="roundRect">
            <a:avLst>
              <a:gd name="adj" fmla="val 16666"/>
            </a:avLst>
          </a:prstGeom>
          <a:solidFill>
            <a:srgbClr val="7FB8FF"/>
          </a:solidFill>
          <a:ln>
            <a:noFill/>
          </a:ln>
        </p:spPr>
        <p:txBody>
          <a:bodyPr rtlCol="0" anchor="ctr"/>
          <a:lstStyle/>
          <a:p>
            <a:pPr algn="ctr"/>
          </a:p>
        </p:txBody>
      </p:sp>
      <p:sp>
        <p:nvSpPr>
          <p:cNvPr id="19" name="Isosceles Triangle 18"/>
          <p:cNvSpPr/>
          <p:nvPr/>
        </p:nvSpPr>
        <p:spPr>
          <a:xfrm>
            <a:off x="1517904" y="3450209"/>
            <a:ext cx="347472" cy="118872"/>
          </a:xfrm>
          <a:prstGeom prst="triangle">
            <a:avLst/>
          </a:prstGeom>
          <a:solidFill>
            <a:srgbClr val="141413"/>
          </a:solidFill>
          <a:ln>
            <a:noFill/>
          </a:ln>
        </p:spPr>
        <p:txBody>
          <a:bodyPr rtlCol="0" anchor="ctr"/>
          <a:lstStyle/>
          <a:p>
            <a:pPr algn="ctr"/>
          </a:p>
        </p:txBody>
      </p:sp>
      <p:sp>
        <p:nvSpPr>
          <p:cNvPr id="20" name="Rounded Rectangle 19"/>
          <p:cNvSpPr/>
          <p:nvPr/>
        </p:nvSpPr>
        <p:spPr>
          <a:xfrm>
            <a:off x="1956816" y="3559937"/>
            <a:ext cx="310896" cy="274320"/>
          </a:xfrm>
          <a:prstGeom prst="roundRect">
            <a:avLst>
              <a:gd name="adj" fmla="val 16666"/>
            </a:avLst>
          </a:prstGeom>
          <a:solidFill>
            <a:srgbClr val="FF8A7A"/>
          </a:solidFill>
          <a:ln>
            <a:noFill/>
          </a:ln>
        </p:spPr>
        <p:txBody>
          <a:bodyPr rtlCol="0" anchor="ctr"/>
          <a:lstStyle/>
          <a:p>
            <a:pPr algn="ctr"/>
          </a:p>
        </p:txBody>
      </p:sp>
      <p:sp>
        <p:nvSpPr>
          <p:cNvPr id="21" name="Isosceles Triangle 20"/>
          <p:cNvSpPr/>
          <p:nvPr/>
        </p:nvSpPr>
        <p:spPr>
          <a:xfrm>
            <a:off x="1938528" y="3450209"/>
            <a:ext cx="347472" cy="118872"/>
          </a:xfrm>
          <a:prstGeom prst="triangle">
            <a:avLst/>
          </a:prstGeom>
          <a:solidFill>
            <a:srgbClr val="141413"/>
          </a:solidFill>
          <a:ln>
            <a:noFill/>
          </a:ln>
        </p:spPr>
        <p:txBody>
          <a:bodyPr rtlCol="0" anchor="ctr"/>
          <a:lstStyle/>
          <a:p>
            <a:pPr algn="ctr"/>
          </a:p>
        </p:txBody>
      </p:sp>
      <p:sp>
        <p:nvSpPr>
          <p:cNvPr id="22" name="Rounded Rectangle 21"/>
          <p:cNvSpPr/>
          <p:nvPr/>
        </p:nvSpPr>
        <p:spPr>
          <a:xfrm>
            <a:off x="2377440" y="3559937"/>
            <a:ext cx="310896" cy="274320"/>
          </a:xfrm>
          <a:prstGeom prst="roundRect">
            <a:avLst>
              <a:gd name="adj" fmla="val 16666"/>
            </a:avLst>
          </a:prstGeom>
          <a:solidFill>
            <a:srgbClr val="B79CFF"/>
          </a:solidFill>
          <a:ln>
            <a:noFill/>
          </a:ln>
        </p:spPr>
        <p:txBody>
          <a:bodyPr rtlCol="0" anchor="ctr"/>
          <a:lstStyle/>
          <a:p>
            <a:pPr algn="ctr"/>
          </a:p>
        </p:txBody>
      </p:sp>
      <p:sp>
        <p:nvSpPr>
          <p:cNvPr id="23" name="Isosceles Triangle 22"/>
          <p:cNvSpPr/>
          <p:nvPr/>
        </p:nvSpPr>
        <p:spPr>
          <a:xfrm>
            <a:off x="2359152" y="3450209"/>
            <a:ext cx="347472" cy="118872"/>
          </a:xfrm>
          <a:prstGeom prst="triangle">
            <a:avLst/>
          </a:prstGeom>
          <a:solidFill>
            <a:srgbClr val="141413"/>
          </a:solidFill>
          <a:ln>
            <a:noFill/>
          </a:ln>
        </p:spPr>
        <p:txBody>
          <a:bodyPr rtlCol="0" anchor="ctr"/>
          <a:lstStyle/>
          <a:p>
            <a:pPr algn="ctr"/>
          </a:p>
        </p:txBody>
      </p:sp>
      <p:sp>
        <p:nvSpPr>
          <p:cNvPr id="24" name="Rounded Rectangle 23"/>
          <p:cNvSpPr/>
          <p:nvPr/>
        </p:nvSpPr>
        <p:spPr>
          <a:xfrm>
            <a:off x="2798064" y="3559937"/>
            <a:ext cx="310896" cy="274320"/>
          </a:xfrm>
          <a:prstGeom prst="roundRect">
            <a:avLst>
              <a:gd name="adj" fmla="val 16666"/>
            </a:avLst>
          </a:prstGeom>
          <a:solidFill>
            <a:srgbClr val="5FD0B0"/>
          </a:solidFill>
          <a:ln>
            <a:noFill/>
          </a:ln>
        </p:spPr>
        <p:txBody>
          <a:bodyPr rtlCol="0" anchor="ctr"/>
          <a:lstStyle/>
          <a:p>
            <a:pPr algn="ctr"/>
          </a:p>
        </p:txBody>
      </p:sp>
      <p:sp>
        <p:nvSpPr>
          <p:cNvPr id="25" name="Isosceles Triangle 24"/>
          <p:cNvSpPr/>
          <p:nvPr/>
        </p:nvSpPr>
        <p:spPr>
          <a:xfrm>
            <a:off x="2779776" y="3450209"/>
            <a:ext cx="347472" cy="118872"/>
          </a:xfrm>
          <a:prstGeom prst="triangle">
            <a:avLst/>
          </a:prstGeom>
          <a:solidFill>
            <a:srgbClr val="141413"/>
          </a:solidFill>
          <a:ln>
            <a:noFill/>
          </a:ln>
        </p:spPr>
        <p:txBody>
          <a:bodyPr rtlCol="0" anchor="ctr"/>
          <a:lstStyle/>
          <a:p>
            <a:pPr algn="ctr"/>
          </a:p>
        </p:txBody>
      </p:sp>
      <p:sp>
        <p:nvSpPr>
          <p:cNvPr id="26" name="Rounded Rectangle 25"/>
          <p:cNvSpPr/>
          <p:nvPr/>
        </p:nvSpPr>
        <p:spPr>
          <a:xfrm>
            <a:off x="3218688" y="3559937"/>
            <a:ext cx="310896" cy="274320"/>
          </a:xfrm>
          <a:prstGeom prst="roundRect">
            <a:avLst>
              <a:gd name="adj" fmla="val 16666"/>
            </a:avLst>
          </a:prstGeom>
          <a:solidFill>
            <a:srgbClr val="F2C14E"/>
          </a:solidFill>
          <a:ln>
            <a:noFill/>
          </a:ln>
        </p:spPr>
        <p:txBody>
          <a:bodyPr rtlCol="0" anchor="ctr"/>
          <a:lstStyle/>
          <a:p>
            <a:pPr algn="ctr"/>
          </a:p>
        </p:txBody>
      </p:sp>
      <p:sp>
        <p:nvSpPr>
          <p:cNvPr id="27" name="Isosceles Triangle 26"/>
          <p:cNvSpPr/>
          <p:nvPr/>
        </p:nvSpPr>
        <p:spPr>
          <a:xfrm>
            <a:off x="3200400" y="3450209"/>
            <a:ext cx="347472" cy="118872"/>
          </a:xfrm>
          <a:prstGeom prst="triangle">
            <a:avLst/>
          </a:prstGeom>
          <a:solidFill>
            <a:srgbClr val="141413"/>
          </a:solidFill>
          <a:ln>
            <a:noFill/>
          </a:ln>
        </p:spPr>
        <p:txBody>
          <a:bodyPr rtlCol="0" anchor="ctr"/>
          <a:lstStyle/>
          <a:p>
            <a:pPr algn="ctr"/>
          </a:p>
        </p:txBody>
      </p:sp>
      <p:sp>
        <p:nvSpPr>
          <p:cNvPr id="28" name="Rounded Rectangle 27"/>
          <p:cNvSpPr/>
          <p:nvPr/>
        </p:nvSpPr>
        <p:spPr>
          <a:xfrm>
            <a:off x="3639312" y="3559937"/>
            <a:ext cx="310896" cy="274320"/>
          </a:xfrm>
          <a:prstGeom prst="roundRect">
            <a:avLst>
              <a:gd name="adj" fmla="val 16666"/>
            </a:avLst>
          </a:prstGeom>
          <a:solidFill>
            <a:srgbClr val="1E3A1E"/>
          </a:solidFill>
          <a:ln>
            <a:noFill/>
          </a:ln>
        </p:spPr>
        <p:txBody>
          <a:bodyPr rtlCol="0" anchor="ctr"/>
          <a:lstStyle/>
          <a:p>
            <a:pPr algn="ctr"/>
          </a:p>
        </p:txBody>
      </p:sp>
      <p:sp>
        <p:nvSpPr>
          <p:cNvPr id="29" name="Isosceles Triangle 28"/>
          <p:cNvSpPr/>
          <p:nvPr/>
        </p:nvSpPr>
        <p:spPr>
          <a:xfrm>
            <a:off x="3621024" y="3450209"/>
            <a:ext cx="347472" cy="118872"/>
          </a:xfrm>
          <a:prstGeom prst="triangle">
            <a:avLst/>
          </a:prstGeom>
          <a:solidFill>
            <a:srgbClr val="141413"/>
          </a:solidFill>
          <a:ln>
            <a:noFill/>
          </a:ln>
        </p:spPr>
        <p:txBody>
          <a:bodyPr rtlCol="0" anchor="ctr"/>
          <a:lstStyle/>
          <a:p>
            <a:pPr algn="ctr"/>
          </a:p>
        </p:txBody>
      </p:sp>
      <p:sp>
        <p:nvSpPr>
          <p:cNvPr id="30" name="Rounded Rectangle 29"/>
          <p:cNvSpPr/>
          <p:nvPr/>
        </p:nvSpPr>
        <p:spPr>
          <a:xfrm>
            <a:off x="457200" y="4264025"/>
            <a:ext cx="3931920" cy="2209927"/>
          </a:xfrm>
          <a:prstGeom prst="roundRect">
            <a:avLst>
              <a:gd name="adj" fmla="val 9102"/>
            </a:avLst>
          </a:prstGeom>
          <a:solidFill>
            <a:srgbClr val="141413"/>
          </a:solidFill>
          <a:ln>
            <a:noFill/>
          </a:ln>
        </p:spPr>
        <p:txBody>
          <a:bodyPr rtlCol="0" anchor="ctr"/>
          <a:lstStyle/>
          <a:p>
            <a:pPr algn="ctr"/>
          </a:p>
        </p:txBody>
      </p:sp>
      <p:sp>
        <p:nvSpPr>
          <p:cNvPr id="31" name="TextBox 30"/>
          <p:cNvSpPr txBox="1"/>
          <p:nvPr/>
        </p:nvSpPr>
        <p:spPr>
          <a:xfrm>
            <a:off x="694944" y="4483481"/>
            <a:ext cx="3456432" cy="1569847"/>
          </a:xfrm>
          <a:prstGeom prst="rect">
            <a:avLst/>
          </a:prstGeom>
          <a:noFill/>
        </p:spPr>
        <p:txBody>
          <a:bodyPr wrap="square" lIns="0" rIns="0" tIns="0" bIns="0" anchor="t">
            <a:noAutofit/>
          </a:bodyPr>
          <a:lstStyle/>
          <a:p>
            <a:pPr algn="l">
              <a:lnSpc>
                <a:spcPts val="1755"/>
              </a:lnSpc>
              <a:spcBef>
                <a:spcPts val="0"/>
              </a:spcBef>
              <a:spcAft>
                <a:spcPts val="0"/>
              </a:spcAft>
            </a:pPr>
            <a:r>
              <a:rPr sz="1350" b="1" i="0">
                <a:solidFill>
                  <a:srgbClr val="FFB21A"/>
                </a:solidFill>
                <a:latin typeface="Apple SD Gothic Neo"/>
                <a:ea typeface="Apple SD Gothic Neo"/>
              </a:rPr>
              <a:t>광장 중앙 LED 기둥</a:t>
            </a:r>
          </a:p>
          <a:p>
            <a:pPr algn="l">
              <a:lnSpc>
                <a:spcPts val="1667"/>
              </a:lnSpc>
              <a:spcBef>
                <a:spcPts val="500"/>
              </a:spcBef>
              <a:spcAft>
                <a:spcPts val="0"/>
              </a:spcAft>
            </a:pPr>
            <a:r>
              <a:rPr sz="1150" b="0" i="0">
                <a:solidFill>
                  <a:srgbClr val="E9E7DF"/>
                </a:solidFill>
                <a:latin typeface="Apple SD Gothic Neo"/>
                <a:ea typeface="Apple SD Gothic Neo"/>
              </a:rPr>
              <a:t>작업 화면의 전광판과 같은 학급 뉴스가 광장 한가운데 기둥에서도 실시간으로 흐릅니다.</a:t>
            </a:r>
          </a:p>
        </p:txBody>
      </p:sp>
      <p:sp>
        <p:nvSpPr>
          <p:cNvPr id="32" name="Oval 31"/>
          <p:cNvSpPr/>
          <p:nvPr/>
        </p:nvSpPr>
        <p:spPr>
          <a:xfrm>
            <a:off x="694944" y="6144768"/>
            <a:ext cx="91440" cy="91440"/>
          </a:xfrm>
          <a:prstGeom prst="ellipse">
            <a:avLst/>
          </a:prstGeom>
          <a:solidFill>
            <a:srgbClr val="5A4410"/>
          </a:solidFill>
          <a:ln>
            <a:noFill/>
          </a:ln>
        </p:spPr>
        <p:txBody>
          <a:bodyPr rtlCol="0" anchor="ctr"/>
          <a:lstStyle/>
          <a:p>
            <a:pPr algn="ctr"/>
          </a:p>
        </p:txBody>
      </p:sp>
      <p:sp>
        <p:nvSpPr>
          <p:cNvPr id="33" name="Oval 32"/>
          <p:cNvSpPr/>
          <p:nvPr/>
        </p:nvSpPr>
        <p:spPr>
          <a:xfrm>
            <a:off x="900684" y="6144768"/>
            <a:ext cx="91440" cy="91440"/>
          </a:xfrm>
          <a:prstGeom prst="ellipse">
            <a:avLst/>
          </a:prstGeom>
          <a:solidFill>
            <a:srgbClr val="FFB21A"/>
          </a:solidFill>
          <a:ln>
            <a:noFill/>
          </a:ln>
        </p:spPr>
        <p:txBody>
          <a:bodyPr rtlCol="0" anchor="ctr"/>
          <a:lstStyle/>
          <a:p>
            <a:pPr algn="ctr"/>
          </a:p>
        </p:txBody>
      </p:sp>
      <p:sp>
        <p:nvSpPr>
          <p:cNvPr id="34" name="Oval 33"/>
          <p:cNvSpPr/>
          <p:nvPr/>
        </p:nvSpPr>
        <p:spPr>
          <a:xfrm>
            <a:off x="1106424" y="6144768"/>
            <a:ext cx="91440" cy="91440"/>
          </a:xfrm>
          <a:prstGeom prst="ellipse">
            <a:avLst/>
          </a:prstGeom>
          <a:solidFill>
            <a:srgbClr val="FFB21A"/>
          </a:solidFill>
          <a:ln>
            <a:noFill/>
          </a:ln>
        </p:spPr>
        <p:txBody>
          <a:bodyPr rtlCol="0" anchor="ctr"/>
          <a:lstStyle/>
          <a:p>
            <a:pPr algn="ctr"/>
          </a:p>
        </p:txBody>
      </p:sp>
      <p:sp>
        <p:nvSpPr>
          <p:cNvPr id="35" name="Oval 34"/>
          <p:cNvSpPr/>
          <p:nvPr/>
        </p:nvSpPr>
        <p:spPr>
          <a:xfrm>
            <a:off x="1312164" y="6144768"/>
            <a:ext cx="91440" cy="91440"/>
          </a:xfrm>
          <a:prstGeom prst="ellipse">
            <a:avLst/>
          </a:prstGeom>
          <a:solidFill>
            <a:srgbClr val="5A4410"/>
          </a:solidFill>
          <a:ln>
            <a:noFill/>
          </a:ln>
        </p:spPr>
        <p:txBody>
          <a:bodyPr rtlCol="0" anchor="ctr"/>
          <a:lstStyle/>
          <a:p>
            <a:pPr algn="ctr"/>
          </a:p>
        </p:txBody>
      </p:sp>
      <p:sp>
        <p:nvSpPr>
          <p:cNvPr id="36" name="Oval 35"/>
          <p:cNvSpPr/>
          <p:nvPr/>
        </p:nvSpPr>
        <p:spPr>
          <a:xfrm>
            <a:off x="1517904" y="6144768"/>
            <a:ext cx="91440" cy="91440"/>
          </a:xfrm>
          <a:prstGeom prst="ellipse">
            <a:avLst/>
          </a:prstGeom>
          <a:solidFill>
            <a:srgbClr val="FFB21A"/>
          </a:solidFill>
          <a:ln>
            <a:noFill/>
          </a:ln>
        </p:spPr>
        <p:txBody>
          <a:bodyPr rtlCol="0" anchor="ctr"/>
          <a:lstStyle/>
          <a:p>
            <a:pPr algn="ctr"/>
          </a:p>
        </p:txBody>
      </p:sp>
      <p:sp>
        <p:nvSpPr>
          <p:cNvPr id="37" name="Oval 36"/>
          <p:cNvSpPr/>
          <p:nvPr/>
        </p:nvSpPr>
        <p:spPr>
          <a:xfrm>
            <a:off x="1723644" y="6144768"/>
            <a:ext cx="91440" cy="91440"/>
          </a:xfrm>
          <a:prstGeom prst="ellipse">
            <a:avLst/>
          </a:prstGeom>
          <a:solidFill>
            <a:srgbClr val="FFB21A"/>
          </a:solidFill>
          <a:ln>
            <a:noFill/>
          </a:ln>
        </p:spPr>
        <p:txBody>
          <a:bodyPr rtlCol="0" anchor="ctr"/>
          <a:lstStyle/>
          <a:p>
            <a:pPr algn="ctr"/>
          </a:p>
        </p:txBody>
      </p:sp>
      <p:sp>
        <p:nvSpPr>
          <p:cNvPr id="38" name="Oval 37"/>
          <p:cNvSpPr/>
          <p:nvPr/>
        </p:nvSpPr>
        <p:spPr>
          <a:xfrm>
            <a:off x="1929384" y="6144768"/>
            <a:ext cx="91440" cy="91440"/>
          </a:xfrm>
          <a:prstGeom prst="ellipse">
            <a:avLst/>
          </a:prstGeom>
          <a:solidFill>
            <a:srgbClr val="5A4410"/>
          </a:solidFill>
          <a:ln>
            <a:noFill/>
          </a:ln>
        </p:spPr>
        <p:txBody>
          <a:bodyPr rtlCol="0" anchor="ctr"/>
          <a:lstStyle/>
          <a:p>
            <a:pPr algn="ctr"/>
          </a:p>
        </p:txBody>
      </p:sp>
      <p:sp>
        <p:nvSpPr>
          <p:cNvPr id="39" name="Oval 38"/>
          <p:cNvSpPr/>
          <p:nvPr/>
        </p:nvSpPr>
        <p:spPr>
          <a:xfrm>
            <a:off x="2135124" y="6144768"/>
            <a:ext cx="91440" cy="91440"/>
          </a:xfrm>
          <a:prstGeom prst="ellipse">
            <a:avLst/>
          </a:prstGeom>
          <a:solidFill>
            <a:srgbClr val="FFB21A"/>
          </a:solidFill>
          <a:ln>
            <a:noFill/>
          </a:ln>
        </p:spPr>
        <p:txBody>
          <a:bodyPr rtlCol="0" anchor="ctr"/>
          <a:lstStyle/>
          <a:p>
            <a:pPr algn="ctr"/>
          </a:p>
        </p:txBody>
      </p:sp>
      <p:sp>
        <p:nvSpPr>
          <p:cNvPr id="40" name="Oval 39"/>
          <p:cNvSpPr/>
          <p:nvPr/>
        </p:nvSpPr>
        <p:spPr>
          <a:xfrm>
            <a:off x="2340864" y="6144768"/>
            <a:ext cx="91440" cy="91440"/>
          </a:xfrm>
          <a:prstGeom prst="ellipse">
            <a:avLst/>
          </a:prstGeom>
          <a:solidFill>
            <a:srgbClr val="FFB21A"/>
          </a:solidFill>
          <a:ln>
            <a:noFill/>
          </a:ln>
        </p:spPr>
        <p:txBody>
          <a:bodyPr rtlCol="0" anchor="ctr"/>
          <a:lstStyle/>
          <a:p>
            <a:pPr algn="ctr"/>
          </a:p>
        </p:txBody>
      </p:sp>
      <p:sp>
        <p:nvSpPr>
          <p:cNvPr id="41" name="Oval 40"/>
          <p:cNvSpPr/>
          <p:nvPr/>
        </p:nvSpPr>
        <p:spPr>
          <a:xfrm>
            <a:off x="2546604" y="6144768"/>
            <a:ext cx="91440" cy="91440"/>
          </a:xfrm>
          <a:prstGeom prst="ellipse">
            <a:avLst/>
          </a:prstGeom>
          <a:solidFill>
            <a:srgbClr val="5A4410"/>
          </a:solidFill>
          <a:ln>
            <a:noFill/>
          </a:ln>
        </p:spPr>
        <p:txBody>
          <a:bodyPr rtlCol="0" anchor="ctr"/>
          <a:lstStyle/>
          <a:p>
            <a:pPr algn="ctr"/>
          </a:p>
        </p:txBody>
      </p:sp>
      <p:sp>
        <p:nvSpPr>
          <p:cNvPr id="42" name="Oval 41"/>
          <p:cNvSpPr/>
          <p:nvPr/>
        </p:nvSpPr>
        <p:spPr>
          <a:xfrm>
            <a:off x="2752344" y="6144768"/>
            <a:ext cx="91440" cy="91440"/>
          </a:xfrm>
          <a:prstGeom prst="ellipse">
            <a:avLst/>
          </a:prstGeom>
          <a:solidFill>
            <a:srgbClr val="FFB21A"/>
          </a:solidFill>
          <a:ln>
            <a:noFill/>
          </a:ln>
        </p:spPr>
        <p:txBody>
          <a:bodyPr rtlCol="0" anchor="ctr"/>
          <a:lstStyle/>
          <a:p>
            <a:pPr algn="ctr"/>
          </a:p>
        </p:txBody>
      </p:sp>
      <p:sp>
        <p:nvSpPr>
          <p:cNvPr id="43" name="Oval 42"/>
          <p:cNvSpPr/>
          <p:nvPr/>
        </p:nvSpPr>
        <p:spPr>
          <a:xfrm>
            <a:off x="2958084" y="6144768"/>
            <a:ext cx="91440" cy="91440"/>
          </a:xfrm>
          <a:prstGeom prst="ellipse">
            <a:avLst/>
          </a:prstGeom>
          <a:solidFill>
            <a:srgbClr val="FFB21A"/>
          </a:solidFill>
          <a:ln>
            <a:noFill/>
          </a:ln>
        </p:spPr>
        <p:txBody>
          <a:bodyPr rtlCol="0" anchor="ctr"/>
          <a:lstStyle/>
          <a:p>
            <a:pPr algn="ctr"/>
          </a:p>
        </p:txBody>
      </p:sp>
      <p:sp>
        <p:nvSpPr>
          <p:cNvPr id="44" name="Oval 43"/>
          <p:cNvSpPr/>
          <p:nvPr/>
        </p:nvSpPr>
        <p:spPr>
          <a:xfrm>
            <a:off x="3163824" y="6144768"/>
            <a:ext cx="91440" cy="91440"/>
          </a:xfrm>
          <a:prstGeom prst="ellipse">
            <a:avLst/>
          </a:prstGeom>
          <a:solidFill>
            <a:srgbClr val="5A4410"/>
          </a:solidFill>
          <a:ln>
            <a:noFill/>
          </a:ln>
        </p:spPr>
        <p:txBody>
          <a:bodyPr rtlCol="0" anchor="ctr"/>
          <a:lstStyle/>
          <a:p>
            <a:pPr algn="ctr"/>
          </a:p>
        </p:txBody>
      </p:sp>
      <p:sp>
        <p:nvSpPr>
          <p:cNvPr id="45" name="Oval 44"/>
          <p:cNvSpPr/>
          <p:nvPr/>
        </p:nvSpPr>
        <p:spPr>
          <a:xfrm>
            <a:off x="3369564" y="6144768"/>
            <a:ext cx="91440" cy="91440"/>
          </a:xfrm>
          <a:prstGeom prst="ellipse">
            <a:avLst/>
          </a:prstGeom>
          <a:solidFill>
            <a:srgbClr val="FFB21A"/>
          </a:solidFill>
          <a:ln>
            <a:noFill/>
          </a:ln>
        </p:spPr>
        <p:txBody>
          <a:bodyPr rtlCol="0" anchor="ctr"/>
          <a:lstStyle/>
          <a:p>
            <a:pPr algn="ctr"/>
          </a:p>
        </p:txBody>
      </p:sp>
      <p:sp>
        <p:nvSpPr>
          <p:cNvPr id="46" name="Oval 45"/>
          <p:cNvSpPr/>
          <p:nvPr/>
        </p:nvSpPr>
        <p:spPr>
          <a:xfrm>
            <a:off x="3575304" y="6144768"/>
            <a:ext cx="91440" cy="91440"/>
          </a:xfrm>
          <a:prstGeom prst="ellipse">
            <a:avLst/>
          </a:prstGeom>
          <a:solidFill>
            <a:srgbClr val="FFB21A"/>
          </a:solidFill>
          <a:ln>
            <a:noFill/>
          </a:ln>
        </p:spPr>
        <p:txBody>
          <a:bodyPr rtlCol="0" anchor="ctr"/>
          <a:lstStyle/>
          <a:p>
            <a:pPr algn="ctr"/>
          </a:p>
        </p:txBody>
      </p:sp>
      <p:sp>
        <p:nvSpPr>
          <p:cNvPr id="47" name="Oval 46"/>
          <p:cNvSpPr/>
          <p:nvPr/>
        </p:nvSpPr>
        <p:spPr>
          <a:xfrm>
            <a:off x="3781044" y="6144768"/>
            <a:ext cx="91440" cy="91440"/>
          </a:xfrm>
          <a:prstGeom prst="ellipse">
            <a:avLst/>
          </a:prstGeom>
          <a:solidFill>
            <a:srgbClr val="5A4410"/>
          </a:solidFill>
          <a:ln>
            <a:noFill/>
          </a:ln>
        </p:spPr>
        <p:txBody>
          <a:bodyPr rtlCol="0" anchor="ctr"/>
          <a:lstStyle/>
          <a:p>
            <a:pPr algn="ctr"/>
          </a:p>
        </p:txBody>
      </p:sp>
      <p:sp>
        <p:nvSpPr>
          <p:cNvPr id="48" name="Oval 47"/>
          <p:cNvSpPr/>
          <p:nvPr/>
        </p:nvSpPr>
        <p:spPr>
          <a:xfrm>
            <a:off x="3986784" y="6144768"/>
            <a:ext cx="91440" cy="91440"/>
          </a:xfrm>
          <a:prstGeom prst="ellipse">
            <a:avLst/>
          </a:prstGeom>
          <a:solidFill>
            <a:srgbClr val="FFB21A"/>
          </a:solidFill>
          <a:ln>
            <a:noFill/>
          </a:ln>
        </p:spPr>
        <p:txBody>
          <a:bodyPr rtlCol="0" anchor="ctr"/>
          <a:lstStyle/>
          <a:p>
            <a:pPr algn="ctr"/>
          </a:p>
        </p:txBody>
      </p:sp>
      <p:sp>
        <p:nvSpPr>
          <p:cNvPr id="49" name="Rounded Rectangle 48"/>
          <p:cNvSpPr/>
          <p:nvPr/>
        </p:nvSpPr>
        <p:spPr>
          <a:xfrm>
            <a:off x="4617720" y="1825498"/>
            <a:ext cx="7116775" cy="4648454"/>
          </a:xfrm>
          <a:prstGeom prst="roundRect">
            <a:avLst>
              <a:gd name="adj" fmla="val 4327"/>
            </a:avLst>
          </a:prstGeom>
          <a:solidFill>
            <a:srgbClr val="FFFFFF"/>
          </a:solidFill>
          <a:ln>
            <a:noFill/>
          </a:ln>
        </p:spPr>
        <p:txBody>
          <a:bodyPr rtlCol="0" anchor="ctr"/>
          <a:lstStyle/>
          <a:p>
            <a:pPr algn="ctr"/>
          </a:p>
        </p:txBody>
      </p:sp>
      <p:sp>
        <p:nvSpPr>
          <p:cNvPr id="50" name="TextBox 49"/>
          <p:cNvSpPr txBox="1"/>
          <p:nvPr/>
        </p:nvSpPr>
        <p:spPr>
          <a:xfrm>
            <a:off x="4892040" y="2044954"/>
            <a:ext cx="6568135" cy="250317"/>
          </a:xfrm>
          <a:prstGeom prst="rect">
            <a:avLst/>
          </a:prstGeom>
          <a:noFill/>
        </p:spPr>
        <p:txBody>
          <a:bodyPr wrap="square" lIns="0" rIns="0" tIns="0" bIns="0" anchor="t">
            <a:noAutofit/>
          </a:bodyPr>
          <a:lstStyle/>
          <a:p>
            <a:pPr algn="l">
              <a:lnSpc>
                <a:spcPts val="1755"/>
              </a:lnSpc>
              <a:spcBef>
                <a:spcPts val="0"/>
              </a:spcBef>
              <a:spcAft>
                <a:spcPts val="0"/>
              </a:spcAft>
            </a:pPr>
            <a:r>
              <a:rPr sz="1350" b="1" i="0">
                <a:solidFill>
                  <a:srgbClr val="141413"/>
                </a:solidFill>
                <a:latin typeface="Apple SD Gothic Neo"/>
                <a:ea typeface="Apple SD Gothic Neo"/>
              </a:rPr>
              <a:t>성과에 따라 자라는 사옥 3단계 (Tier 1 → 2 → 3)</a:t>
            </a:r>
          </a:p>
        </p:txBody>
      </p:sp>
      <p:sp>
        <p:nvSpPr>
          <p:cNvPr id="51" name="Rectangle 50"/>
          <p:cNvSpPr/>
          <p:nvPr/>
        </p:nvSpPr>
        <p:spPr>
          <a:xfrm>
            <a:off x="4846320" y="5218430"/>
            <a:ext cx="2067458" cy="45720"/>
          </a:xfrm>
          <a:prstGeom prst="rect">
            <a:avLst/>
          </a:prstGeom>
          <a:solidFill>
            <a:srgbClr val="CFCDC4"/>
          </a:solidFill>
          <a:ln>
            <a:noFill/>
          </a:ln>
        </p:spPr>
        <p:txBody>
          <a:bodyPr rtlCol="0" anchor="ctr"/>
          <a:lstStyle/>
          <a:p>
            <a:pPr algn="ctr"/>
          </a:p>
        </p:txBody>
      </p:sp>
      <p:sp>
        <p:nvSpPr>
          <p:cNvPr id="52" name="Rectangle 51"/>
          <p:cNvSpPr/>
          <p:nvPr/>
        </p:nvSpPr>
        <p:spPr>
          <a:xfrm>
            <a:off x="5377129" y="4441190"/>
            <a:ext cx="1005840" cy="777240"/>
          </a:xfrm>
          <a:prstGeom prst="rect">
            <a:avLst/>
          </a:prstGeom>
          <a:solidFill>
            <a:srgbClr val="D4F94E"/>
          </a:solidFill>
          <a:ln>
            <a:noFill/>
          </a:ln>
        </p:spPr>
        <p:txBody>
          <a:bodyPr rtlCol="0" anchor="ctr"/>
          <a:lstStyle/>
          <a:p>
            <a:pPr algn="ctr"/>
          </a:p>
        </p:txBody>
      </p:sp>
      <p:sp>
        <p:nvSpPr>
          <p:cNvPr id="53" name="Isosceles Triangle 52"/>
          <p:cNvSpPr/>
          <p:nvPr/>
        </p:nvSpPr>
        <p:spPr>
          <a:xfrm>
            <a:off x="5303977" y="4221734"/>
            <a:ext cx="1152144" cy="219456"/>
          </a:xfrm>
          <a:prstGeom prst="triangle">
            <a:avLst/>
          </a:prstGeom>
          <a:solidFill>
            <a:srgbClr val="141413"/>
          </a:solidFill>
          <a:ln>
            <a:noFill/>
          </a:ln>
        </p:spPr>
        <p:txBody>
          <a:bodyPr rtlCol="0" anchor="ctr"/>
          <a:lstStyle/>
          <a:p>
            <a:pPr algn="ctr"/>
          </a:p>
        </p:txBody>
      </p:sp>
      <p:sp>
        <p:nvSpPr>
          <p:cNvPr id="54" name="Rectangle 53"/>
          <p:cNvSpPr/>
          <p:nvPr/>
        </p:nvSpPr>
        <p:spPr>
          <a:xfrm>
            <a:off x="5505145" y="4587494"/>
            <a:ext cx="128016" cy="128016"/>
          </a:xfrm>
          <a:prstGeom prst="rect">
            <a:avLst/>
          </a:prstGeom>
          <a:solidFill>
            <a:srgbClr val="FAF9F5"/>
          </a:solidFill>
          <a:ln>
            <a:noFill/>
          </a:ln>
        </p:spPr>
        <p:txBody>
          <a:bodyPr rtlCol="0" anchor="ctr"/>
          <a:lstStyle/>
          <a:p>
            <a:pPr algn="ctr"/>
          </a:p>
        </p:txBody>
      </p:sp>
      <p:sp>
        <p:nvSpPr>
          <p:cNvPr id="55" name="Rectangle 54"/>
          <p:cNvSpPr/>
          <p:nvPr/>
        </p:nvSpPr>
        <p:spPr>
          <a:xfrm>
            <a:off x="5761177" y="4587494"/>
            <a:ext cx="128016" cy="128016"/>
          </a:xfrm>
          <a:prstGeom prst="rect">
            <a:avLst/>
          </a:prstGeom>
          <a:solidFill>
            <a:srgbClr val="FAF9F5"/>
          </a:solidFill>
          <a:ln>
            <a:noFill/>
          </a:ln>
        </p:spPr>
        <p:txBody>
          <a:bodyPr rtlCol="0" anchor="ctr"/>
          <a:lstStyle/>
          <a:p>
            <a:pPr algn="ctr"/>
          </a:p>
        </p:txBody>
      </p:sp>
      <p:sp>
        <p:nvSpPr>
          <p:cNvPr id="56" name="Rectangle 55"/>
          <p:cNvSpPr/>
          <p:nvPr/>
        </p:nvSpPr>
        <p:spPr>
          <a:xfrm>
            <a:off x="6017209" y="4587494"/>
            <a:ext cx="128016" cy="128016"/>
          </a:xfrm>
          <a:prstGeom prst="rect">
            <a:avLst/>
          </a:prstGeom>
          <a:solidFill>
            <a:srgbClr val="FAF9F5"/>
          </a:solidFill>
          <a:ln>
            <a:noFill/>
          </a:ln>
        </p:spPr>
        <p:txBody>
          <a:bodyPr rtlCol="0" anchor="ctr"/>
          <a:lstStyle/>
          <a:p>
            <a:pPr algn="ctr"/>
          </a:p>
        </p:txBody>
      </p:sp>
      <p:sp>
        <p:nvSpPr>
          <p:cNvPr id="57" name="Rectangle 56"/>
          <p:cNvSpPr/>
          <p:nvPr/>
        </p:nvSpPr>
        <p:spPr>
          <a:xfrm>
            <a:off x="5505145" y="4843526"/>
            <a:ext cx="128016" cy="128016"/>
          </a:xfrm>
          <a:prstGeom prst="rect">
            <a:avLst/>
          </a:prstGeom>
          <a:solidFill>
            <a:srgbClr val="FAF9F5"/>
          </a:solidFill>
          <a:ln>
            <a:noFill/>
          </a:ln>
        </p:spPr>
        <p:txBody>
          <a:bodyPr rtlCol="0" anchor="ctr"/>
          <a:lstStyle/>
          <a:p>
            <a:pPr algn="ctr"/>
          </a:p>
        </p:txBody>
      </p:sp>
      <p:sp>
        <p:nvSpPr>
          <p:cNvPr id="58" name="Rectangle 57"/>
          <p:cNvSpPr/>
          <p:nvPr/>
        </p:nvSpPr>
        <p:spPr>
          <a:xfrm>
            <a:off x="5761177" y="4843526"/>
            <a:ext cx="128016" cy="128016"/>
          </a:xfrm>
          <a:prstGeom prst="rect">
            <a:avLst/>
          </a:prstGeom>
          <a:solidFill>
            <a:srgbClr val="FAF9F5"/>
          </a:solidFill>
          <a:ln>
            <a:noFill/>
          </a:ln>
        </p:spPr>
        <p:txBody>
          <a:bodyPr rtlCol="0" anchor="ctr"/>
          <a:lstStyle/>
          <a:p>
            <a:pPr algn="ctr"/>
          </a:p>
        </p:txBody>
      </p:sp>
      <p:sp>
        <p:nvSpPr>
          <p:cNvPr id="59" name="Rectangle 58"/>
          <p:cNvSpPr/>
          <p:nvPr/>
        </p:nvSpPr>
        <p:spPr>
          <a:xfrm>
            <a:off x="6017209" y="4843526"/>
            <a:ext cx="128016" cy="128016"/>
          </a:xfrm>
          <a:prstGeom prst="rect">
            <a:avLst/>
          </a:prstGeom>
          <a:solidFill>
            <a:srgbClr val="FAF9F5"/>
          </a:solidFill>
          <a:ln>
            <a:noFill/>
          </a:ln>
        </p:spPr>
        <p:txBody>
          <a:bodyPr rtlCol="0" anchor="ctr"/>
          <a:lstStyle/>
          <a:p>
            <a:pPr algn="ctr"/>
          </a:p>
        </p:txBody>
      </p:sp>
      <p:sp>
        <p:nvSpPr>
          <p:cNvPr id="60" name="Chevron 59"/>
          <p:cNvSpPr/>
          <p:nvPr/>
        </p:nvSpPr>
        <p:spPr>
          <a:xfrm>
            <a:off x="6959498" y="4669790"/>
            <a:ext cx="146304" cy="310896"/>
          </a:xfrm>
          <a:prstGeom prst="chevron">
            <a:avLst/>
          </a:prstGeom>
          <a:solidFill>
            <a:srgbClr val="141413"/>
          </a:solidFill>
          <a:ln>
            <a:noFill/>
          </a:ln>
        </p:spPr>
        <p:txBody>
          <a:bodyPr rtlCol="0" anchor="ctr"/>
          <a:lstStyle/>
          <a:p>
            <a:pPr algn="ctr"/>
          </a:p>
        </p:txBody>
      </p:sp>
      <p:sp>
        <p:nvSpPr>
          <p:cNvPr id="61" name="TextBox 60"/>
          <p:cNvSpPr txBox="1"/>
          <p:nvPr/>
        </p:nvSpPr>
        <p:spPr>
          <a:xfrm>
            <a:off x="4892040" y="5401310"/>
            <a:ext cx="1976018" cy="673100"/>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41413"/>
                </a:solidFill>
                <a:latin typeface="Apple SD Gothic Neo"/>
                <a:ea typeface="Apple SD Gothic Neo"/>
              </a:rPr>
              <a:t>Tier 1 (설립 직후)</a:t>
            </a:r>
          </a:p>
          <a:p>
            <a:pPr algn="l">
              <a:lnSpc>
                <a:spcPts val="1562"/>
              </a:lnSpc>
              <a:spcBef>
                <a:spcPts val="400"/>
              </a:spcBef>
              <a:spcAft>
                <a:spcPts val="0"/>
              </a:spcAft>
            </a:pPr>
            <a:r>
              <a:rPr sz="1100" b="0" i="0">
                <a:solidFill>
                  <a:srgbClr val="5C5B56"/>
                </a:solidFill>
                <a:latin typeface="Apple SD Gothic Neo"/>
                <a:ea typeface="Apple SD Gothic Neo"/>
              </a:rPr>
              <a:t>스타트업 간판과 모둠 깃발이 걸린 첫 연구 사옥</a:t>
            </a:r>
          </a:p>
        </p:txBody>
      </p:sp>
      <p:sp>
        <p:nvSpPr>
          <p:cNvPr id="62" name="Rectangle 61"/>
          <p:cNvSpPr/>
          <p:nvPr/>
        </p:nvSpPr>
        <p:spPr>
          <a:xfrm>
            <a:off x="7142378" y="5218430"/>
            <a:ext cx="2067458" cy="45720"/>
          </a:xfrm>
          <a:prstGeom prst="rect">
            <a:avLst/>
          </a:prstGeom>
          <a:solidFill>
            <a:srgbClr val="CFCDC4"/>
          </a:solidFill>
          <a:ln>
            <a:noFill/>
          </a:ln>
        </p:spPr>
        <p:txBody>
          <a:bodyPr rtlCol="0" anchor="ctr"/>
          <a:lstStyle/>
          <a:p>
            <a:pPr algn="ctr"/>
          </a:p>
        </p:txBody>
      </p:sp>
      <p:sp>
        <p:nvSpPr>
          <p:cNvPr id="63" name="Rectangle 62"/>
          <p:cNvSpPr/>
          <p:nvPr/>
        </p:nvSpPr>
        <p:spPr>
          <a:xfrm>
            <a:off x="7513168" y="3892550"/>
            <a:ext cx="1325880" cy="1325880"/>
          </a:xfrm>
          <a:prstGeom prst="rect">
            <a:avLst/>
          </a:prstGeom>
          <a:solidFill>
            <a:srgbClr val="FFB21A"/>
          </a:solidFill>
          <a:ln>
            <a:noFill/>
          </a:ln>
        </p:spPr>
        <p:txBody>
          <a:bodyPr rtlCol="0" anchor="ctr"/>
          <a:lstStyle/>
          <a:p>
            <a:pPr algn="ctr"/>
          </a:p>
        </p:txBody>
      </p:sp>
      <p:sp>
        <p:nvSpPr>
          <p:cNvPr id="64" name="Isosceles Triangle 63"/>
          <p:cNvSpPr/>
          <p:nvPr/>
        </p:nvSpPr>
        <p:spPr>
          <a:xfrm>
            <a:off x="7440016" y="3673094"/>
            <a:ext cx="1472184" cy="219456"/>
          </a:xfrm>
          <a:prstGeom prst="triangle">
            <a:avLst/>
          </a:prstGeom>
          <a:solidFill>
            <a:srgbClr val="141413"/>
          </a:solidFill>
          <a:ln>
            <a:noFill/>
          </a:ln>
        </p:spPr>
        <p:txBody>
          <a:bodyPr rtlCol="0" anchor="ctr"/>
          <a:lstStyle/>
          <a:p>
            <a:pPr algn="ctr"/>
          </a:p>
        </p:txBody>
      </p:sp>
      <p:sp>
        <p:nvSpPr>
          <p:cNvPr id="65" name="Rectangle 64"/>
          <p:cNvSpPr/>
          <p:nvPr/>
        </p:nvSpPr>
        <p:spPr>
          <a:xfrm>
            <a:off x="7641184" y="4038854"/>
            <a:ext cx="128016" cy="128016"/>
          </a:xfrm>
          <a:prstGeom prst="rect">
            <a:avLst/>
          </a:prstGeom>
          <a:solidFill>
            <a:srgbClr val="FAF9F5"/>
          </a:solidFill>
          <a:ln>
            <a:noFill/>
          </a:ln>
        </p:spPr>
        <p:txBody>
          <a:bodyPr rtlCol="0" anchor="ctr"/>
          <a:lstStyle/>
          <a:p>
            <a:pPr algn="ctr"/>
          </a:p>
        </p:txBody>
      </p:sp>
      <p:sp>
        <p:nvSpPr>
          <p:cNvPr id="66" name="Rectangle 65"/>
          <p:cNvSpPr/>
          <p:nvPr/>
        </p:nvSpPr>
        <p:spPr>
          <a:xfrm>
            <a:off x="7897216" y="4038854"/>
            <a:ext cx="128016" cy="128016"/>
          </a:xfrm>
          <a:prstGeom prst="rect">
            <a:avLst/>
          </a:prstGeom>
          <a:solidFill>
            <a:srgbClr val="FAF9F5"/>
          </a:solidFill>
          <a:ln>
            <a:noFill/>
          </a:ln>
        </p:spPr>
        <p:txBody>
          <a:bodyPr rtlCol="0" anchor="ctr"/>
          <a:lstStyle/>
          <a:p>
            <a:pPr algn="ctr"/>
          </a:p>
        </p:txBody>
      </p:sp>
      <p:sp>
        <p:nvSpPr>
          <p:cNvPr id="67" name="Rectangle 66"/>
          <p:cNvSpPr/>
          <p:nvPr/>
        </p:nvSpPr>
        <p:spPr>
          <a:xfrm>
            <a:off x="8153248" y="4038854"/>
            <a:ext cx="128016" cy="128016"/>
          </a:xfrm>
          <a:prstGeom prst="rect">
            <a:avLst/>
          </a:prstGeom>
          <a:solidFill>
            <a:srgbClr val="FAF9F5"/>
          </a:solidFill>
          <a:ln>
            <a:noFill/>
          </a:ln>
        </p:spPr>
        <p:txBody>
          <a:bodyPr rtlCol="0" anchor="ctr"/>
          <a:lstStyle/>
          <a:p>
            <a:pPr algn="ctr"/>
          </a:p>
        </p:txBody>
      </p:sp>
      <p:sp>
        <p:nvSpPr>
          <p:cNvPr id="68" name="Rectangle 67"/>
          <p:cNvSpPr/>
          <p:nvPr/>
        </p:nvSpPr>
        <p:spPr>
          <a:xfrm>
            <a:off x="8409280" y="4038854"/>
            <a:ext cx="128016" cy="128016"/>
          </a:xfrm>
          <a:prstGeom prst="rect">
            <a:avLst/>
          </a:prstGeom>
          <a:solidFill>
            <a:srgbClr val="FAF9F5"/>
          </a:solidFill>
          <a:ln>
            <a:noFill/>
          </a:ln>
        </p:spPr>
        <p:txBody>
          <a:bodyPr rtlCol="0" anchor="ctr"/>
          <a:lstStyle/>
          <a:p>
            <a:pPr algn="ctr"/>
          </a:p>
        </p:txBody>
      </p:sp>
      <p:sp>
        <p:nvSpPr>
          <p:cNvPr id="69" name="Rectangle 68"/>
          <p:cNvSpPr/>
          <p:nvPr/>
        </p:nvSpPr>
        <p:spPr>
          <a:xfrm>
            <a:off x="7641184" y="4294886"/>
            <a:ext cx="128016" cy="128016"/>
          </a:xfrm>
          <a:prstGeom prst="rect">
            <a:avLst/>
          </a:prstGeom>
          <a:solidFill>
            <a:srgbClr val="FAF9F5"/>
          </a:solidFill>
          <a:ln>
            <a:noFill/>
          </a:ln>
        </p:spPr>
        <p:txBody>
          <a:bodyPr rtlCol="0" anchor="ctr"/>
          <a:lstStyle/>
          <a:p>
            <a:pPr algn="ctr"/>
          </a:p>
        </p:txBody>
      </p:sp>
      <p:sp>
        <p:nvSpPr>
          <p:cNvPr id="70" name="Rectangle 69"/>
          <p:cNvSpPr/>
          <p:nvPr/>
        </p:nvSpPr>
        <p:spPr>
          <a:xfrm>
            <a:off x="7897216" y="4294886"/>
            <a:ext cx="128016" cy="128016"/>
          </a:xfrm>
          <a:prstGeom prst="rect">
            <a:avLst/>
          </a:prstGeom>
          <a:solidFill>
            <a:srgbClr val="FAF9F5"/>
          </a:solidFill>
          <a:ln>
            <a:noFill/>
          </a:ln>
        </p:spPr>
        <p:txBody>
          <a:bodyPr rtlCol="0" anchor="ctr"/>
          <a:lstStyle/>
          <a:p>
            <a:pPr algn="ctr"/>
          </a:p>
        </p:txBody>
      </p:sp>
      <p:sp>
        <p:nvSpPr>
          <p:cNvPr id="71" name="Rectangle 70"/>
          <p:cNvSpPr/>
          <p:nvPr/>
        </p:nvSpPr>
        <p:spPr>
          <a:xfrm>
            <a:off x="8153248" y="4294886"/>
            <a:ext cx="128016" cy="128016"/>
          </a:xfrm>
          <a:prstGeom prst="rect">
            <a:avLst/>
          </a:prstGeom>
          <a:solidFill>
            <a:srgbClr val="FAF9F5"/>
          </a:solidFill>
          <a:ln>
            <a:noFill/>
          </a:ln>
        </p:spPr>
        <p:txBody>
          <a:bodyPr rtlCol="0" anchor="ctr"/>
          <a:lstStyle/>
          <a:p>
            <a:pPr algn="ctr"/>
          </a:p>
        </p:txBody>
      </p:sp>
      <p:sp>
        <p:nvSpPr>
          <p:cNvPr id="72" name="Rectangle 71"/>
          <p:cNvSpPr/>
          <p:nvPr/>
        </p:nvSpPr>
        <p:spPr>
          <a:xfrm>
            <a:off x="8409280" y="4294886"/>
            <a:ext cx="128016" cy="128016"/>
          </a:xfrm>
          <a:prstGeom prst="rect">
            <a:avLst/>
          </a:prstGeom>
          <a:solidFill>
            <a:srgbClr val="FAF9F5"/>
          </a:solidFill>
          <a:ln>
            <a:noFill/>
          </a:ln>
        </p:spPr>
        <p:txBody>
          <a:bodyPr rtlCol="0" anchor="ctr"/>
          <a:lstStyle/>
          <a:p>
            <a:pPr algn="ctr"/>
          </a:p>
        </p:txBody>
      </p:sp>
      <p:sp>
        <p:nvSpPr>
          <p:cNvPr id="73" name="Rectangle 72"/>
          <p:cNvSpPr/>
          <p:nvPr/>
        </p:nvSpPr>
        <p:spPr>
          <a:xfrm>
            <a:off x="7641184" y="4550918"/>
            <a:ext cx="128016" cy="128016"/>
          </a:xfrm>
          <a:prstGeom prst="rect">
            <a:avLst/>
          </a:prstGeom>
          <a:solidFill>
            <a:srgbClr val="FAF9F5"/>
          </a:solidFill>
          <a:ln>
            <a:noFill/>
          </a:ln>
        </p:spPr>
        <p:txBody>
          <a:bodyPr rtlCol="0" anchor="ctr"/>
          <a:lstStyle/>
          <a:p>
            <a:pPr algn="ctr"/>
          </a:p>
        </p:txBody>
      </p:sp>
      <p:sp>
        <p:nvSpPr>
          <p:cNvPr id="74" name="Rectangle 73"/>
          <p:cNvSpPr/>
          <p:nvPr/>
        </p:nvSpPr>
        <p:spPr>
          <a:xfrm>
            <a:off x="7897216" y="4550918"/>
            <a:ext cx="128016" cy="128016"/>
          </a:xfrm>
          <a:prstGeom prst="rect">
            <a:avLst/>
          </a:prstGeom>
          <a:solidFill>
            <a:srgbClr val="FAF9F5"/>
          </a:solidFill>
          <a:ln>
            <a:noFill/>
          </a:ln>
        </p:spPr>
        <p:txBody>
          <a:bodyPr rtlCol="0" anchor="ctr"/>
          <a:lstStyle/>
          <a:p>
            <a:pPr algn="ctr"/>
          </a:p>
        </p:txBody>
      </p:sp>
      <p:sp>
        <p:nvSpPr>
          <p:cNvPr id="75" name="Rectangle 74"/>
          <p:cNvSpPr/>
          <p:nvPr/>
        </p:nvSpPr>
        <p:spPr>
          <a:xfrm>
            <a:off x="8153248" y="4550918"/>
            <a:ext cx="128016" cy="128016"/>
          </a:xfrm>
          <a:prstGeom prst="rect">
            <a:avLst/>
          </a:prstGeom>
          <a:solidFill>
            <a:srgbClr val="FAF9F5"/>
          </a:solidFill>
          <a:ln>
            <a:noFill/>
          </a:ln>
        </p:spPr>
        <p:txBody>
          <a:bodyPr rtlCol="0" anchor="ctr"/>
          <a:lstStyle/>
          <a:p>
            <a:pPr algn="ctr"/>
          </a:p>
        </p:txBody>
      </p:sp>
      <p:sp>
        <p:nvSpPr>
          <p:cNvPr id="76" name="Rectangle 75"/>
          <p:cNvSpPr/>
          <p:nvPr/>
        </p:nvSpPr>
        <p:spPr>
          <a:xfrm>
            <a:off x="8409280" y="4550918"/>
            <a:ext cx="128016" cy="128016"/>
          </a:xfrm>
          <a:prstGeom prst="rect">
            <a:avLst/>
          </a:prstGeom>
          <a:solidFill>
            <a:srgbClr val="FAF9F5"/>
          </a:solidFill>
          <a:ln>
            <a:noFill/>
          </a:ln>
        </p:spPr>
        <p:txBody>
          <a:bodyPr rtlCol="0" anchor="ctr"/>
          <a:lstStyle/>
          <a:p>
            <a:pPr algn="ctr"/>
          </a:p>
        </p:txBody>
      </p:sp>
      <p:sp>
        <p:nvSpPr>
          <p:cNvPr id="77" name="Rectangle 76"/>
          <p:cNvSpPr/>
          <p:nvPr/>
        </p:nvSpPr>
        <p:spPr>
          <a:xfrm>
            <a:off x="7641184" y="4806950"/>
            <a:ext cx="128016" cy="128016"/>
          </a:xfrm>
          <a:prstGeom prst="rect">
            <a:avLst/>
          </a:prstGeom>
          <a:solidFill>
            <a:srgbClr val="FAF9F5"/>
          </a:solidFill>
          <a:ln>
            <a:noFill/>
          </a:ln>
        </p:spPr>
        <p:txBody>
          <a:bodyPr rtlCol="0" anchor="ctr"/>
          <a:lstStyle/>
          <a:p>
            <a:pPr algn="ctr"/>
          </a:p>
        </p:txBody>
      </p:sp>
      <p:sp>
        <p:nvSpPr>
          <p:cNvPr id="78" name="Rectangle 77"/>
          <p:cNvSpPr/>
          <p:nvPr/>
        </p:nvSpPr>
        <p:spPr>
          <a:xfrm>
            <a:off x="7897216" y="4806950"/>
            <a:ext cx="128016" cy="128016"/>
          </a:xfrm>
          <a:prstGeom prst="rect">
            <a:avLst/>
          </a:prstGeom>
          <a:solidFill>
            <a:srgbClr val="FAF9F5"/>
          </a:solidFill>
          <a:ln>
            <a:noFill/>
          </a:ln>
        </p:spPr>
        <p:txBody>
          <a:bodyPr rtlCol="0" anchor="ctr"/>
          <a:lstStyle/>
          <a:p>
            <a:pPr algn="ctr"/>
          </a:p>
        </p:txBody>
      </p:sp>
      <p:sp>
        <p:nvSpPr>
          <p:cNvPr id="79" name="Rectangle 78"/>
          <p:cNvSpPr/>
          <p:nvPr/>
        </p:nvSpPr>
        <p:spPr>
          <a:xfrm>
            <a:off x="8153248" y="4806950"/>
            <a:ext cx="128016" cy="128016"/>
          </a:xfrm>
          <a:prstGeom prst="rect">
            <a:avLst/>
          </a:prstGeom>
          <a:solidFill>
            <a:srgbClr val="FAF9F5"/>
          </a:solidFill>
          <a:ln>
            <a:noFill/>
          </a:ln>
        </p:spPr>
        <p:txBody>
          <a:bodyPr rtlCol="0" anchor="ctr"/>
          <a:lstStyle/>
          <a:p>
            <a:pPr algn="ctr"/>
          </a:p>
        </p:txBody>
      </p:sp>
      <p:sp>
        <p:nvSpPr>
          <p:cNvPr id="80" name="Rectangle 79"/>
          <p:cNvSpPr/>
          <p:nvPr/>
        </p:nvSpPr>
        <p:spPr>
          <a:xfrm>
            <a:off x="8409280" y="4806950"/>
            <a:ext cx="128016" cy="128016"/>
          </a:xfrm>
          <a:prstGeom prst="rect">
            <a:avLst/>
          </a:prstGeom>
          <a:solidFill>
            <a:srgbClr val="FAF9F5"/>
          </a:solidFill>
          <a:ln>
            <a:noFill/>
          </a:ln>
        </p:spPr>
        <p:txBody>
          <a:bodyPr rtlCol="0" anchor="ctr"/>
          <a:lstStyle/>
          <a:p>
            <a:pPr algn="ctr"/>
          </a:p>
        </p:txBody>
      </p:sp>
      <p:sp>
        <p:nvSpPr>
          <p:cNvPr id="81" name="Chevron 80"/>
          <p:cNvSpPr/>
          <p:nvPr/>
        </p:nvSpPr>
        <p:spPr>
          <a:xfrm>
            <a:off x="9255557" y="4669790"/>
            <a:ext cx="146304" cy="310896"/>
          </a:xfrm>
          <a:prstGeom prst="chevron">
            <a:avLst/>
          </a:prstGeom>
          <a:solidFill>
            <a:srgbClr val="141413"/>
          </a:solidFill>
          <a:ln>
            <a:noFill/>
          </a:ln>
        </p:spPr>
        <p:txBody>
          <a:bodyPr rtlCol="0" anchor="ctr"/>
          <a:lstStyle/>
          <a:p>
            <a:pPr algn="ctr"/>
          </a:p>
        </p:txBody>
      </p:sp>
      <p:sp>
        <p:nvSpPr>
          <p:cNvPr id="82" name="TextBox 81"/>
          <p:cNvSpPr txBox="1"/>
          <p:nvPr/>
        </p:nvSpPr>
        <p:spPr>
          <a:xfrm>
            <a:off x="7188098" y="5401310"/>
            <a:ext cx="1976018" cy="871474"/>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41413"/>
                </a:solidFill>
                <a:latin typeface="Apple SD Gothic Neo"/>
                <a:ea typeface="Apple SD Gothic Neo"/>
              </a:rPr>
              <a:t>Tier 2 (Series A 투자 유치 후)</a:t>
            </a:r>
          </a:p>
          <a:p>
            <a:pPr algn="l">
              <a:lnSpc>
                <a:spcPts val="1562"/>
              </a:lnSpc>
              <a:spcBef>
                <a:spcPts val="400"/>
              </a:spcBef>
              <a:spcAft>
                <a:spcPts val="0"/>
              </a:spcAft>
            </a:pPr>
            <a:r>
              <a:rPr sz="1100" b="0" i="0">
                <a:solidFill>
                  <a:srgbClr val="5C5B56"/>
                </a:solidFill>
                <a:latin typeface="Apple SD Gothic Neo"/>
                <a:ea typeface="Apple SD Gothic Neo"/>
              </a:rPr>
              <a:t>2.2 특허 후보 발굴과 연구 노트 평가로 Series A 투자를 받으면 중형 연구 빌딩으로 증축</a:t>
            </a:r>
          </a:p>
        </p:txBody>
      </p:sp>
      <p:sp>
        <p:nvSpPr>
          <p:cNvPr id="83" name="Rectangle 82"/>
          <p:cNvSpPr/>
          <p:nvPr/>
        </p:nvSpPr>
        <p:spPr>
          <a:xfrm>
            <a:off x="9438437" y="5218430"/>
            <a:ext cx="2067458" cy="45720"/>
          </a:xfrm>
          <a:prstGeom prst="rect">
            <a:avLst/>
          </a:prstGeom>
          <a:solidFill>
            <a:srgbClr val="CFCDC4"/>
          </a:solidFill>
          <a:ln>
            <a:noFill/>
          </a:ln>
        </p:spPr>
        <p:txBody>
          <a:bodyPr rtlCol="0" anchor="ctr"/>
          <a:lstStyle/>
          <a:p>
            <a:pPr algn="ctr"/>
          </a:p>
        </p:txBody>
      </p:sp>
      <p:sp>
        <p:nvSpPr>
          <p:cNvPr id="84" name="Rectangle 83"/>
          <p:cNvSpPr/>
          <p:nvPr/>
        </p:nvSpPr>
        <p:spPr>
          <a:xfrm>
            <a:off x="9649206" y="3252470"/>
            <a:ext cx="1645920" cy="1965960"/>
          </a:xfrm>
          <a:prstGeom prst="rect">
            <a:avLst/>
          </a:prstGeom>
          <a:solidFill>
            <a:srgbClr val="1E3A1E"/>
          </a:solidFill>
          <a:ln>
            <a:noFill/>
          </a:ln>
        </p:spPr>
        <p:txBody>
          <a:bodyPr rtlCol="0" anchor="ctr"/>
          <a:lstStyle/>
          <a:p>
            <a:pPr algn="ctr"/>
          </a:p>
        </p:txBody>
      </p:sp>
      <p:sp>
        <p:nvSpPr>
          <p:cNvPr id="85" name="Isosceles Triangle 84"/>
          <p:cNvSpPr/>
          <p:nvPr/>
        </p:nvSpPr>
        <p:spPr>
          <a:xfrm>
            <a:off x="9576054" y="3033014"/>
            <a:ext cx="1792224" cy="219456"/>
          </a:xfrm>
          <a:prstGeom prst="triangle">
            <a:avLst/>
          </a:prstGeom>
          <a:solidFill>
            <a:srgbClr val="141413"/>
          </a:solidFill>
          <a:ln>
            <a:noFill/>
          </a:ln>
        </p:spPr>
        <p:txBody>
          <a:bodyPr rtlCol="0" anchor="ctr"/>
          <a:lstStyle/>
          <a:p>
            <a:pPr algn="ctr"/>
          </a:p>
        </p:txBody>
      </p:sp>
      <p:sp>
        <p:nvSpPr>
          <p:cNvPr id="86" name="Rectangle 85"/>
          <p:cNvSpPr/>
          <p:nvPr/>
        </p:nvSpPr>
        <p:spPr>
          <a:xfrm>
            <a:off x="9777222" y="3398774"/>
            <a:ext cx="128016" cy="128016"/>
          </a:xfrm>
          <a:prstGeom prst="rect">
            <a:avLst/>
          </a:prstGeom>
          <a:solidFill>
            <a:srgbClr val="FFFFFF"/>
          </a:solidFill>
          <a:ln>
            <a:noFill/>
          </a:ln>
        </p:spPr>
        <p:txBody>
          <a:bodyPr rtlCol="0" anchor="ctr"/>
          <a:lstStyle/>
          <a:p>
            <a:pPr algn="ctr"/>
          </a:p>
        </p:txBody>
      </p:sp>
      <p:sp>
        <p:nvSpPr>
          <p:cNvPr id="87" name="Rectangle 86"/>
          <p:cNvSpPr/>
          <p:nvPr/>
        </p:nvSpPr>
        <p:spPr>
          <a:xfrm>
            <a:off x="10033254" y="3398774"/>
            <a:ext cx="128016" cy="128016"/>
          </a:xfrm>
          <a:prstGeom prst="rect">
            <a:avLst/>
          </a:prstGeom>
          <a:solidFill>
            <a:srgbClr val="FFFFFF"/>
          </a:solidFill>
          <a:ln>
            <a:noFill/>
          </a:ln>
        </p:spPr>
        <p:txBody>
          <a:bodyPr rtlCol="0" anchor="ctr"/>
          <a:lstStyle/>
          <a:p>
            <a:pPr algn="ctr"/>
          </a:p>
        </p:txBody>
      </p:sp>
      <p:sp>
        <p:nvSpPr>
          <p:cNvPr id="88" name="Rectangle 87"/>
          <p:cNvSpPr/>
          <p:nvPr/>
        </p:nvSpPr>
        <p:spPr>
          <a:xfrm>
            <a:off x="10289286" y="3398774"/>
            <a:ext cx="128016" cy="128016"/>
          </a:xfrm>
          <a:prstGeom prst="rect">
            <a:avLst/>
          </a:prstGeom>
          <a:solidFill>
            <a:srgbClr val="FFFFFF"/>
          </a:solidFill>
          <a:ln>
            <a:noFill/>
          </a:ln>
        </p:spPr>
        <p:txBody>
          <a:bodyPr rtlCol="0" anchor="ctr"/>
          <a:lstStyle/>
          <a:p>
            <a:pPr algn="ctr"/>
          </a:p>
        </p:txBody>
      </p:sp>
      <p:sp>
        <p:nvSpPr>
          <p:cNvPr id="89" name="Rectangle 88"/>
          <p:cNvSpPr/>
          <p:nvPr/>
        </p:nvSpPr>
        <p:spPr>
          <a:xfrm>
            <a:off x="10545318" y="3398774"/>
            <a:ext cx="128016" cy="128016"/>
          </a:xfrm>
          <a:prstGeom prst="rect">
            <a:avLst/>
          </a:prstGeom>
          <a:solidFill>
            <a:srgbClr val="FFFFFF"/>
          </a:solidFill>
          <a:ln>
            <a:noFill/>
          </a:ln>
        </p:spPr>
        <p:txBody>
          <a:bodyPr rtlCol="0" anchor="ctr"/>
          <a:lstStyle/>
          <a:p>
            <a:pPr algn="ctr"/>
          </a:p>
        </p:txBody>
      </p:sp>
      <p:sp>
        <p:nvSpPr>
          <p:cNvPr id="90" name="Rectangle 89"/>
          <p:cNvSpPr/>
          <p:nvPr/>
        </p:nvSpPr>
        <p:spPr>
          <a:xfrm>
            <a:off x="10801350" y="3398774"/>
            <a:ext cx="128016" cy="128016"/>
          </a:xfrm>
          <a:prstGeom prst="rect">
            <a:avLst/>
          </a:prstGeom>
          <a:solidFill>
            <a:srgbClr val="FFFFFF"/>
          </a:solidFill>
          <a:ln>
            <a:noFill/>
          </a:ln>
        </p:spPr>
        <p:txBody>
          <a:bodyPr rtlCol="0" anchor="ctr"/>
          <a:lstStyle/>
          <a:p>
            <a:pPr algn="ctr"/>
          </a:p>
        </p:txBody>
      </p:sp>
      <p:sp>
        <p:nvSpPr>
          <p:cNvPr id="91" name="Rectangle 90"/>
          <p:cNvSpPr/>
          <p:nvPr/>
        </p:nvSpPr>
        <p:spPr>
          <a:xfrm>
            <a:off x="9777222" y="3654806"/>
            <a:ext cx="128016" cy="128016"/>
          </a:xfrm>
          <a:prstGeom prst="rect">
            <a:avLst/>
          </a:prstGeom>
          <a:solidFill>
            <a:srgbClr val="FFFFFF"/>
          </a:solidFill>
          <a:ln>
            <a:noFill/>
          </a:ln>
        </p:spPr>
        <p:txBody>
          <a:bodyPr rtlCol="0" anchor="ctr"/>
          <a:lstStyle/>
          <a:p>
            <a:pPr algn="ctr"/>
          </a:p>
        </p:txBody>
      </p:sp>
      <p:sp>
        <p:nvSpPr>
          <p:cNvPr id="92" name="Rectangle 91"/>
          <p:cNvSpPr/>
          <p:nvPr/>
        </p:nvSpPr>
        <p:spPr>
          <a:xfrm>
            <a:off x="10033254" y="3654806"/>
            <a:ext cx="128016" cy="128016"/>
          </a:xfrm>
          <a:prstGeom prst="rect">
            <a:avLst/>
          </a:prstGeom>
          <a:solidFill>
            <a:srgbClr val="FFFFFF"/>
          </a:solidFill>
          <a:ln>
            <a:noFill/>
          </a:ln>
        </p:spPr>
        <p:txBody>
          <a:bodyPr rtlCol="0" anchor="ctr"/>
          <a:lstStyle/>
          <a:p>
            <a:pPr algn="ctr"/>
          </a:p>
        </p:txBody>
      </p:sp>
      <p:sp>
        <p:nvSpPr>
          <p:cNvPr id="93" name="Rectangle 92"/>
          <p:cNvSpPr/>
          <p:nvPr/>
        </p:nvSpPr>
        <p:spPr>
          <a:xfrm>
            <a:off x="10289286" y="3654806"/>
            <a:ext cx="128016" cy="128016"/>
          </a:xfrm>
          <a:prstGeom prst="rect">
            <a:avLst/>
          </a:prstGeom>
          <a:solidFill>
            <a:srgbClr val="FFFFFF"/>
          </a:solidFill>
          <a:ln>
            <a:noFill/>
          </a:ln>
        </p:spPr>
        <p:txBody>
          <a:bodyPr rtlCol="0" anchor="ctr"/>
          <a:lstStyle/>
          <a:p>
            <a:pPr algn="ctr"/>
          </a:p>
        </p:txBody>
      </p:sp>
      <p:sp>
        <p:nvSpPr>
          <p:cNvPr id="94" name="Rectangle 93"/>
          <p:cNvSpPr/>
          <p:nvPr/>
        </p:nvSpPr>
        <p:spPr>
          <a:xfrm>
            <a:off x="10545318" y="3654806"/>
            <a:ext cx="128016" cy="128016"/>
          </a:xfrm>
          <a:prstGeom prst="rect">
            <a:avLst/>
          </a:prstGeom>
          <a:solidFill>
            <a:srgbClr val="FFFFFF"/>
          </a:solidFill>
          <a:ln>
            <a:noFill/>
          </a:ln>
        </p:spPr>
        <p:txBody>
          <a:bodyPr rtlCol="0" anchor="ctr"/>
          <a:lstStyle/>
          <a:p>
            <a:pPr algn="ctr"/>
          </a:p>
        </p:txBody>
      </p:sp>
      <p:sp>
        <p:nvSpPr>
          <p:cNvPr id="95" name="Rectangle 94"/>
          <p:cNvSpPr/>
          <p:nvPr/>
        </p:nvSpPr>
        <p:spPr>
          <a:xfrm>
            <a:off x="10801350" y="3654806"/>
            <a:ext cx="128016" cy="128016"/>
          </a:xfrm>
          <a:prstGeom prst="rect">
            <a:avLst/>
          </a:prstGeom>
          <a:solidFill>
            <a:srgbClr val="FFFFFF"/>
          </a:solidFill>
          <a:ln>
            <a:noFill/>
          </a:ln>
        </p:spPr>
        <p:txBody>
          <a:bodyPr rtlCol="0" anchor="ctr"/>
          <a:lstStyle/>
          <a:p>
            <a:pPr algn="ctr"/>
          </a:p>
        </p:txBody>
      </p:sp>
      <p:sp>
        <p:nvSpPr>
          <p:cNvPr id="96" name="Rectangle 95"/>
          <p:cNvSpPr/>
          <p:nvPr/>
        </p:nvSpPr>
        <p:spPr>
          <a:xfrm>
            <a:off x="9777222" y="3910838"/>
            <a:ext cx="128016" cy="128016"/>
          </a:xfrm>
          <a:prstGeom prst="rect">
            <a:avLst/>
          </a:prstGeom>
          <a:solidFill>
            <a:srgbClr val="FFFFFF"/>
          </a:solidFill>
          <a:ln>
            <a:noFill/>
          </a:ln>
        </p:spPr>
        <p:txBody>
          <a:bodyPr rtlCol="0" anchor="ctr"/>
          <a:lstStyle/>
          <a:p>
            <a:pPr algn="ctr"/>
          </a:p>
        </p:txBody>
      </p:sp>
      <p:sp>
        <p:nvSpPr>
          <p:cNvPr id="97" name="Rectangle 96"/>
          <p:cNvSpPr/>
          <p:nvPr/>
        </p:nvSpPr>
        <p:spPr>
          <a:xfrm>
            <a:off x="10033254" y="3910838"/>
            <a:ext cx="128016" cy="128016"/>
          </a:xfrm>
          <a:prstGeom prst="rect">
            <a:avLst/>
          </a:prstGeom>
          <a:solidFill>
            <a:srgbClr val="FFFFFF"/>
          </a:solidFill>
          <a:ln>
            <a:noFill/>
          </a:ln>
        </p:spPr>
        <p:txBody>
          <a:bodyPr rtlCol="0" anchor="ctr"/>
          <a:lstStyle/>
          <a:p>
            <a:pPr algn="ctr"/>
          </a:p>
        </p:txBody>
      </p:sp>
      <p:sp>
        <p:nvSpPr>
          <p:cNvPr id="98" name="Rectangle 97"/>
          <p:cNvSpPr/>
          <p:nvPr/>
        </p:nvSpPr>
        <p:spPr>
          <a:xfrm>
            <a:off x="10289286" y="3910838"/>
            <a:ext cx="128016" cy="128016"/>
          </a:xfrm>
          <a:prstGeom prst="rect">
            <a:avLst/>
          </a:prstGeom>
          <a:solidFill>
            <a:srgbClr val="FFFFFF"/>
          </a:solidFill>
          <a:ln>
            <a:noFill/>
          </a:ln>
        </p:spPr>
        <p:txBody>
          <a:bodyPr rtlCol="0" anchor="ctr"/>
          <a:lstStyle/>
          <a:p>
            <a:pPr algn="ctr"/>
          </a:p>
        </p:txBody>
      </p:sp>
      <p:sp>
        <p:nvSpPr>
          <p:cNvPr id="99" name="Rectangle 98"/>
          <p:cNvSpPr/>
          <p:nvPr/>
        </p:nvSpPr>
        <p:spPr>
          <a:xfrm>
            <a:off x="10545318" y="3910838"/>
            <a:ext cx="128016" cy="128016"/>
          </a:xfrm>
          <a:prstGeom prst="rect">
            <a:avLst/>
          </a:prstGeom>
          <a:solidFill>
            <a:srgbClr val="FFFFFF"/>
          </a:solidFill>
          <a:ln>
            <a:noFill/>
          </a:ln>
        </p:spPr>
        <p:txBody>
          <a:bodyPr rtlCol="0" anchor="ctr"/>
          <a:lstStyle/>
          <a:p>
            <a:pPr algn="ctr"/>
          </a:p>
        </p:txBody>
      </p:sp>
      <p:sp>
        <p:nvSpPr>
          <p:cNvPr id="100" name="Rectangle 99"/>
          <p:cNvSpPr/>
          <p:nvPr/>
        </p:nvSpPr>
        <p:spPr>
          <a:xfrm>
            <a:off x="10801350" y="3910838"/>
            <a:ext cx="128016" cy="128016"/>
          </a:xfrm>
          <a:prstGeom prst="rect">
            <a:avLst/>
          </a:prstGeom>
          <a:solidFill>
            <a:srgbClr val="FFFFFF"/>
          </a:solidFill>
          <a:ln>
            <a:noFill/>
          </a:ln>
        </p:spPr>
        <p:txBody>
          <a:bodyPr rtlCol="0" anchor="ctr"/>
          <a:lstStyle/>
          <a:p>
            <a:pPr algn="ctr"/>
          </a:p>
        </p:txBody>
      </p:sp>
      <p:sp>
        <p:nvSpPr>
          <p:cNvPr id="101" name="Rectangle 100"/>
          <p:cNvSpPr/>
          <p:nvPr/>
        </p:nvSpPr>
        <p:spPr>
          <a:xfrm>
            <a:off x="9777222" y="4166870"/>
            <a:ext cx="128016" cy="128016"/>
          </a:xfrm>
          <a:prstGeom prst="rect">
            <a:avLst/>
          </a:prstGeom>
          <a:solidFill>
            <a:srgbClr val="FFFFFF"/>
          </a:solidFill>
          <a:ln>
            <a:noFill/>
          </a:ln>
        </p:spPr>
        <p:txBody>
          <a:bodyPr rtlCol="0" anchor="ctr"/>
          <a:lstStyle/>
          <a:p>
            <a:pPr algn="ctr"/>
          </a:p>
        </p:txBody>
      </p:sp>
      <p:sp>
        <p:nvSpPr>
          <p:cNvPr id="102" name="Rectangle 101"/>
          <p:cNvSpPr/>
          <p:nvPr/>
        </p:nvSpPr>
        <p:spPr>
          <a:xfrm>
            <a:off x="10033254" y="4166870"/>
            <a:ext cx="128016" cy="128016"/>
          </a:xfrm>
          <a:prstGeom prst="rect">
            <a:avLst/>
          </a:prstGeom>
          <a:solidFill>
            <a:srgbClr val="FFFFFF"/>
          </a:solidFill>
          <a:ln>
            <a:noFill/>
          </a:ln>
        </p:spPr>
        <p:txBody>
          <a:bodyPr rtlCol="0" anchor="ctr"/>
          <a:lstStyle/>
          <a:p>
            <a:pPr algn="ctr"/>
          </a:p>
        </p:txBody>
      </p:sp>
      <p:sp>
        <p:nvSpPr>
          <p:cNvPr id="103" name="Rectangle 102"/>
          <p:cNvSpPr/>
          <p:nvPr/>
        </p:nvSpPr>
        <p:spPr>
          <a:xfrm>
            <a:off x="10289286" y="4166870"/>
            <a:ext cx="128016" cy="128016"/>
          </a:xfrm>
          <a:prstGeom prst="rect">
            <a:avLst/>
          </a:prstGeom>
          <a:solidFill>
            <a:srgbClr val="FFFFFF"/>
          </a:solidFill>
          <a:ln>
            <a:noFill/>
          </a:ln>
        </p:spPr>
        <p:txBody>
          <a:bodyPr rtlCol="0" anchor="ctr"/>
          <a:lstStyle/>
          <a:p>
            <a:pPr algn="ctr"/>
          </a:p>
        </p:txBody>
      </p:sp>
      <p:sp>
        <p:nvSpPr>
          <p:cNvPr id="104" name="Rectangle 103"/>
          <p:cNvSpPr/>
          <p:nvPr/>
        </p:nvSpPr>
        <p:spPr>
          <a:xfrm>
            <a:off x="10545318" y="4166870"/>
            <a:ext cx="128016" cy="128016"/>
          </a:xfrm>
          <a:prstGeom prst="rect">
            <a:avLst/>
          </a:prstGeom>
          <a:solidFill>
            <a:srgbClr val="FFFFFF"/>
          </a:solidFill>
          <a:ln>
            <a:noFill/>
          </a:ln>
        </p:spPr>
        <p:txBody>
          <a:bodyPr rtlCol="0" anchor="ctr"/>
          <a:lstStyle/>
          <a:p>
            <a:pPr algn="ctr"/>
          </a:p>
        </p:txBody>
      </p:sp>
      <p:sp>
        <p:nvSpPr>
          <p:cNvPr id="105" name="Rectangle 104"/>
          <p:cNvSpPr/>
          <p:nvPr/>
        </p:nvSpPr>
        <p:spPr>
          <a:xfrm>
            <a:off x="10801350" y="4166870"/>
            <a:ext cx="128016" cy="128016"/>
          </a:xfrm>
          <a:prstGeom prst="rect">
            <a:avLst/>
          </a:prstGeom>
          <a:solidFill>
            <a:srgbClr val="FFFFFF"/>
          </a:solidFill>
          <a:ln>
            <a:noFill/>
          </a:ln>
        </p:spPr>
        <p:txBody>
          <a:bodyPr rtlCol="0" anchor="ctr"/>
          <a:lstStyle/>
          <a:p>
            <a:pPr algn="ctr"/>
          </a:p>
        </p:txBody>
      </p:sp>
      <p:sp>
        <p:nvSpPr>
          <p:cNvPr id="106" name="Rectangle 105"/>
          <p:cNvSpPr/>
          <p:nvPr/>
        </p:nvSpPr>
        <p:spPr>
          <a:xfrm>
            <a:off x="9777222" y="4422902"/>
            <a:ext cx="128016" cy="128016"/>
          </a:xfrm>
          <a:prstGeom prst="rect">
            <a:avLst/>
          </a:prstGeom>
          <a:solidFill>
            <a:srgbClr val="FFFFFF"/>
          </a:solidFill>
          <a:ln>
            <a:noFill/>
          </a:ln>
        </p:spPr>
        <p:txBody>
          <a:bodyPr rtlCol="0" anchor="ctr"/>
          <a:lstStyle/>
          <a:p>
            <a:pPr algn="ctr"/>
          </a:p>
        </p:txBody>
      </p:sp>
      <p:sp>
        <p:nvSpPr>
          <p:cNvPr id="107" name="Rectangle 106"/>
          <p:cNvSpPr/>
          <p:nvPr/>
        </p:nvSpPr>
        <p:spPr>
          <a:xfrm>
            <a:off x="10033254" y="4422902"/>
            <a:ext cx="128016" cy="128016"/>
          </a:xfrm>
          <a:prstGeom prst="rect">
            <a:avLst/>
          </a:prstGeom>
          <a:solidFill>
            <a:srgbClr val="FFFFFF"/>
          </a:solidFill>
          <a:ln>
            <a:noFill/>
          </a:ln>
        </p:spPr>
        <p:txBody>
          <a:bodyPr rtlCol="0" anchor="ctr"/>
          <a:lstStyle/>
          <a:p>
            <a:pPr algn="ctr"/>
          </a:p>
        </p:txBody>
      </p:sp>
      <p:sp>
        <p:nvSpPr>
          <p:cNvPr id="108" name="Rectangle 107"/>
          <p:cNvSpPr/>
          <p:nvPr/>
        </p:nvSpPr>
        <p:spPr>
          <a:xfrm>
            <a:off x="10289286" y="4422902"/>
            <a:ext cx="128016" cy="128016"/>
          </a:xfrm>
          <a:prstGeom prst="rect">
            <a:avLst/>
          </a:prstGeom>
          <a:solidFill>
            <a:srgbClr val="FFFFFF"/>
          </a:solidFill>
          <a:ln>
            <a:noFill/>
          </a:ln>
        </p:spPr>
        <p:txBody>
          <a:bodyPr rtlCol="0" anchor="ctr"/>
          <a:lstStyle/>
          <a:p>
            <a:pPr algn="ctr"/>
          </a:p>
        </p:txBody>
      </p:sp>
      <p:sp>
        <p:nvSpPr>
          <p:cNvPr id="109" name="Rectangle 108"/>
          <p:cNvSpPr/>
          <p:nvPr/>
        </p:nvSpPr>
        <p:spPr>
          <a:xfrm>
            <a:off x="10545318" y="4422902"/>
            <a:ext cx="128016" cy="128016"/>
          </a:xfrm>
          <a:prstGeom prst="rect">
            <a:avLst/>
          </a:prstGeom>
          <a:solidFill>
            <a:srgbClr val="FFFFFF"/>
          </a:solidFill>
          <a:ln>
            <a:noFill/>
          </a:ln>
        </p:spPr>
        <p:txBody>
          <a:bodyPr rtlCol="0" anchor="ctr"/>
          <a:lstStyle/>
          <a:p>
            <a:pPr algn="ctr"/>
          </a:p>
        </p:txBody>
      </p:sp>
      <p:sp>
        <p:nvSpPr>
          <p:cNvPr id="110" name="Rectangle 109"/>
          <p:cNvSpPr/>
          <p:nvPr/>
        </p:nvSpPr>
        <p:spPr>
          <a:xfrm>
            <a:off x="10801350" y="4422902"/>
            <a:ext cx="128016" cy="128016"/>
          </a:xfrm>
          <a:prstGeom prst="rect">
            <a:avLst/>
          </a:prstGeom>
          <a:solidFill>
            <a:srgbClr val="FFFFFF"/>
          </a:solidFill>
          <a:ln>
            <a:noFill/>
          </a:ln>
        </p:spPr>
        <p:txBody>
          <a:bodyPr rtlCol="0" anchor="ctr"/>
          <a:lstStyle/>
          <a:p>
            <a:pPr algn="ctr"/>
          </a:p>
        </p:txBody>
      </p:sp>
      <p:sp>
        <p:nvSpPr>
          <p:cNvPr id="111" name="Rectangle 110"/>
          <p:cNvSpPr/>
          <p:nvPr/>
        </p:nvSpPr>
        <p:spPr>
          <a:xfrm>
            <a:off x="9777222" y="4678934"/>
            <a:ext cx="128016" cy="128016"/>
          </a:xfrm>
          <a:prstGeom prst="rect">
            <a:avLst/>
          </a:prstGeom>
          <a:solidFill>
            <a:srgbClr val="FFFFFF"/>
          </a:solidFill>
          <a:ln>
            <a:noFill/>
          </a:ln>
        </p:spPr>
        <p:txBody>
          <a:bodyPr rtlCol="0" anchor="ctr"/>
          <a:lstStyle/>
          <a:p>
            <a:pPr algn="ctr"/>
          </a:p>
        </p:txBody>
      </p:sp>
      <p:sp>
        <p:nvSpPr>
          <p:cNvPr id="112" name="Rectangle 111"/>
          <p:cNvSpPr/>
          <p:nvPr/>
        </p:nvSpPr>
        <p:spPr>
          <a:xfrm>
            <a:off x="10033254" y="4678934"/>
            <a:ext cx="128016" cy="128016"/>
          </a:xfrm>
          <a:prstGeom prst="rect">
            <a:avLst/>
          </a:prstGeom>
          <a:solidFill>
            <a:srgbClr val="FFFFFF"/>
          </a:solidFill>
          <a:ln>
            <a:noFill/>
          </a:ln>
        </p:spPr>
        <p:txBody>
          <a:bodyPr rtlCol="0" anchor="ctr"/>
          <a:lstStyle/>
          <a:p>
            <a:pPr algn="ctr"/>
          </a:p>
        </p:txBody>
      </p:sp>
      <p:sp>
        <p:nvSpPr>
          <p:cNvPr id="113" name="Rectangle 112"/>
          <p:cNvSpPr/>
          <p:nvPr/>
        </p:nvSpPr>
        <p:spPr>
          <a:xfrm>
            <a:off x="10289286" y="4678934"/>
            <a:ext cx="128016" cy="128016"/>
          </a:xfrm>
          <a:prstGeom prst="rect">
            <a:avLst/>
          </a:prstGeom>
          <a:solidFill>
            <a:srgbClr val="FFFFFF"/>
          </a:solidFill>
          <a:ln>
            <a:noFill/>
          </a:ln>
        </p:spPr>
        <p:txBody>
          <a:bodyPr rtlCol="0" anchor="ctr"/>
          <a:lstStyle/>
          <a:p>
            <a:pPr algn="ctr"/>
          </a:p>
        </p:txBody>
      </p:sp>
      <p:sp>
        <p:nvSpPr>
          <p:cNvPr id="114" name="Rectangle 113"/>
          <p:cNvSpPr/>
          <p:nvPr/>
        </p:nvSpPr>
        <p:spPr>
          <a:xfrm>
            <a:off x="10545318" y="4678934"/>
            <a:ext cx="128016" cy="128016"/>
          </a:xfrm>
          <a:prstGeom prst="rect">
            <a:avLst/>
          </a:prstGeom>
          <a:solidFill>
            <a:srgbClr val="FFFFFF"/>
          </a:solidFill>
          <a:ln>
            <a:noFill/>
          </a:ln>
        </p:spPr>
        <p:txBody>
          <a:bodyPr rtlCol="0" anchor="ctr"/>
          <a:lstStyle/>
          <a:p>
            <a:pPr algn="ctr"/>
          </a:p>
        </p:txBody>
      </p:sp>
      <p:sp>
        <p:nvSpPr>
          <p:cNvPr id="115" name="Rectangle 114"/>
          <p:cNvSpPr/>
          <p:nvPr/>
        </p:nvSpPr>
        <p:spPr>
          <a:xfrm>
            <a:off x="10801350" y="4678934"/>
            <a:ext cx="128016" cy="128016"/>
          </a:xfrm>
          <a:prstGeom prst="rect">
            <a:avLst/>
          </a:prstGeom>
          <a:solidFill>
            <a:srgbClr val="FFFFFF"/>
          </a:solidFill>
          <a:ln>
            <a:noFill/>
          </a:ln>
        </p:spPr>
        <p:txBody>
          <a:bodyPr rtlCol="0" anchor="ctr"/>
          <a:lstStyle/>
          <a:p>
            <a:pPr algn="ctr"/>
          </a:p>
        </p:txBody>
      </p:sp>
      <p:sp>
        <p:nvSpPr>
          <p:cNvPr id="116" name="TextBox 115"/>
          <p:cNvSpPr txBox="1"/>
          <p:nvPr/>
        </p:nvSpPr>
        <p:spPr>
          <a:xfrm>
            <a:off x="9484157" y="5401310"/>
            <a:ext cx="1976018" cy="871474"/>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41413"/>
                </a:solidFill>
                <a:latin typeface="Apple SD Gothic Neo"/>
                <a:ea typeface="Apple SD Gothic Neo"/>
              </a:rPr>
              <a:t>Tier 3 (신약 최종 허가)</a:t>
            </a:r>
          </a:p>
          <a:p>
            <a:pPr algn="l">
              <a:lnSpc>
                <a:spcPts val="1562"/>
              </a:lnSpc>
              <a:spcBef>
                <a:spcPts val="400"/>
              </a:spcBef>
              <a:spcAft>
                <a:spcPts val="0"/>
              </a:spcAft>
            </a:pPr>
            <a:r>
              <a:rPr sz="1100" b="0" i="0">
                <a:solidFill>
                  <a:srgbClr val="5C5B56"/>
                </a:solidFill>
                <a:latin typeface="Apple SD Gothic Neo"/>
                <a:ea typeface="Apple SD Gothic Neo"/>
              </a:rPr>
              <a:t>4.2 식약처·FDA 최종 허가를 통과하면 블록버스터 본사 사옥으로 완성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10 / 26</a:t>
            </a:r>
          </a:p>
        </p:txBody>
      </p:sp>
      <p:sp>
        <p:nvSpPr>
          <p:cNvPr id="7" name="Rounded Rectangle 6"/>
          <p:cNvSpPr/>
          <p:nvPr/>
        </p:nvSpPr>
        <p:spPr>
          <a:xfrm>
            <a:off x="457200" y="566928"/>
            <a:ext cx="2010866"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1736546"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2 · 본문 화면 구조</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전광판과 네 개의 둥근 섬으로 나뉜 작업 화면</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복잡한 테두리 선 없이 바탕색 차이와 간격으로 구역을 나누어, 지금 할 일과 모둠 공유 현황이 한눈에 들어옵니다.</a:t>
            </a:r>
          </a:p>
        </p:txBody>
      </p:sp>
      <p:sp>
        <p:nvSpPr>
          <p:cNvPr id="12" name="Rounded Rectangle 11"/>
          <p:cNvSpPr/>
          <p:nvPr/>
        </p:nvSpPr>
        <p:spPr>
          <a:xfrm>
            <a:off x="457200" y="1825498"/>
            <a:ext cx="11277295" cy="582359"/>
          </a:xfrm>
          <a:prstGeom prst="roundRect">
            <a:avLst>
              <a:gd name="adj" fmla="val 28263"/>
            </a:avLst>
          </a:prstGeom>
          <a:solidFill>
            <a:srgbClr val="FAF9F5"/>
          </a:solidFill>
          <a:ln w="9525">
            <a:solidFill>
              <a:srgbClr val="CFCDC4"/>
            </a:solidFill>
          </a:ln>
        </p:spPr>
        <p:txBody>
          <a:bodyPr rtlCol="0" anchor="ctr"/>
          <a:lstStyle/>
          <a:p>
            <a:pPr algn="ctr"/>
          </a:p>
        </p:txBody>
      </p:sp>
      <p:sp>
        <p:nvSpPr>
          <p:cNvPr id="13" name="TextBox 12"/>
          <p:cNvSpPr txBox="1"/>
          <p:nvPr/>
        </p:nvSpPr>
        <p:spPr>
          <a:xfrm>
            <a:off x="658368" y="1935226"/>
            <a:ext cx="2148840" cy="362903"/>
          </a:xfrm>
          <a:prstGeom prst="rect">
            <a:avLst/>
          </a:prstGeom>
          <a:noFill/>
        </p:spPr>
        <p:txBody>
          <a:bodyPr wrap="square" lIns="0" rIns="0" tIns="0" bIns="0" anchor="ctr">
            <a:noAutofit/>
          </a:bodyPr>
          <a:lstStyle/>
          <a:p>
            <a:pPr algn="l">
              <a:lnSpc>
                <a:spcPts val="1300"/>
              </a:lnSpc>
              <a:spcBef>
                <a:spcPts val="0"/>
              </a:spcBef>
              <a:spcAft>
                <a:spcPts val="0"/>
              </a:spcAft>
            </a:pPr>
            <a:r>
              <a:rPr sz="1000" b="1" i="0">
                <a:solidFill>
                  <a:srgbClr val="141413"/>
                </a:solidFill>
                <a:latin typeface="Menlo"/>
                <a:ea typeface="Apple SD Gothic Neo"/>
              </a:rPr>
              <a:t>맨 위 띠</a:t>
            </a:r>
          </a:p>
        </p:txBody>
      </p:sp>
      <p:sp>
        <p:nvSpPr>
          <p:cNvPr id="14" name="TextBox 13"/>
          <p:cNvSpPr txBox="1"/>
          <p:nvPr/>
        </p:nvSpPr>
        <p:spPr>
          <a:xfrm>
            <a:off x="2880360" y="1935226"/>
            <a:ext cx="8671255" cy="362903"/>
          </a:xfrm>
          <a:prstGeom prst="rect">
            <a:avLst/>
          </a:prstGeom>
          <a:noFill/>
        </p:spPr>
        <p:txBody>
          <a:bodyPr wrap="square" lIns="0" rIns="0" tIns="0" bIns="0" anchor="ctr">
            <a:noAutofit/>
          </a:bodyPr>
          <a:lstStyle/>
          <a:p>
            <a:pPr algn="l">
              <a:lnSpc>
                <a:spcPts val="1417"/>
              </a:lnSpc>
              <a:spcBef>
                <a:spcPts val="0"/>
              </a:spcBef>
              <a:spcAft>
                <a:spcPts val="0"/>
              </a:spcAft>
            </a:pPr>
            <a:r>
              <a:rPr sz="1050" b="0" i="0">
                <a:solidFill>
                  <a:srgbClr val="141413"/>
                </a:solidFill>
                <a:latin typeface="Apple SD Gothic Neo"/>
                <a:ea typeface="Apple SD Gothic Neo"/>
              </a:rPr>
              <a:t>스타트업 이름 · 티커 · 시가총액 순위 단추(누르면 공개 정보 서랍) · 보유 연구비(크리스타) · 게임 날짜 · [연구비 신청] · [사옥 지구]</a:t>
            </a:r>
          </a:p>
        </p:txBody>
      </p:sp>
      <p:sp>
        <p:nvSpPr>
          <p:cNvPr id="15" name="Rectangle 14"/>
          <p:cNvSpPr/>
          <p:nvPr/>
        </p:nvSpPr>
        <p:spPr>
          <a:xfrm>
            <a:off x="457200" y="2224976"/>
            <a:ext cx="11277295" cy="399478"/>
          </a:xfrm>
          <a:prstGeom prst="rect">
            <a:avLst/>
          </a:prstGeom>
          <a:solidFill>
            <a:srgbClr val="141413"/>
          </a:solidFill>
          <a:ln>
            <a:noFill/>
          </a:ln>
        </p:spPr>
        <p:txBody>
          <a:bodyPr rtlCol="0" anchor="ctr"/>
          <a:lstStyle/>
          <a:p>
            <a:pPr algn="ctr"/>
          </a:p>
        </p:txBody>
      </p:sp>
      <p:sp>
        <p:nvSpPr>
          <p:cNvPr id="16" name="TextBox 15"/>
          <p:cNvSpPr txBox="1"/>
          <p:nvPr/>
        </p:nvSpPr>
        <p:spPr>
          <a:xfrm>
            <a:off x="658368" y="2224976"/>
            <a:ext cx="2148840" cy="399478"/>
          </a:xfrm>
          <a:prstGeom prst="rect">
            <a:avLst/>
          </a:prstGeom>
          <a:noFill/>
        </p:spPr>
        <p:txBody>
          <a:bodyPr wrap="square" lIns="0" rIns="0" tIns="0" bIns="0" anchor="ctr">
            <a:noAutofit/>
          </a:bodyPr>
          <a:lstStyle/>
          <a:p>
            <a:pPr algn="l">
              <a:lnSpc>
                <a:spcPts val="1300"/>
              </a:lnSpc>
              <a:spcBef>
                <a:spcPts val="0"/>
              </a:spcBef>
              <a:spcAft>
                <a:spcPts val="0"/>
              </a:spcAft>
            </a:pPr>
            <a:r>
              <a:rPr sz="1000" b="1" i="0">
                <a:solidFill>
                  <a:srgbClr val="FFB21A"/>
                </a:solidFill>
                <a:latin typeface="Menlo"/>
                <a:ea typeface="Apple SD Gothic Neo"/>
              </a:rPr>
              <a:t>전광판 01 (LED 흐르는 띠)</a:t>
            </a:r>
          </a:p>
        </p:txBody>
      </p:sp>
      <p:sp>
        <p:nvSpPr>
          <p:cNvPr id="17" name="TextBox 16"/>
          <p:cNvSpPr txBox="1"/>
          <p:nvPr/>
        </p:nvSpPr>
        <p:spPr>
          <a:xfrm>
            <a:off x="2880360" y="2224976"/>
            <a:ext cx="8671255" cy="399478"/>
          </a:xfrm>
          <a:prstGeom prst="rect">
            <a:avLst/>
          </a:prstGeom>
          <a:noFill/>
        </p:spPr>
        <p:txBody>
          <a:bodyPr wrap="square" lIns="0" rIns="0" tIns="0" bIns="0" anchor="ctr">
            <a:noAutofit/>
          </a:bodyPr>
          <a:lstStyle/>
          <a:p>
            <a:pPr algn="l">
              <a:lnSpc>
                <a:spcPts val="1417"/>
              </a:lnSpc>
              <a:spcBef>
                <a:spcPts val="0"/>
              </a:spcBef>
              <a:spcAft>
                <a:spcPts val="0"/>
              </a:spcAft>
            </a:pPr>
            <a:r>
              <a:rPr sz="1050" b="0" i="0">
                <a:solidFill>
                  <a:srgbClr val="FFD27A"/>
                </a:solidFill>
                <a:latin typeface="Apple SD Gothic Neo"/>
                <a:ea typeface="Apple SD Gothic Neo"/>
              </a:rPr>
              <a:t>검은 바탕 위 호박색 점 글자로 학급 최근 소식 10건이 흐릅니다. 악재는 빨강, 순위 변동은 초록으로 표시되며 마우스를 올리면 멈춥니다.</a:t>
            </a:r>
          </a:p>
        </p:txBody>
      </p:sp>
      <p:sp>
        <p:nvSpPr>
          <p:cNvPr id="18" name="Rounded Rectangle 17"/>
          <p:cNvSpPr/>
          <p:nvPr/>
        </p:nvSpPr>
        <p:spPr>
          <a:xfrm>
            <a:off x="457200" y="2624455"/>
            <a:ext cx="11277295" cy="3849497"/>
          </a:xfrm>
          <a:prstGeom prst="roundRect">
            <a:avLst>
              <a:gd name="adj" fmla="val 4275"/>
            </a:avLst>
          </a:prstGeom>
          <a:solidFill>
            <a:srgbClr val="E7E6DE"/>
          </a:solidFill>
          <a:ln>
            <a:noFill/>
          </a:ln>
        </p:spPr>
        <p:txBody>
          <a:bodyPr rtlCol="0" anchor="ctr"/>
          <a:lstStyle/>
          <a:p>
            <a:pPr algn="ctr"/>
          </a:p>
        </p:txBody>
      </p:sp>
      <p:sp>
        <p:nvSpPr>
          <p:cNvPr id="19" name="Rectangle 18"/>
          <p:cNvSpPr/>
          <p:nvPr/>
        </p:nvSpPr>
        <p:spPr>
          <a:xfrm>
            <a:off x="457200" y="2624455"/>
            <a:ext cx="11277295" cy="228600"/>
          </a:xfrm>
          <a:prstGeom prst="rect">
            <a:avLst/>
          </a:prstGeom>
          <a:solidFill>
            <a:srgbClr val="E7E6DE"/>
          </a:solidFill>
          <a:ln>
            <a:noFill/>
          </a:ln>
        </p:spPr>
        <p:txBody>
          <a:bodyPr rtlCol="0" anchor="ctr"/>
          <a:lstStyle/>
          <a:p>
            <a:pPr algn="ctr"/>
          </a:p>
        </p:txBody>
      </p:sp>
      <p:sp>
        <p:nvSpPr>
          <p:cNvPr id="20" name="TextBox 19"/>
          <p:cNvSpPr txBox="1"/>
          <p:nvPr/>
        </p:nvSpPr>
        <p:spPr>
          <a:xfrm>
            <a:off x="658368" y="2734183"/>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본문 4개의 둥근 섬 (반경 26px · 섬 사이 틈 12px)</a:t>
            </a:r>
          </a:p>
        </p:txBody>
      </p:sp>
      <p:sp>
        <p:nvSpPr>
          <p:cNvPr id="21" name="Rounded Rectangle 20"/>
          <p:cNvSpPr/>
          <p:nvPr/>
        </p:nvSpPr>
        <p:spPr>
          <a:xfrm>
            <a:off x="658368" y="2973324"/>
            <a:ext cx="2743200" cy="3317748"/>
          </a:xfrm>
          <a:prstGeom prst="roundRect">
            <a:avLst>
              <a:gd name="adj" fmla="val 6500"/>
            </a:avLst>
          </a:prstGeom>
          <a:solidFill>
            <a:srgbClr val="FFFFFF"/>
          </a:solidFill>
          <a:ln>
            <a:noFill/>
          </a:ln>
        </p:spPr>
        <p:txBody>
          <a:bodyPr rtlCol="0" anchor="ctr"/>
          <a:lstStyle/>
          <a:p>
            <a:pPr algn="ctr"/>
          </a:p>
        </p:txBody>
      </p:sp>
      <p:sp>
        <p:nvSpPr>
          <p:cNvPr id="22" name="TextBox 21"/>
          <p:cNvSpPr txBox="1"/>
          <p:nvPr/>
        </p:nvSpPr>
        <p:spPr>
          <a:xfrm>
            <a:off x="822960" y="3137916"/>
            <a:ext cx="2414016" cy="815467"/>
          </a:xfrm>
          <a:prstGeom prst="rect">
            <a:avLst/>
          </a:prstGeom>
          <a:noFill/>
        </p:spPr>
        <p:txBody>
          <a:bodyPr wrap="square" lIns="0" rIns="0" tIns="0" bIns="0" anchor="t">
            <a:noAutofit/>
          </a:bodyPr>
          <a:lstStyle/>
          <a:p>
            <a:pPr algn="l">
              <a:lnSpc>
                <a:spcPts val="1495"/>
              </a:lnSpc>
              <a:spcBef>
                <a:spcPts val="0"/>
              </a:spcBef>
              <a:spcAft>
                <a:spcPts val="0"/>
              </a:spcAft>
            </a:pPr>
            <a:r>
              <a:rPr sz="1150" b="1" i="0">
                <a:solidFill>
                  <a:srgbClr val="1E3A1E"/>
                </a:solidFill>
                <a:latin typeface="Apple SD Gothic Neo"/>
                <a:ea typeface="Apple SD Gothic Neo"/>
              </a:rPr>
              <a:t>① 왼쪽 사이드바 섬</a:t>
            </a:r>
          </a:p>
          <a:p>
            <a:pPr algn="l">
              <a:lnSpc>
                <a:spcPts val="1470"/>
              </a:lnSpc>
              <a:spcBef>
                <a:spcPts val="300"/>
              </a:spcBef>
              <a:spcAft>
                <a:spcPts val="0"/>
              </a:spcAft>
            </a:pPr>
            <a:r>
              <a:rPr sz="1050" b="0" i="0">
                <a:solidFill>
                  <a:srgbClr val="5C5B56"/>
                </a:solidFill>
                <a:latin typeface="Apple SD Gothic Neo"/>
                <a:ea typeface="Apple SD Gothic Neo"/>
              </a:rPr>
              <a:t>1. 발견 / 2. 최적화 / 3. 개발·규제 / 4. 임상·허가 4묶음과 하위 9단계 진행 상태 표시</a:t>
            </a:r>
          </a:p>
        </p:txBody>
      </p:sp>
      <p:sp>
        <p:nvSpPr>
          <p:cNvPr id="23" name="Rounded Rectangle 22"/>
          <p:cNvSpPr/>
          <p:nvPr/>
        </p:nvSpPr>
        <p:spPr>
          <a:xfrm>
            <a:off x="822960" y="4090543"/>
            <a:ext cx="2414016" cy="454120"/>
          </a:xfrm>
          <a:prstGeom prst="roundRect">
            <a:avLst>
              <a:gd name="adj" fmla="val 20135"/>
            </a:avLst>
          </a:prstGeom>
          <a:solidFill>
            <a:srgbClr val="F0EFE9"/>
          </a:solidFill>
          <a:ln>
            <a:noFill/>
          </a:ln>
        </p:spPr>
        <p:txBody>
          <a:bodyPr rtlCol="0" anchor="ctr"/>
          <a:lstStyle/>
          <a:p>
            <a:pPr algn="ctr"/>
          </a:p>
        </p:txBody>
      </p:sp>
      <p:sp>
        <p:nvSpPr>
          <p:cNvPr id="24" name="Oval 23"/>
          <p:cNvSpPr/>
          <p:nvPr/>
        </p:nvSpPr>
        <p:spPr>
          <a:xfrm>
            <a:off x="932688" y="4262739"/>
            <a:ext cx="109728" cy="109728"/>
          </a:xfrm>
          <a:prstGeom prst="ellipse">
            <a:avLst/>
          </a:prstGeom>
          <a:solidFill>
            <a:srgbClr val="D4F94E"/>
          </a:solidFill>
          <a:ln>
            <a:noFill/>
          </a:ln>
        </p:spPr>
        <p:txBody>
          <a:bodyPr rtlCol="0" anchor="ctr"/>
          <a:lstStyle/>
          <a:p>
            <a:pPr algn="ctr"/>
          </a:p>
        </p:txBody>
      </p:sp>
      <p:sp>
        <p:nvSpPr>
          <p:cNvPr id="25" name="Rounded Rectangle 24"/>
          <p:cNvSpPr/>
          <p:nvPr/>
        </p:nvSpPr>
        <p:spPr>
          <a:xfrm>
            <a:off x="1188720" y="4281027"/>
            <a:ext cx="182880" cy="73152"/>
          </a:xfrm>
          <a:prstGeom prst="roundRect">
            <a:avLst>
              <a:gd name="adj" fmla="val 50000"/>
            </a:avLst>
          </a:prstGeom>
          <a:solidFill>
            <a:srgbClr val="CFCDC4"/>
          </a:solidFill>
          <a:ln>
            <a:noFill/>
          </a:ln>
        </p:spPr>
        <p:txBody>
          <a:bodyPr rtlCol="0" anchor="ctr"/>
          <a:lstStyle/>
          <a:p>
            <a:pPr algn="ctr"/>
          </a:p>
        </p:txBody>
      </p:sp>
      <p:sp>
        <p:nvSpPr>
          <p:cNvPr id="26" name="Rounded Rectangle 25"/>
          <p:cNvSpPr/>
          <p:nvPr/>
        </p:nvSpPr>
        <p:spPr>
          <a:xfrm>
            <a:off x="1463040" y="4281027"/>
            <a:ext cx="182880" cy="73152"/>
          </a:xfrm>
          <a:prstGeom prst="roundRect">
            <a:avLst>
              <a:gd name="adj" fmla="val 50000"/>
            </a:avLst>
          </a:prstGeom>
          <a:solidFill>
            <a:srgbClr val="CFCDC4"/>
          </a:solidFill>
          <a:ln>
            <a:noFill/>
          </a:ln>
        </p:spPr>
        <p:txBody>
          <a:bodyPr rtlCol="0" anchor="ctr"/>
          <a:lstStyle/>
          <a:p>
            <a:pPr algn="ctr"/>
          </a:p>
        </p:txBody>
      </p:sp>
      <p:sp>
        <p:nvSpPr>
          <p:cNvPr id="27" name="Rounded Rectangle 26"/>
          <p:cNvSpPr/>
          <p:nvPr/>
        </p:nvSpPr>
        <p:spPr>
          <a:xfrm>
            <a:off x="822960" y="4617815"/>
            <a:ext cx="2414016" cy="454120"/>
          </a:xfrm>
          <a:prstGeom prst="roundRect">
            <a:avLst>
              <a:gd name="adj" fmla="val 20135"/>
            </a:avLst>
          </a:prstGeom>
          <a:solidFill>
            <a:srgbClr val="F0EFE9"/>
          </a:solidFill>
          <a:ln>
            <a:noFill/>
          </a:ln>
        </p:spPr>
        <p:txBody>
          <a:bodyPr rtlCol="0" anchor="ctr"/>
          <a:lstStyle/>
          <a:p>
            <a:pPr algn="ctr"/>
          </a:p>
        </p:txBody>
      </p:sp>
      <p:sp>
        <p:nvSpPr>
          <p:cNvPr id="28" name="Oval 27"/>
          <p:cNvSpPr/>
          <p:nvPr/>
        </p:nvSpPr>
        <p:spPr>
          <a:xfrm>
            <a:off x="932688" y="4790011"/>
            <a:ext cx="109728" cy="109728"/>
          </a:xfrm>
          <a:prstGeom prst="ellipse">
            <a:avLst/>
          </a:prstGeom>
          <a:solidFill>
            <a:srgbClr val="A8D545"/>
          </a:solidFill>
          <a:ln>
            <a:noFill/>
          </a:ln>
        </p:spPr>
        <p:txBody>
          <a:bodyPr rtlCol="0" anchor="ctr"/>
          <a:lstStyle/>
          <a:p>
            <a:pPr algn="ctr"/>
          </a:p>
        </p:txBody>
      </p:sp>
      <p:sp>
        <p:nvSpPr>
          <p:cNvPr id="29" name="Rounded Rectangle 28"/>
          <p:cNvSpPr/>
          <p:nvPr/>
        </p:nvSpPr>
        <p:spPr>
          <a:xfrm>
            <a:off x="1188720" y="4808299"/>
            <a:ext cx="182880" cy="73152"/>
          </a:xfrm>
          <a:prstGeom prst="roundRect">
            <a:avLst>
              <a:gd name="adj" fmla="val 50000"/>
            </a:avLst>
          </a:prstGeom>
          <a:solidFill>
            <a:srgbClr val="CFCDC4"/>
          </a:solidFill>
          <a:ln>
            <a:noFill/>
          </a:ln>
        </p:spPr>
        <p:txBody>
          <a:bodyPr rtlCol="0" anchor="ctr"/>
          <a:lstStyle/>
          <a:p>
            <a:pPr algn="ctr"/>
          </a:p>
        </p:txBody>
      </p:sp>
      <p:sp>
        <p:nvSpPr>
          <p:cNvPr id="30" name="Rounded Rectangle 29"/>
          <p:cNvSpPr/>
          <p:nvPr/>
        </p:nvSpPr>
        <p:spPr>
          <a:xfrm>
            <a:off x="1463040" y="4808299"/>
            <a:ext cx="182880" cy="73152"/>
          </a:xfrm>
          <a:prstGeom prst="roundRect">
            <a:avLst>
              <a:gd name="adj" fmla="val 50000"/>
            </a:avLst>
          </a:prstGeom>
          <a:solidFill>
            <a:srgbClr val="CFCDC4"/>
          </a:solidFill>
          <a:ln>
            <a:noFill/>
          </a:ln>
        </p:spPr>
        <p:txBody>
          <a:bodyPr rtlCol="0" anchor="ctr"/>
          <a:lstStyle/>
          <a:p>
            <a:pPr algn="ctr"/>
          </a:p>
        </p:txBody>
      </p:sp>
      <p:sp>
        <p:nvSpPr>
          <p:cNvPr id="31" name="Rounded Rectangle 30"/>
          <p:cNvSpPr/>
          <p:nvPr/>
        </p:nvSpPr>
        <p:spPr>
          <a:xfrm>
            <a:off x="822960" y="5145088"/>
            <a:ext cx="2414016" cy="454120"/>
          </a:xfrm>
          <a:prstGeom prst="roundRect">
            <a:avLst>
              <a:gd name="adj" fmla="val 20135"/>
            </a:avLst>
          </a:prstGeom>
          <a:solidFill>
            <a:srgbClr val="F0EFE9"/>
          </a:solidFill>
          <a:ln>
            <a:noFill/>
          </a:ln>
        </p:spPr>
        <p:txBody>
          <a:bodyPr rtlCol="0" anchor="ctr"/>
          <a:lstStyle/>
          <a:p>
            <a:pPr algn="ctr"/>
          </a:p>
        </p:txBody>
      </p:sp>
      <p:sp>
        <p:nvSpPr>
          <p:cNvPr id="32" name="Oval 31"/>
          <p:cNvSpPr/>
          <p:nvPr/>
        </p:nvSpPr>
        <p:spPr>
          <a:xfrm>
            <a:off x="932688" y="5317284"/>
            <a:ext cx="109728" cy="109728"/>
          </a:xfrm>
          <a:prstGeom prst="ellipse">
            <a:avLst/>
          </a:prstGeom>
          <a:solidFill>
            <a:srgbClr val="5C8A35"/>
          </a:solidFill>
          <a:ln>
            <a:noFill/>
          </a:ln>
        </p:spPr>
        <p:txBody>
          <a:bodyPr rtlCol="0" anchor="ctr"/>
          <a:lstStyle/>
          <a:p>
            <a:pPr algn="ctr"/>
          </a:p>
        </p:txBody>
      </p:sp>
      <p:sp>
        <p:nvSpPr>
          <p:cNvPr id="33" name="Rounded Rectangle 32"/>
          <p:cNvSpPr/>
          <p:nvPr/>
        </p:nvSpPr>
        <p:spPr>
          <a:xfrm>
            <a:off x="1188720" y="5335572"/>
            <a:ext cx="182880" cy="73152"/>
          </a:xfrm>
          <a:prstGeom prst="roundRect">
            <a:avLst>
              <a:gd name="adj" fmla="val 50000"/>
            </a:avLst>
          </a:prstGeom>
          <a:solidFill>
            <a:srgbClr val="CFCDC4"/>
          </a:solidFill>
          <a:ln>
            <a:noFill/>
          </a:ln>
        </p:spPr>
        <p:txBody>
          <a:bodyPr rtlCol="0" anchor="ctr"/>
          <a:lstStyle/>
          <a:p>
            <a:pPr algn="ctr"/>
          </a:p>
        </p:txBody>
      </p:sp>
      <p:sp>
        <p:nvSpPr>
          <p:cNvPr id="34" name="Rounded Rectangle 33"/>
          <p:cNvSpPr/>
          <p:nvPr/>
        </p:nvSpPr>
        <p:spPr>
          <a:xfrm>
            <a:off x="1463040" y="5335572"/>
            <a:ext cx="182880" cy="73152"/>
          </a:xfrm>
          <a:prstGeom prst="roundRect">
            <a:avLst>
              <a:gd name="adj" fmla="val 50000"/>
            </a:avLst>
          </a:prstGeom>
          <a:solidFill>
            <a:srgbClr val="CFCDC4"/>
          </a:solidFill>
          <a:ln>
            <a:noFill/>
          </a:ln>
        </p:spPr>
        <p:txBody>
          <a:bodyPr rtlCol="0" anchor="ctr"/>
          <a:lstStyle/>
          <a:p>
            <a:pPr algn="ctr"/>
          </a:p>
        </p:txBody>
      </p:sp>
      <p:sp>
        <p:nvSpPr>
          <p:cNvPr id="35" name="Rounded Rectangle 34"/>
          <p:cNvSpPr/>
          <p:nvPr/>
        </p:nvSpPr>
        <p:spPr>
          <a:xfrm>
            <a:off x="1737360" y="5335572"/>
            <a:ext cx="182880" cy="73152"/>
          </a:xfrm>
          <a:prstGeom prst="roundRect">
            <a:avLst>
              <a:gd name="adj" fmla="val 50000"/>
            </a:avLst>
          </a:prstGeom>
          <a:solidFill>
            <a:srgbClr val="CFCDC4"/>
          </a:solidFill>
          <a:ln>
            <a:noFill/>
          </a:ln>
        </p:spPr>
        <p:txBody>
          <a:bodyPr rtlCol="0" anchor="ctr"/>
          <a:lstStyle/>
          <a:p>
            <a:pPr algn="ctr"/>
          </a:p>
        </p:txBody>
      </p:sp>
      <p:sp>
        <p:nvSpPr>
          <p:cNvPr id="36" name="Rounded Rectangle 35"/>
          <p:cNvSpPr/>
          <p:nvPr/>
        </p:nvSpPr>
        <p:spPr>
          <a:xfrm>
            <a:off x="822960" y="5672360"/>
            <a:ext cx="2414016" cy="454120"/>
          </a:xfrm>
          <a:prstGeom prst="roundRect">
            <a:avLst>
              <a:gd name="adj" fmla="val 20135"/>
            </a:avLst>
          </a:prstGeom>
          <a:solidFill>
            <a:srgbClr val="F0EFE9"/>
          </a:solidFill>
          <a:ln>
            <a:noFill/>
          </a:ln>
        </p:spPr>
        <p:txBody>
          <a:bodyPr rtlCol="0" anchor="ctr"/>
          <a:lstStyle/>
          <a:p>
            <a:pPr algn="ctr"/>
          </a:p>
        </p:txBody>
      </p:sp>
      <p:sp>
        <p:nvSpPr>
          <p:cNvPr id="37" name="Oval 36"/>
          <p:cNvSpPr/>
          <p:nvPr/>
        </p:nvSpPr>
        <p:spPr>
          <a:xfrm>
            <a:off x="932688" y="5844556"/>
            <a:ext cx="109728" cy="109728"/>
          </a:xfrm>
          <a:prstGeom prst="ellipse">
            <a:avLst/>
          </a:prstGeom>
          <a:solidFill>
            <a:srgbClr val="1E3A1E"/>
          </a:solidFill>
          <a:ln>
            <a:noFill/>
          </a:ln>
        </p:spPr>
        <p:txBody>
          <a:bodyPr rtlCol="0" anchor="ctr"/>
          <a:lstStyle/>
          <a:p>
            <a:pPr algn="ctr"/>
          </a:p>
        </p:txBody>
      </p:sp>
      <p:sp>
        <p:nvSpPr>
          <p:cNvPr id="38" name="Rounded Rectangle 37"/>
          <p:cNvSpPr/>
          <p:nvPr/>
        </p:nvSpPr>
        <p:spPr>
          <a:xfrm>
            <a:off x="1188720" y="5862844"/>
            <a:ext cx="182880" cy="73152"/>
          </a:xfrm>
          <a:prstGeom prst="roundRect">
            <a:avLst>
              <a:gd name="adj" fmla="val 50000"/>
            </a:avLst>
          </a:prstGeom>
          <a:solidFill>
            <a:srgbClr val="CFCDC4"/>
          </a:solidFill>
          <a:ln>
            <a:noFill/>
          </a:ln>
        </p:spPr>
        <p:txBody>
          <a:bodyPr rtlCol="0" anchor="ctr"/>
          <a:lstStyle/>
          <a:p>
            <a:pPr algn="ctr"/>
          </a:p>
        </p:txBody>
      </p:sp>
      <p:sp>
        <p:nvSpPr>
          <p:cNvPr id="39" name="Rounded Rectangle 38"/>
          <p:cNvSpPr/>
          <p:nvPr/>
        </p:nvSpPr>
        <p:spPr>
          <a:xfrm>
            <a:off x="1463040" y="5862844"/>
            <a:ext cx="182880" cy="73152"/>
          </a:xfrm>
          <a:prstGeom prst="roundRect">
            <a:avLst>
              <a:gd name="adj" fmla="val 50000"/>
            </a:avLst>
          </a:prstGeom>
          <a:solidFill>
            <a:srgbClr val="CFCDC4"/>
          </a:solidFill>
          <a:ln>
            <a:noFill/>
          </a:ln>
        </p:spPr>
        <p:txBody>
          <a:bodyPr rtlCol="0" anchor="ctr"/>
          <a:lstStyle/>
          <a:p>
            <a:pPr algn="ctr"/>
          </a:p>
        </p:txBody>
      </p:sp>
      <p:sp>
        <p:nvSpPr>
          <p:cNvPr id="40" name="Rounded Rectangle 39"/>
          <p:cNvSpPr/>
          <p:nvPr/>
        </p:nvSpPr>
        <p:spPr>
          <a:xfrm>
            <a:off x="3515868" y="2973324"/>
            <a:ext cx="8017459" cy="743839"/>
          </a:xfrm>
          <a:prstGeom prst="roundRect">
            <a:avLst>
              <a:gd name="adj" fmla="val 24585"/>
            </a:avLst>
          </a:prstGeom>
          <a:solidFill>
            <a:srgbClr val="FFFFFF"/>
          </a:solidFill>
          <a:ln>
            <a:noFill/>
          </a:ln>
        </p:spPr>
        <p:txBody>
          <a:bodyPr rtlCol="0" anchor="ctr"/>
          <a:lstStyle/>
          <a:p>
            <a:pPr algn="ctr"/>
          </a:p>
        </p:txBody>
      </p:sp>
      <p:sp>
        <p:nvSpPr>
          <p:cNvPr id="41" name="TextBox 40"/>
          <p:cNvSpPr txBox="1"/>
          <p:nvPr/>
        </p:nvSpPr>
        <p:spPr>
          <a:xfrm>
            <a:off x="3680460" y="3137916"/>
            <a:ext cx="7688275" cy="414655"/>
          </a:xfrm>
          <a:prstGeom prst="rect">
            <a:avLst/>
          </a:prstGeom>
          <a:noFill/>
        </p:spPr>
        <p:txBody>
          <a:bodyPr wrap="square" lIns="0" rIns="0" tIns="0" bIns="0" anchor="t">
            <a:noAutofit/>
          </a:bodyPr>
          <a:lstStyle/>
          <a:p>
            <a:pPr algn="l">
              <a:lnSpc>
                <a:spcPts val="1495"/>
              </a:lnSpc>
              <a:spcBef>
                <a:spcPts val="0"/>
              </a:spcBef>
              <a:spcAft>
                <a:spcPts val="0"/>
              </a:spcAft>
            </a:pPr>
            <a:r>
              <a:rPr sz="1150" b="1" i="0">
                <a:solidFill>
                  <a:srgbClr val="1E3A1E"/>
                </a:solidFill>
                <a:latin typeface="Apple SD Gothic Neo"/>
                <a:ea typeface="Apple SD Gothic Neo"/>
              </a:rPr>
              <a:t>② 오른쪽 위 머리 섬</a:t>
            </a:r>
          </a:p>
          <a:p>
            <a:pPr algn="l">
              <a:lnSpc>
                <a:spcPts val="1470"/>
              </a:lnSpc>
              <a:spcBef>
                <a:spcPts val="300"/>
              </a:spcBef>
              <a:spcAft>
                <a:spcPts val="0"/>
              </a:spcAft>
            </a:pPr>
            <a:r>
              <a:rPr sz="1050" b="0" i="0">
                <a:solidFill>
                  <a:srgbClr val="5C5B56"/>
                </a:solidFill>
                <a:latin typeface="Apple SD Gothic Neo"/>
                <a:ea typeface="Apple SD Gothic Neo"/>
              </a:rPr>
              <a:t>현재 단계 번호 · 제목 · 핵심 질문 · 하위 걸음 및 분석 도구 탭</a:t>
            </a:r>
          </a:p>
        </p:txBody>
      </p:sp>
      <p:sp>
        <p:nvSpPr>
          <p:cNvPr id="42" name="Rounded Rectangle 41"/>
          <p:cNvSpPr/>
          <p:nvPr/>
        </p:nvSpPr>
        <p:spPr>
          <a:xfrm>
            <a:off x="3515868" y="3831463"/>
            <a:ext cx="3951580" cy="2459609"/>
          </a:xfrm>
          <a:prstGeom prst="roundRect">
            <a:avLst>
              <a:gd name="adj" fmla="val 7435"/>
            </a:avLst>
          </a:prstGeom>
          <a:solidFill>
            <a:srgbClr val="FFFFFF"/>
          </a:solidFill>
          <a:ln>
            <a:noFill/>
          </a:ln>
        </p:spPr>
        <p:txBody>
          <a:bodyPr rtlCol="0" anchor="ctr"/>
          <a:lstStyle/>
          <a:p>
            <a:pPr algn="ctr"/>
          </a:p>
        </p:txBody>
      </p:sp>
      <p:sp>
        <p:nvSpPr>
          <p:cNvPr id="43" name="TextBox 42"/>
          <p:cNvSpPr txBox="1"/>
          <p:nvPr/>
        </p:nvSpPr>
        <p:spPr>
          <a:xfrm>
            <a:off x="3680460" y="3996055"/>
            <a:ext cx="3622396" cy="2130425"/>
          </a:xfrm>
          <a:prstGeom prst="rect">
            <a:avLst/>
          </a:prstGeom>
          <a:noFill/>
        </p:spPr>
        <p:txBody>
          <a:bodyPr wrap="square" lIns="0" rIns="0" tIns="0" bIns="0" anchor="t">
            <a:noAutofit/>
          </a:bodyPr>
          <a:lstStyle/>
          <a:p>
            <a:pPr algn="l">
              <a:lnSpc>
                <a:spcPts val="1495"/>
              </a:lnSpc>
              <a:spcBef>
                <a:spcPts val="0"/>
              </a:spcBef>
              <a:spcAft>
                <a:spcPts val="0"/>
              </a:spcAft>
            </a:pPr>
            <a:r>
              <a:rPr sz="1150" b="1" i="0">
                <a:solidFill>
                  <a:srgbClr val="141413"/>
                </a:solidFill>
                <a:latin typeface="Apple SD Gothic Neo"/>
                <a:ea typeface="Apple SD Gothic Neo"/>
              </a:rPr>
              <a:t>③ 오른쪽 아래 왼쪽 [내 작업대 섬]</a:t>
            </a:r>
          </a:p>
          <a:p>
            <a:pPr algn="l">
              <a:lnSpc>
                <a:spcPts val="1470"/>
              </a:lnSpc>
              <a:spcBef>
                <a:spcPts val="300"/>
              </a:spcBef>
              <a:spcAft>
                <a:spcPts val="0"/>
              </a:spcAft>
            </a:pPr>
            <a:r>
              <a:rPr sz="1050" b="0" i="0">
                <a:solidFill>
                  <a:srgbClr val="5C5B56"/>
                </a:solidFill>
                <a:latin typeface="Apple SD Gothic Neo"/>
                <a:ea typeface="Apple SD Gothic Neo"/>
              </a:rPr>
              <a:t>개인별 조건 조절 · 무료 미리보기 · 분석 도구 (내가 조작해도 다른 모둠원 화면은 바뀌지 않음)</a:t>
            </a:r>
          </a:p>
        </p:txBody>
      </p:sp>
      <p:sp>
        <p:nvSpPr>
          <p:cNvPr id="44" name="Rounded Rectangle 43"/>
          <p:cNvSpPr/>
          <p:nvPr/>
        </p:nvSpPr>
        <p:spPr>
          <a:xfrm>
            <a:off x="3680460" y="6089904"/>
            <a:ext cx="3622396" cy="54864"/>
          </a:xfrm>
          <a:prstGeom prst="roundRect">
            <a:avLst>
              <a:gd name="adj" fmla="val 50000"/>
            </a:avLst>
          </a:prstGeom>
          <a:solidFill>
            <a:srgbClr val="D4F94E"/>
          </a:solidFill>
          <a:ln>
            <a:noFill/>
          </a:ln>
        </p:spPr>
        <p:txBody>
          <a:bodyPr rtlCol="0" anchor="ctr"/>
          <a:lstStyle/>
          <a:p>
            <a:pPr algn="ctr"/>
          </a:p>
        </p:txBody>
      </p:sp>
      <p:sp>
        <p:nvSpPr>
          <p:cNvPr id="45" name="Rounded Rectangle 44"/>
          <p:cNvSpPr/>
          <p:nvPr/>
        </p:nvSpPr>
        <p:spPr>
          <a:xfrm>
            <a:off x="7581748" y="3831463"/>
            <a:ext cx="3951580" cy="2459609"/>
          </a:xfrm>
          <a:prstGeom prst="roundRect">
            <a:avLst>
              <a:gd name="adj" fmla="val 7435"/>
            </a:avLst>
          </a:prstGeom>
          <a:solidFill>
            <a:srgbClr val="F6FCE0"/>
          </a:solidFill>
          <a:ln w="9525">
            <a:solidFill>
              <a:srgbClr val="C8E68A"/>
            </a:solidFill>
          </a:ln>
        </p:spPr>
        <p:txBody>
          <a:bodyPr rtlCol="0" anchor="ctr"/>
          <a:lstStyle/>
          <a:p>
            <a:pPr algn="ctr"/>
          </a:p>
        </p:txBody>
      </p:sp>
      <p:sp>
        <p:nvSpPr>
          <p:cNvPr id="46" name="TextBox 45"/>
          <p:cNvSpPr txBox="1"/>
          <p:nvPr/>
        </p:nvSpPr>
        <p:spPr>
          <a:xfrm>
            <a:off x="7746340" y="3996055"/>
            <a:ext cx="3622396" cy="2130425"/>
          </a:xfrm>
          <a:prstGeom prst="rect">
            <a:avLst/>
          </a:prstGeom>
          <a:noFill/>
        </p:spPr>
        <p:txBody>
          <a:bodyPr wrap="square" lIns="0" rIns="0" tIns="0" bIns="0" anchor="t">
            <a:noAutofit/>
          </a:bodyPr>
          <a:lstStyle/>
          <a:p>
            <a:pPr algn="l">
              <a:lnSpc>
                <a:spcPts val="1495"/>
              </a:lnSpc>
              <a:spcBef>
                <a:spcPts val="0"/>
              </a:spcBef>
              <a:spcAft>
                <a:spcPts val="0"/>
              </a:spcAft>
            </a:pPr>
            <a:r>
              <a:rPr sz="1150" b="1" i="0">
                <a:solidFill>
                  <a:srgbClr val="1E3A1E"/>
                </a:solidFill>
                <a:latin typeface="Apple SD Gothic Neo"/>
                <a:ea typeface="Apple SD Gothic Neo"/>
              </a:rPr>
              <a:t>④ 오른쪽 아래 오른쪽 [모둠 공유 섬]</a:t>
            </a:r>
          </a:p>
          <a:p>
            <a:pPr algn="l">
              <a:lnSpc>
                <a:spcPts val="1470"/>
              </a:lnSpc>
              <a:spcBef>
                <a:spcPts val="300"/>
              </a:spcBef>
              <a:spcAft>
                <a:spcPts val="0"/>
              </a:spcAft>
            </a:pPr>
            <a:r>
              <a:rPr sz="1050" b="0" i="0">
                <a:solidFill>
                  <a:srgbClr val="5C5B56"/>
                </a:solidFill>
                <a:latin typeface="Apple SD Gothic Neo"/>
                <a:ea typeface="Apple SD Gothic Neo"/>
              </a:rPr>
              <a:t>모둠원 전원의 실험 결과 비교표 · 안건 투표 · 칸 단위 분담 연구 노트 실시간 동기화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11 / 26</a:t>
            </a:r>
          </a:p>
        </p:txBody>
      </p:sp>
      <p:sp>
        <p:nvSpPr>
          <p:cNvPr id="7" name="Rounded Rectangle 6"/>
          <p:cNvSpPr/>
          <p:nvPr/>
        </p:nvSpPr>
        <p:spPr>
          <a:xfrm>
            <a:off x="457200" y="566928"/>
            <a:ext cx="2581151"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306831"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2 · 무임승차 없는 모둠 설계</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4명 중 한 명도 놀지 않는 병렬 실험과 칸 단위 문서 분담</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단계마다 모둠원 각자가 서로 다른 질환·기준·분자·서류 칸을 맡아 동시에 움직이고 한곳에 합칩니다.</a:t>
            </a:r>
          </a:p>
        </p:txBody>
      </p:sp>
      <p:sp>
        <p:nvSpPr>
          <p:cNvPr id="12" name="TextBox 11"/>
          <p:cNvSpPr txBox="1"/>
          <p:nvPr/>
        </p:nvSpPr>
        <p:spPr>
          <a:xfrm>
            <a:off x="457200" y="182549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단계별 4인 병렬 협업 표</a:t>
            </a:r>
          </a:p>
        </p:txBody>
      </p:sp>
      <p:graphicFrame>
        <p:nvGraphicFramePr>
          <p:cNvPr id="13" name="Table 12"/>
          <p:cNvGraphicFramePr>
            <a:graphicFrameLocks noGrp="1"/>
          </p:cNvGraphicFramePr>
          <p:nvPr/>
        </p:nvGraphicFramePr>
        <p:xfrm>
          <a:off x="457200" y="2046351"/>
          <a:ext cx="11277295" cy="2953132"/>
        </p:xfrm>
        <a:graphic>
          <a:graphicData uri="http://schemas.openxmlformats.org/drawingml/2006/table">
            <a:tbl>
              <a:tblPr firstRow="1">
                <a:tableStyleId>{2D5ABB26-0587-4C30-8999-92F81FD0307C}</a:tableStyleId>
              </a:tblPr>
              <a:tblGrid>
                <a:gridCol w="1554480"/>
                <a:gridCol w="4846320"/>
                <a:gridCol w="4876495"/>
              </a:tblGrid>
              <a:tr h="385797">
                <a:tc>
                  <a:txBody>
                    <a:bodyPr wrap="square"/>
                    <a:lstStyle/>
                    <a:p>
                      <a:pPr algn="l">
                        <a:lnSpc>
                          <a:spcPts val="1312"/>
                        </a:lnSpc>
                        <a:spcBef>
                          <a:spcPts val="0"/>
                        </a:spcBef>
                        <a:spcAft>
                          <a:spcPts val="0"/>
                        </a:spcAft>
                      </a:pPr>
                      <a:r>
                        <a:rPr sz="1050" b="1" i="0">
                          <a:solidFill>
                            <a:srgbClr val="FAF9F5"/>
                          </a:solidFill>
                          <a:latin typeface="Apple SD Gothic Neo"/>
                          <a:ea typeface="Apple SD Gothic Neo"/>
                        </a:rPr>
                        <a:t>단계</a:t>
                      </a:r>
                    </a:p>
                  </a:txBody>
                  <a:tcPr marL="64008" marR="64008" marT="45720" marB="45720" anchor="ctr">
                    <a:lnL w="0">
                      <a:noFill/>
                    </a:lnL>
                    <a:lnR w="0">
                      <a:noFill/>
                    </a:lnR>
                    <a:lnT w="0">
                      <a:noFill/>
                    </a:lnT>
                    <a:lnB w="0">
                      <a:noFill/>
                    </a:lnB>
                    <a:solidFill>
                      <a:srgbClr val="141413"/>
                    </a:solidFill>
                  </a:tcPr>
                </a:tc>
                <a:tc>
                  <a:txBody>
                    <a:bodyPr wrap="square"/>
                    <a:lstStyle/>
                    <a:p>
                      <a:pPr algn="l">
                        <a:lnSpc>
                          <a:spcPts val="1312"/>
                        </a:lnSpc>
                        <a:spcBef>
                          <a:spcPts val="0"/>
                        </a:spcBef>
                        <a:spcAft>
                          <a:spcPts val="0"/>
                        </a:spcAft>
                      </a:pPr>
                      <a:r>
                        <a:rPr sz="1050" b="1" i="0">
                          <a:solidFill>
                            <a:srgbClr val="FAF9F5"/>
                          </a:solidFill>
                          <a:latin typeface="Apple SD Gothic Neo"/>
                          <a:ea typeface="Apple SD Gothic Neo"/>
                        </a:rPr>
                        <a:t>왼쪽 [내 작업대] — 4명이 동시에 각자 하는 일</a:t>
                      </a:r>
                    </a:p>
                  </a:txBody>
                  <a:tcPr marL="64008" marR="64008" marT="45720" marB="45720" anchor="ctr">
                    <a:lnL w="0">
                      <a:noFill/>
                    </a:lnL>
                    <a:lnR w="0">
                      <a:noFill/>
                    </a:lnR>
                    <a:lnT w="0">
                      <a:noFill/>
                    </a:lnT>
                    <a:lnB w="0">
                      <a:noFill/>
                    </a:lnB>
                    <a:solidFill>
                      <a:srgbClr val="141413"/>
                    </a:solidFill>
                  </a:tcPr>
                </a:tc>
                <a:tc>
                  <a:txBody>
                    <a:bodyPr wrap="square"/>
                    <a:lstStyle/>
                    <a:p>
                      <a:pPr algn="l">
                        <a:lnSpc>
                          <a:spcPts val="1312"/>
                        </a:lnSpc>
                        <a:spcBef>
                          <a:spcPts val="0"/>
                        </a:spcBef>
                        <a:spcAft>
                          <a:spcPts val="0"/>
                        </a:spcAft>
                      </a:pPr>
                      <a:r>
                        <a:rPr sz="1050" b="1" i="0">
                          <a:solidFill>
                            <a:srgbClr val="FAF9F5"/>
                          </a:solidFill>
                          <a:latin typeface="Apple SD Gothic Neo"/>
                          <a:ea typeface="Apple SD Gothic Neo"/>
                        </a:rPr>
                        <a:t>오른쪽 [모둠 공유] — 실시간으로 합쳐지는 결과</a:t>
                      </a:r>
                    </a:p>
                  </a:txBody>
                  <a:tcPr marL="64008" marR="64008" marT="45720" marB="45720" anchor="ctr">
                    <a:lnL w="0">
                      <a:noFill/>
                    </a:lnL>
                    <a:lnR w="0">
                      <a:noFill/>
                    </a:lnR>
                    <a:lnT w="0">
                      <a:noFill/>
                    </a:lnT>
                    <a:lnB w="0">
                      <a:noFill/>
                    </a:lnB>
                    <a:solidFill>
                      <a:srgbClr val="141413"/>
                    </a:solidFill>
                  </a:tcPr>
                </a:tc>
              </a:tr>
              <a:tr h="513467">
                <a:tc>
                  <a:txBody>
                    <a:bodyPr wrap="square"/>
                    <a:lstStyle/>
                    <a:p>
                      <a:pPr algn="l">
                        <a:lnSpc>
                          <a:spcPts val="1312"/>
                        </a:lnSpc>
                        <a:spcBef>
                          <a:spcPts val="0"/>
                        </a:spcBef>
                        <a:spcAft>
                          <a:spcPts val="0"/>
                        </a:spcAft>
                      </a:pPr>
                      <a:r>
                        <a:rPr sz="1050" b="1" i="0">
                          <a:solidFill>
                            <a:srgbClr val="141413"/>
                          </a:solidFill>
                          <a:latin typeface="Apple SD Gothic Neo"/>
                          <a:ea typeface="Apple SD Gothic Neo"/>
                        </a:rPr>
                        <a:t>1.1 질환·표적</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312"/>
                        </a:lnSpc>
                        <a:spcBef>
                          <a:spcPts val="0"/>
                        </a:spcBef>
                        <a:spcAft>
                          <a:spcPts val="0"/>
                        </a:spcAft>
                      </a:pPr>
                      <a:r>
                        <a:rPr sz="1050" b="0" i="0">
                          <a:solidFill>
                            <a:srgbClr val="141413"/>
                          </a:solidFill>
                          <a:latin typeface="Apple SD Gothic Neo"/>
                          <a:ea typeface="Apple SD Gothic Neo"/>
                        </a:rPr>
                        <a:t>4대 질환군(각 3질환)을 1인 1질환군씩 맡아 Open Targets 근거 조회</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312"/>
                        </a:lnSpc>
                        <a:spcBef>
                          <a:spcPts val="0"/>
                        </a:spcBef>
                        <a:spcAft>
                          <a:spcPts val="0"/>
                        </a:spcAft>
                      </a:pPr>
                      <a:r>
                        <a:rPr sz="1050" b="0" i="0">
                          <a:solidFill>
                            <a:srgbClr val="141413"/>
                          </a:solidFill>
                          <a:latin typeface="Apple SD Gothic Neo"/>
                          <a:ea typeface="Apple SD Gothic Neo"/>
                        </a:rPr>
                        <a:t>4명이 올린 추천 표적 카드를 나란히 비교해 모둠 표적 1개 확정</a:t>
                      </a:r>
                    </a:p>
                  </a:txBody>
                  <a:tcPr marL="64008" marR="64008" marT="45720" marB="45720" anchor="ctr">
                    <a:lnL w="0">
                      <a:noFill/>
                    </a:lnL>
                    <a:lnR w="0">
                      <a:noFill/>
                    </a:lnR>
                    <a:lnT w="0">
                      <a:noFill/>
                    </a:lnT>
                    <a:lnB w="9525">
                      <a:solidFill>
                        <a:srgbClr val="DDDBD2"/>
                      </a:solidFill>
                    </a:lnB>
                    <a:solidFill>
                      <a:srgbClr val="F6FCE0"/>
                    </a:solidFill>
                  </a:tcPr>
                </a:tc>
              </a:tr>
              <a:tr h="513467">
                <a:tc>
                  <a:txBody>
                    <a:bodyPr wrap="square"/>
                    <a:lstStyle/>
                    <a:p>
                      <a:pPr algn="l">
                        <a:lnSpc>
                          <a:spcPts val="1312"/>
                        </a:lnSpc>
                        <a:spcBef>
                          <a:spcPts val="0"/>
                        </a:spcBef>
                        <a:spcAft>
                          <a:spcPts val="0"/>
                        </a:spcAft>
                      </a:pPr>
                      <a:r>
                        <a:rPr sz="1050" b="1" i="0">
                          <a:solidFill>
                            <a:srgbClr val="141413"/>
                          </a:solidFill>
                          <a:latin typeface="Apple SD Gothic Neo"/>
                          <a:ea typeface="Apple SD Gothic Neo"/>
                        </a:rPr>
                        <a:t>1.2 스크리닝</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312"/>
                        </a:lnSpc>
                        <a:spcBef>
                          <a:spcPts val="0"/>
                        </a:spcBef>
                        <a:spcAft>
                          <a:spcPts val="0"/>
                        </a:spcAft>
                      </a:pPr>
                      <a:r>
                        <a:rPr sz="1050" b="0" i="0">
                          <a:solidFill>
                            <a:srgbClr val="141413"/>
                          </a:solidFill>
                          <a:latin typeface="Apple SD Gothic Neo"/>
                          <a:ea typeface="Apple SD Gothic Neo"/>
                        </a:rPr>
                        <a:t>안건 6개 분포 그래프를 각자 움직여 보며 근거와 함께 기준값 제안</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312"/>
                        </a:lnSpc>
                        <a:spcBef>
                          <a:spcPts val="0"/>
                        </a:spcBef>
                        <a:spcAft>
                          <a:spcPts val="0"/>
                        </a:spcAft>
                      </a:pPr>
                      <a:r>
                        <a:rPr sz="1050" b="0" i="0">
                          <a:solidFill>
                            <a:srgbClr val="141413"/>
                          </a:solidFill>
                          <a:latin typeface="Apple SD Gothic Neo"/>
                          <a:ea typeface="Apple SD Gothic Neo"/>
                        </a:rPr>
                        <a:t>과반 투표로 6개 기준 합의 → 통과 분자 중 1인 1~2개씩 근거 골라 찜</a:t>
                      </a:r>
                    </a:p>
                  </a:txBody>
                  <a:tcPr marL="64008" marR="64008" marT="45720" marB="45720" anchor="ctr">
                    <a:lnL w="0">
                      <a:noFill/>
                    </a:lnL>
                    <a:lnR w="0">
                      <a:noFill/>
                    </a:lnR>
                    <a:lnT w="0">
                      <a:noFill/>
                    </a:lnT>
                    <a:lnB w="9525">
                      <a:solidFill>
                        <a:srgbClr val="DDDBD2"/>
                      </a:solidFill>
                    </a:lnB>
                    <a:solidFill>
                      <a:srgbClr val="F6FCE0"/>
                    </a:solidFill>
                  </a:tcPr>
                </a:tc>
              </a:tr>
              <a:tr h="513467">
                <a:tc>
                  <a:txBody>
                    <a:bodyPr wrap="square"/>
                    <a:lstStyle/>
                    <a:p>
                      <a:pPr algn="l">
                        <a:lnSpc>
                          <a:spcPts val="1312"/>
                        </a:lnSpc>
                        <a:spcBef>
                          <a:spcPts val="0"/>
                        </a:spcBef>
                        <a:spcAft>
                          <a:spcPts val="0"/>
                        </a:spcAft>
                      </a:pPr>
                      <a:r>
                        <a:rPr sz="1050" b="1" i="0">
                          <a:solidFill>
                            <a:srgbClr val="141413"/>
                          </a:solidFill>
                          <a:latin typeface="Apple SD Gothic Neo"/>
                          <a:ea typeface="Apple SD Gothic Neo"/>
                        </a:rPr>
                        <a:t>2.1 분자 도킹</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312"/>
                        </a:lnSpc>
                        <a:spcBef>
                          <a:spcPts val="0"/>
                        </a:spcBef>
                        <a:spcAft>
                          <a:spcPts val="0"/>
                        </a:spcAft>
                      </a:pPr>
                      <a:r>
                        <a:rPr sz="1050" b="0" i="0">
                          <a:solidFill>
                            <a:srgbClr val="141413"/>
                          </a:solidFill>
                          <a:latin typeface="Apple SD Gothic Neo"/>
                          <a:ea typeface="Apple SD Gothic Neo"/>
                        </a:rPr>
                        <a:t>각자 찜한 후보와 작용기 변형체를 무료 미리보기 후 도킹 실행</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312"/>
                        </a:lnSpc>
                        <a:spcBef>
                          <a:spcPts val="0"/>
                        </a:spcBef>
                        <a:spcAft>
                          <a:spcPts val="0"/>
                        </a:spcAft>
                      </a:pPr>
                      <a:r>
                        <a:rPr sz="1050" b="0" i="0">
                          <a:solidFill>
                            <a:srgbClr val="141413"/>
                          </a:solidFill>
                          <a:latin typeface="Apple SD Gothic Neo"/>
                          <a:ea typeface="Apple SD Gothic Neo"/>
                        </a:rPr>
                        <a:t>모둠원이 도킹한 모든 분자가 한 비교표에 쌓임 → 1인 2개씩 대기열 선택</a:t>
                      </a:r>
                    </a:p>
                  </a:txBody>
                  <a:tcPr marL="64008" marR="64008" marT="45720" marB="45720" anchor="ctr">
                    <a:lnL w="0">
                      <a:noFill/>
                    </a:lnL>
                    <a:lnR w="0">
                      <a:noFill/>
                    </a:lnR>
                    <a:lnT w="0">
                      <a:noFill/>
                    </a:lnT>
                    <a:lnB w="9525">
                      <a:solidFill>
                        <a:srgbClr val="DDDBD2"/>
                      </a:solidFill>
                    </a:lnB>
                    <a:solidFill>
                      <a:srgbClr val="F6FCE0"/>
                    </a:solidFill>
                  </a:tcPr>
                </a:tc>
              </a:tr>
              <a:tr h="513467">
                <a:tc>
                  <a:txBody>
                    <a:bodyPr wrap="square"/>
                    <a:lstStyle/>
                    <a:p>
                      <a:pPr algn="l">
                        <a:lnSpc>
                          <a:spcPts val="1312"/>
                        </a:lnSpc>
                        <a:spcBef>
                          <a:spcPts val="0"/>
                        </a:spcBef>
                        <a:spcAft>
                          <a:spcPts val="0"/>
                        </a:spcAft>
                      </a:pPr>
                      <a:r>
                        <a:rPr sz="1050" b="1" i="0">
                          <a:solidFill>
                            <a:srgbClr val="141413"/>
                          </a:solidFill>
                          <a:latin typeface="Apple SD Gothic Neo"/>
                          <a:ea typeface="Apple SD Gothic Neo"/>
                        </a:rPr>
                        <a:t>2.2 ADMET</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312"/>
                        </a:lnSpc>
                        <a:spcBef>
                          <a:spcPts val="0"/>
                        </a:spcBef>
                        <a:spcAft>
                          <a:spcPts val="0"/>
                        </a:spcAft>
                      </a:pPr>
                      <a:r>
                        <a:rPr sz="1050" b="0" i="0">
                          <a:solidFill>
                            <a:srgbClr val="141413"/>
                          </a:solidFill>
                          <a:latin typeface="Apple SD Gothic Neo"/>
                          <a:ea typeface="Apple SD Gothic Neo"/>
                        </a:rPr>
                        <a:t>대기열 분자를 나누어 ADMET 실행 후 4종 도구로 약점 분석</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312"/>
                        </a:lnSpc>
                        <a:spcBef>
                          <a:spcPts val="0"/>
                        </a:spcBef>
                        <a:spcAft>
                          <a:spcPts val="0"/>
                        </a:spcAft>
                      </a:pPr>
                      <a:r>
                        <a:rPr sz="1050" b="0" i="0">
                          <a:solidFill>
                            <a:srgbClr val="141413"/>
                          </a:solidFill>
                          <a:latin typeface="Apple SD Gothic Neo"/>
                          <a:ea typeface="Apple SD Gothic Neo"/>
                        </a:rPr>
                        <a:t>1인 1개씩 근거 칩을 골라 특허 후보(최대 4건)로 추천</a:t>
                      </a:r>
                    </a:p>
                  </a:txBody>
                  <a:tcPr marL="64008" marR="64008" marT="45720" marB="45720" anchor="ctr">
                    <a:lnL w="0">
                      <a:noFill/>
                    </a:lnL>
                    <a:lnR w="0">
                      <a:noFill/>
                    </a:lnR>
                    <a:lnT w="0">
                      <a:noFill/>
                    </a:lnT>
                    <a:lnB w="9525">
                      <a:solidFill>
                        <a:srgbClr val="DDDBD2"/>
                      </a:solidFill>
                    </a:lnB>
                    <a:solidFill>
                      <a:srgbClr val="F6FCE0"/>
                    </a:solidFill>
                  </a:tcPr>
                </a:tc>
              </a:tr>
              <a:tr h="513467">
                <a:tc>
                  <a:txBody>
                    <a:bodyPr wrap="square"/>
                    <a:lstStyle/>
                    <a:p>
                      <a:pPr algn="l">
                        <a:lnSpc>
                          <a:spcPts val="1312"/>
                        </a:lnSpc>
                        <a:spcBef>
                          <a:spcPts val="0"/>
                        </a:spcBef>
                        <a:spcAft>
                          <a:spcPts val="0"/>
                        </a:spcAft>
                      </a:pPr>
                      <a:r>
                        <a:rPr sz="1050" b="1" i="0">
                          <a:solidFill>
                            <a:srgbClr val="141413"/>
                          </a:solidFill>
                          <a:latin typeface="Apple SD Gothic Neo"/>
                          <a:ea typeface="Apple SD Gothic Neo"/>
                        </a:rPr>
                        <a:t>3.1 ~ 3.3 서류</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312"/>
                        </a:lnSpc>
                        <a:spcBef>
                          <a:spcPts val="0"/>
                        </a:spcBef>
                        <a:spcAft>
                          <a:spcPts val="0"/>
                        </a:spcAft>
                      </a:pPr>
                      <a:r>
                        <a:rPr sz="1050" b="0" i="0">
                          <a:solidFill>
                            <a:srgbClr val="141413"/>
                          </a:solidFill>
                          <a:latin typeface="Apple SD Gothic Neo"/>
                          <a:ea typeface="Apple SD Gothic Neo"/>
                        </a:rPr>
                        <a:t>특허 출원서(최대 3건)·동물실험계획서·IND 신청서의 항목을 칸별로 분담 작성</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312"/>
                        </a:lnSpc>
                        <a:spcBef>
                          <a:spcPts val="0"/>
                        </a:spcBef>
                        <a:spcAft>
                          <a:spcPts val="0"/>
                        </a:spcAft>
                      </a:pPr>
                      <a:r>
                        <a:rPr sz="1050" b="0" i="0">
                          <a:solidFill>
                            <a:srgbClr val="141413"/>
                          </a:solidFill>
                          <a:latin typeface="Apple SD Gothic Neo"/>
                          <a:ea typeface="Apple SD Gothic Neo"/>
                        </a:rPr>
                        <a:t>칸 단위 낙관적 잠금으로 덮어쓰기 없이 한 서류로 완성 → 심사 제출</a:t>
                      </a:r>
                    </a:p>
                  </a:txBody>
                  <a:tcPr marL="64008" marR="64008" marT="45720" marB="45720" anchor="ctr">
                    <a:lnL w="0">
                      <a:noFill/>
                    </a:lnL>
                    <a:lnR w="0">
                      <a:noFill/>
                    </a:lnR>
                    <a:lnT w="0">
                      <a:noFill/>
                    </a:lnT>
                    <a:lnB w="9525">
                      <a:solidFill>
                        <a:srgbClr val="DDDBD2"/>
                      </a:solidFill>
                    </a:lnB>
                    <a:solidFill>
                      <a:srgbClr val="F6FCE0"/>
                    </a:solidFill>
                  </a:tcPr>
                </a:tc>
              </a:tr>
            </a:tbl>
          </a:graphicData>
        </a:graphic>
      </p:graphicFrame>
      <p:sp>
        <p:nvSpPr>
          <p:cNvPr id="14" name="TextBox 13"/>
          <p:cNvSpPr txBox="1"/>
          <p:nvPr/>
        </p:nvSpPr>
        <p:spPr>
          <a:xfrm>
            <a:off x="457200" y="5228082"/>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직책별 권장 가이드 (강제 잠금 없음)</a:t>
            </a:r>
          </a:p>
        </p:txBody>
      </p:sp>
      <p:sp>
        <p:nvSpPr>
          <p:cNvPr id="15" name="Rounded Rectangle 14"/>
          <p:cNvSpPr/>
          <p:nvPr/>
        </p:nvSpPr>
        <p:spPr>
          <a:xfrm>
            <a:off x="457200" y="5448935"/>
            <a:ext cx="2695880" cy="1025017"/>
          </a:xfrm>
          <a:prstGeom prst="roundRect">
            <a:avLst>
              <a:gd name="adj" fmla="val 16057"/>
            </a:avLst>
          </a:prstGeom>
          <a:solidFill>
            <a:srgbClr val="FFFFFF"/>
          </a:solidFill>
          <a:ln>
            <a:noFill/>
          </a:ln>
        </p:spPr>
        <p:txBody>
          <a:bodyPr rtlCol="0" anchor="ctr"/>
          <a:lstStyle/>
          <a:p>
            <a:pPr algn="ctr"/>
          </a:p>
        </p:txBody>
      </p:sp>
      <p:sp>
        <p:nvSpPr>
          <p:cNvPr id="16" name="Rounded Rectangle 15"/>
          <p:cNvSpPr/>
          <p:nvPr/>
        </p:nvSpPr>
        <p:spPr>
          <a:xfrm>
            <a:off x="603504" y="5595239"/>
            <a:ext cx="91440" cy="732409"/>
          </a:xfrm>
          <a:prstGeom prst="roundRect">
            <a:avLst>
              <a:gd name="adj" fmla="val 50000"/>
            </a:avLst>
          </a:prstGeom>
          <a:solidFill>
            <a:srgbClr val="D4F94E"/>
          </a:solidFill>
          <a:ln>
            <a:noFill/>
          </a:ln>
        </p:spPr>
        <p:txBody>
          <a:bodyPr rtlCol="0" anchor="ctr"/>
          <a:lstStyle/>
          <a:p>
            <a:pPr algn="ctr"/>
          </a:p>
        </p:txBody>
      </p:sp>
      <p:sp>
        <p:nvSpPr>
          <p:cNvPr id="17" name="TextBox 16"/>
          <p:cNvSpPr txBox="1"/>
          <p:nvPr/>
        </p:nvSpPr>
        <p:spPr>
          <a:xfrm>
            <a:off x="786384" y="5558663"/>
            <a:ext cx="2238680" cy="805561"/>
          </a:xfrm>
          <a:prstGeom prst="rect">
            <a:avLst/>
          </a:prstGeom>
          <a:noFill/>
        </p:spPr>
        <p:txBody>
          <a:bodyPr wrap="square" lIns="0" rIns="0" tIns="0" bIns="0" anchor="ctr">
            <a:noAutofit/>
          </a:bodyPr>
          <a:lstStyle/>
          <a:p>
            <a:pPr algn="l">
              <a:lnSpc>
                <a:spcPts val="1448"/>
              </a:lnSpc>
              <a:spcBef>
                <a:spcPts val="0"/>
              </a:spcBef>
              <a:spcAft>
                <a:spcPts val="0"/>
              </a:spcAft>
            </a:pPr>
            <a:r>
              <a:rPr sz="1250" b="1" i="0">
                <a:solidFill>
                  <a:srgbClr val="1E3A1E"/>
                </a:solidFill>
                <a:latin typeface="Apple SD Gothic Neo"/>
                <a:ea typeface="Apple SD Gothic Neo"/>
              </a:rPr>
              <a:t>CEO</a:t>
            </a:r>
            <a:r>
              <a:rPr sz="1050" b="0" i="0">
                <a:solidFill>
                  <a:srgbClr val="141413"/>
                </a:solidFill>
                <a:latin typeface="Apple SD Gothic Neo"/>
                <a:ea typeface="Apple SD Gothic Neo"/>
              </a:rPr>
              <a:t> (설립 등기 · 예산 관리 · 경쟁사 정찰 · 투자 신청)</a:t>
            </a:r>
          </a:p>
        </p:txBody>
      </p:sp>
      <p:sp>
        <p:nvSpPr>
          <p:cNvPr id="18" name="Rounded Rectangle 17"/>
          <p:cNvSpPr/>
          <p:nvPr/>
        </p:nvSpPr>
        <p:spPr>
          <a:xfrm>
            <a:off x="3317672" y="5448935"/>
            <a:ext cx="2695880" cy="1025017"/>
          </a:xfrm>
          <a:prstGeom prst="roundRect">
            <a:avLst>
              <a:gd name="adj" fmla="val 16057"/>
            </a:avLst>
          </a:prstGeom>
          <a:solidFill>
            <a:srgbClr val="FFFFFF"/>
          </a:solidFill>
          <a:ln>
            <a:noFill/>
          </a:ln>
        </p:spPr>
        <p:txBody>
          <a:bodyPr rtlCol="0" anchor="ctr"/>
          <a:lstStyle/>
          <a:p>
            <a:pPr algn="ctr"/>
          </a:p>
        </p:txBody>
      </p:sp>
      <p:sp>
        <p:nvSpPr>
          <p:cNvPr id="19" name="Rounded Rectangle 18"/>
          <p:cNvSpPr/>
          <p:nvPr/>
        </p:nvSpPr>
        <p:spPr>
          <a:xfrm>
            <a:off x="3463976" y="5595239"/>
            <a:ext cx="91440" cy="732409"/>
          </a:xfrm>
          <a:prstGeom prst="roundRect">
            <a:avLst>
              <a:gd name="adj" fmla="val 50000"/>
            </a:avLst>
          </a:prstGeom>
          <a:solidFill>
            <a:srgbClr val="FFB21A"/>
          </a:solidFill>
          <a:ln>
            <a:noFill/>
          </a:ln>
        </p:spPr>
        <p:txBody>
          <a:bodyPr rtlCol="0" anchor="ctr"/>
          <a:lstStyle/>
          <a:p>
            <a:pPr algn="ctr"/>
          </a:p>
        </p:txBody>
      </p:sp>
      <p:sp>
        <p:nvSpPr>
          <p:cNvPr id="20" name="TextBox 19"/>
          <p:cNvSpPr txBox="1"/>
          <p:nvPr/>
        </p:nvSpPr>
        <p:spPr>
          <a:xfrm>
            <a:off x="3646856" y="5558663"/>
            <a:ext cx="2238680" cy="805561"/>
          </a:xfrm>
          <a:prstGeom prst="rect">
            <a:avLst/>
          </a:prstGeom>
          <a:noFill/>
        </p:spPr>
        <p:txBody>
          <a:bodyPr wrap="square" lIns="0" rIns="0" tIns="0" bIns="0" anchor="ctr">
            <a:noAutofit/>
          </a:bodyPr>
          <a:lstStyle/>
          <a:p>
            <a:pPr algn="l">
              <a:lnSpc>
                <a:spcPts val="1448"/>
              </a:lnSpc>
              <a:spcBef>
                <a:spcPts val="0"/>
              </a:spcBef>
              <a:spcAft>
                <a:spcPts val="0"/>
              </a:spcAft>
            </a:pPr>
            <a:r>
              <a:rPr sz="1250" b="1" i="0">
                <a:solidFill>
                  <a:srgbClr val="1E3A1E"/>
                </a:solidFill>
                <a:latin typeface="Apple SD Gothic Neo"/>
                <a:ea typeface="Apple SD Gothic Neo"/>
              </a:rPr>
              <a:t>CSO</a:t>
            </a:r>
            <a:r>
              <a:rPr sz="1050" b="0" i="0">
                <a:solidFill>
                  <a:srgbClr val="141413"/>
                </a:solidFill>
                <a:latin typeface="Apple SD Gothic Neo"/>
                <a:ea typeface="Apple SD Gothic Neo"/>
              </a:rPr>
              <a:t> (표적 근거 · ΔG 비교 · 노트 ① 가설)</a:t>
            </a:r>
          </a:p>
        </p:txBody>
      </p:sp>
      <p:sp>
        <p:nvSpPr>
          <p:cNvPr id="21" name="Rounded Rectangle 20"/>
          <p:cNvSpPr/>
          <p:nvPr/>
        </p:nvSpPr>
        <p:spPr>
          <a:xfrm>
            <a:off x="6178144" y="5448935"/>
            <a:ext cx="2695880" cy="1025017"/>
          </a:xfrm>
          <a:prstGeom prst="roundRect">
            <a:avLst>
              <a:gd name="adj" fmla="val 16057"/>
            </a:avLst>
          </a:prstGeom>
          <a:solidFill>
            <a:srgbClr val="FFFFFF"/>
          </a:solidFill>
          <a:ln>
            <a:noFill/>
          </a:ln>
        </p:spPr>
        <p:txBody>
          <a:bodyPr rtlCol="0" anchor="ctr"/>
          <a:lstStyle/>
          <a:p>
            <a:pPr algn="ctr"/>
          </a:p>
        </p:txBody>
      </p:sp>
      <p:sp>
        <p:nvSpPr>
          <p:cNvPr id="22" name="Rounded Rectangle 21"/>
          <p:cNvSpPr/>
          <p:nvPr/>
        </p:nvSpPr>
        <p:spPr>
          <a:xfrm>
            <a:off x="6324448" y="5595239"/>
            <a:ext cx="91440" cy="732409"/>
          </a:xfrm>
          <a:prstGeom prst="roundRect">
            <a:avLst>
              <a:gd name="adj" fmla="val 50000"/>
            </a:avLst>
          </a:prstGeom>
          <a:solidFill>
            <a:srgbClr val="7FB8FF"/>
          </a:solidFill>
          <a:ln>
            <a:noFill/>
          </a:ln>
        </p:spPr>
        <p:txBody>
          <a:bodyPr rtlCol="0" anchor="ctr"/>
          <a:lstStyle/>
          <a:p>
            <a:pPr algn="ctr"/>
          </a:p>
        </p:txBody>
      </p:sp>
      <p:sp>
        <p:nvSpPr>
          <p:cNvPr id="23" name="TextBox 22"/>
          <p:cNvSpPr txBox="1"/>
          <p:nvPr/>
        </p:nvSpPr>
        <p:spPr>
          <a:xfrm>
            <a:off x="6507328" y="5558663"/>
            <a:ext cx="2238680" cy="805561"/>
          </a:xfrm>
          <a:prstGeom prst="rect">
            <a:avLst/>
          </a:prstGeom>
          <a:noFill/>
        </p:spPr>
        <p:txBody>
          <a:bodyPr wrap="square" lIns="0" rIns="0" tIns="0" bIns="0" anchor="ctr">
            <a:noAutofit/>
          </a:bodyPr>
          <a:lstStyle/>
          <a:p>
            <a:pPr algn="l">
              <a:lnSpc>
                <a:spcPts val="1448"/>
              </a:lnSpc>
              <a:spcBef>
                <a:spcPts val="0"/>
              </a:spcBef>
              <a:spcAft>
                <a:spcPts val="0"/>
              </a:spcAft>
            </a:pPr>
            <a:r>
              <a:rPr sz="1250" b="1" i="0">
                <a:solidFill>
                  <a:srgbClr val="1E3A1E"/>
                </a:solidFill>
                <a:latin typeface="Apple SD Gothic Neo"/>
                <a:ea typeface="Apple SD Gothic Neo"/>
              </a:rPr>
              <a:t>CTO</a:t>
            </a:r>
            <a:r>
              <a:rPr sz="1050" b="0" i="0">
                <a:solidFill>
                  <a:srgbClr val="141413"/>
                </a:solidFill>
                <a:latin typeface="Apple SD Gothic Neo"/>
                <a:ea typeface="Apple SD Gothic Neo"/>
              </a:rPr>
              <a:t> (작용기 변형 · 물성 점검 · 노트 ② 한계)</a:t>
            </a:r>
          </a:p>
        </p:txBody>
      </p:sp>
      <p:sp>
        <p:nvSpPr>
          <p:cNvPr id="24" name="Rounded Rectangle 23"/>
          <p:cNvSpPr/>
          <p:nvPr/>
        </p:nvSpPr>
        <p:spPr>
          <a:xfrm>
            <a:off x="9038615" y="5448935"/>
            <a:ext cx="2695880" cy="1025017"/>
          </a:xfrm>
          <a:prstGeom prst="roundRect">
            <a:avLst>
              <a:gd name="adj" fmla="val 16057"/>
            </a:avLst>
          </a:prstGeom>
          <a:solidFill>
            <a:srgbClr val="FFFFFF"/>
          </a:solidFill>
          <a:ln>
            <a:noFill/>
          </a:ln>
        </p:spPr>
        <p:txBody>
          <a:bodyPr rtlCol="0" anchor="ctr"/>
          <a:lstStyle/>
          <a:p>
            <a:pPr algn="ctr"/>
          </a:p>
        </p:txBody>
      </p:sp>
      <p:sp>
        <p:nvSpPr>
          <p:cNvPr id="25" name="Rounded Rectangle 24"/>
          <p:cNvSpPr/>
          <p:nvPr/>
        </p:nvSpPr>
        <p:spPr>
          <a:xfrm>
            <a:off x="9184919" y="5595239"/>
            <a:ext cx="91440" cy="732409"/>
          </a:xfrm>
          <a:prstGeom prst="roundRect">
            <a:avLst>
              <a:gd name="adj" fmla="val 50000"/>
            </a:avLst>
          </a:prstGeom>
          <a:solidFill>
            <a:srgbClr val="FF8A7A"/>
          </a:solidFill>
          <a:ln>
            <a:noFill/>
          </a:ln>
        </p:spPr>
        <p:txBody>
          <a:bodyPr rtlCol="0" anchor="ctr"/>
          <a:lstStyle/>
          <a:p>
            <a:pPr algn="ctr"/>
          </a:p>
        </p:txBody>
      </p:sp>
      <p:sp>
        <p:nvSpPr>
          <p:cNvPr id="26" name="TextBox 25"/>
          <p:cNvSpPr txBox="1"/>
          <p:nvPr/>
        </p:nvSpPr>
        <p:spPr>
          <a:xfrm>
            <a:off x="9367799" y="5558663"/>
            <a:ext cx="2238680" cy="805561"/>
          </a:xfrm>
          <a:prstGeom prst="rect">
            <a:avLst/>
          </a:prstGeom>
          <a:noFill/>
        </p:spPr>
        <p:txBody>
          <a:bodyPr wrap="square" lIns="0" rIns="0" tIns="0" bIns="0" anchor="ctr">
            <a:noAutofit/>
          </a:bodyPr>
          <a:lstStyle/>
          <a:p>
            <a:pPr algn="l">
              <a:lnSpc>
                <a:spcPts val="1448"/>
              </a:lnSpc>
              <a:spcBef>
                <a:spcPts val="0"/>
              </a:spcBef>
              <a:spcAft>
                <a:spcPts val="0"/>
              </a:spcAft>
            </a:pPr>
            <a:r>
              <a:rPr sz="1250" b="1" i="0">
                <a:solidFill>
                  <a:srgbClr val="1E3A1E"/>
                </a:solidFill>
                <a:latin typeface="Apple SD Gothic Neo"/>
                <a:ea typeface="Apple SD Gothic Neo"/>
              </a:rPr>
              <a:t>CMO</a:t>
            </a:r>
            <a:r>
              <a:rPr sz="1050" b="0" i="0">
                <a:solidFill>
                  <a:srgbClr val="141413"/>
                </a:solidFill>
                <a:latin typeface="Apple SD Gothic Neo"/>
                <a:ea typeface="Apple SD Gothic Neo"/>
              </a:rPr>
              <a:t> (ADMET 독성 · 제형/용량 · 노트 ③ 대안)</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12 / 26</a:t>
            </a:r>
          </a:p>
        </p:txBody>
      </p:sp>
      <p:sp>
        <p:nvSpPr>
          <p:cNvPr id="7" name="Rounded Rectangle 6"/>
          <p:cNvSpPr/>
          <p:nvPr/>
        </p:nvSpPr>
        <p:spPr>
          <a:xfrm>
            <a:off x="457200" y="566928"/>
            <a:ext cx="2098015"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1823695"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3 · 9단계 상세 흐름</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1.1 표적 선정부터 4.2 최종 허가까지 9단계 설계표</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자료 조회, 실제 물리·화학 계산, AI 독성 예측, 교육용 모의 판정과 서류 심사가 단계마다 맞물려 돌아갑니다.</a:t>
            </a:r>
          </a:p>
        </p:txBody>
      </p:sp>
      <p:sp>
        <p:nvSpPr>
          <p:cNvPr id="12" name="TextBox 11"/>
          <p:cNvSpPr txBox="1"/>
          <p:nvPr/>
        </p:nvSpPr>
        <p:spPr>
          <a:xfrm>
            <a:off x="457200" y="182549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9단계 요약표</a:t>
            </a:r>
          </a:p>
        </p:txBody>
      </p:sp>
      <p:graphicFrame>
        <p:nvGraphicFramePr>
          <p:cNvPr id="13" name="Table 12"/>
          <p:cNvGraphicFramePr>
            <a:graphicFrameLocks noGrp="1"/>
          </p:cNvGraphicFramePr>
          <p:nvPr/>
        </p:nvGraphicFramePr>
        <p:xfrm>
          <a:off x="457200" y="2046351"/>
          <a:ext cx="11277295" cy="4427600"/>
        </p:xfrm>
        <a:graphic>
          <a:graphicData uri="http://schemas.openxmlformats.org/drawingml/2006/table">
            <a:tbl>
              <a:tblPr firstRow="1">
                <a:tableStyleId>{2D5ABB26-0587-4C30-8999-92F81FD0307C}</a:tableStyleId>
              </a:tblPr>
              <a:tblGrid>
                <a:gridCol w="1024128"/>
                <a:gridCol w="1627632"/>
                <a:gridCol w="3639312"/>
                <a:gridCol w="1920240"/>
                <a:gridCol w="1645920"/>
                <a:gridCol w="1420063"/>
              </a:tblGrid>
              <a:tr h="284701">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묶음</a:t>
                      </a:r>
                    </a:p>
                  </a:txBody>
                  <a:tcPr marL="64008" marR="64008" marT="45720" marB="45720" anchor="ctr">
                    <a:lnL w="0">
                      <a:noFill/>
                    </a:lnL>
                    <a:lnR w="0">
                      <a:noFill/>
                    </a:lnR>
                    <a:lnT w="0">
                      <a:noFill/>
                    </a:lnT>
                    <a:lnB w="0">
                      <a:noFill/>
                    </a:lnB>
                    <a:solidFill>
                      <a:srgbClr val="141413"/>
                    </a:solidFill>
                  </a:tcPr>
                </a:tc>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단계</a:t>
                      </a:r>
                    </a:p>
                  </a:txBody>
                  <a:tcPr marL="64008" marR="64008" marT="45720" marB="45720" anchor="ctr">
                    <a:lnL w="0">
                      <a:noFill/>
                    </a:lnL>
                    <a:lnR w="0">
                      <a:noFill/>
                    </a:lnR>
                    <a:lnT w="0">
                      <a:noFill/>
                    </a:lnT>
                    <a:lnB w="0">
                      <a:noFill/>
                    </a:lnB>
                    <a:solidFill>
                      <a:srgbClr val="141413"/>
                    </a:solidFill>
                  </a:tcPr>
                </a:tc>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학생이 하는 핵심 활동</a:t>
                      </a:r>
                    </a:p>
                  </a:txBody>
                  <a:tcPr marL="64008" marR="64008" marT="45720" marB="45720" anchor="ctr">
                    <a:lnL w="0">
                      <a:noFill/>
                    </a:lnL>
                    <a:lnR w="0">
                      <a:noFill/>
                    </a:lnR>
                    <a:lnT w="0">
                      <a:noFill/>
                    </a:lnT>
                    <a:lnB w="0">
                      <a:noFill/>
                    </a:lnB>
                    <a:solidFill>
                      <a:srgbClr val="141413"/>
                    </a:solidFill>
                  </a:tcPr>
                </a:tc>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계산 · 심사 출처</a:t>
                      </a:r>
                    </a:p>
                  </a:txBody>
                  <a:tcPr marL="64008" marR="64008" marT="45720" marB="45720" anchor="ctr">
                    <a:lnL w="0">
                      <a:noFill/>
                    </a:lnL>
                    <a:lnR w="0">
                      <a:noFill/>
                    </a:lnR>
                    <a:lnT w="0">
                      <a:noFill/>
                    </a:lnT>
                    <a:lnB w="0">
                      <a:noFill/>
                    </a:lnB>
                    <a:solidFill>
                      <a:srgbClr val="141413"/>
                    </a:solidFill>
                  </a:tcPr>
                </a:tc>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단계 완료 조건</a:t>
                      </a:r>
                    </a:p>
                  </a:txBody>
                  <a:tcPr marL="64008" marR="64008" marT="45720" marB="45720" anchor="ctr">
                    <a:lnL w="0">
                      <a:noFill/>
                    </a:lnL>
                    <a:lnR w="0">
                      <a:noFill/>
                    </a:lnR>
                    <a:lnT w="0">
                      <a:noFill/>
                    </a:lnT>
                    <a:lnB w="0">
                      <a:noFill/>
                    </a:lnB>
                    <a:solidFill>
                      <a:srgbClr val="141413"/>
                    </a:solidFill>
                  </a:tcPr>
                </a:tc>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기본 비용 · 기간</a:t>
                      </a:r>
                    </a:p>
                  </a:txBody>
                  <a:tcPr marL="64008" marR="64008" marT="45720" marB="45720" anchor="ctr">
                    <a:lnL w="0">
                      <a:noFill/>
                    </a:lnL>
                    <a:lnR w="0">
                      <a:noFill/>
                    </a:lnR>
                    <a:lnT w="0">
                      <a:noFill/>
                    </a:lnT>
                    <a:lnB w="0">
                      <a:noFill/>
                    </a:lnB>
                    <a:solidFill>
                      <a:srgbClr val="141413"/>
                    </a:solidFill>
                  </a:tcPr>
                </a:tc>
              </a:tr>
              <a:tr h="319211">
                <a:tc rowSpan="2">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1. 발견</a:t>
                      </a:r>
                    </a:p>
                  </a:txBody>
                  <a:tcPr marL="64008" marR="64008" marT="45720" marB="45720" anchor="ctr">
                    <a:lnL w="0">
                      <a:noFill/>
                    </a:lnL>
                    <a:lnR w="0">
                      <a:noFill/>
                    </a:lnR>
                    <a:lnT w="0">
                      <a:noFill/>
                    </a:lnT>
                    <a:lnB w="9525">
                      <a:solidFill>
                        <a:srgbClr val="DDDBD2"/>
                      </a:solidFill>
                    </a:lnB>
                    <a:solidFill>
                      <a:srgbClr val="D4F94E"/>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1.1 질환·표적 선정</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12대 질환 중 탐색 → 유전·문헌·약물·발현 근거 보고 표적 확정</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Open Targets · PDB</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모둠 표적(targetId) 확정</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무료 · 즉시</a:t>
                      </a:r>
                    </a:p>
                  </a:txBody>
                  <a:tcPr marL="64008" marR="64008" marT="45720" marB="45720" anchor="ctr">
                    <a:lnL w="0">
                      <a:noFill/>
                    </a:lnL>
                    <a:lnR w="0">
                      <a:noFill/>
                    </a:lnR>
                    <a:lnT w="0">
                      <a:noFill/>
                    </a:lnT>
                    <a:lnB w="9525">
                      <a:solidFill>
                        <a:srgbClr val="DDDBD2"/>
                      </a:solidFill>
                    </a:lnB>
                    <a:solidFill>
                      <a:srgbClr val="FFFFFF"/>
                    </a:solidFill>
                  </a:tcPr>
                </a:tc>
              </a:tr>
              <a:tr h="477961">
                <a:tc vMerge="1">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
                      </a:r>
                    </a:p>
                  </a:txBody>
                  <a:tcPr marL="64008" marR="64008" marT="45720" marB="45720" anchor="ctr">
                    <a:lnL w="0">
                      <a:noFill/>
                    </a:lnL>
                    <a:lnR w="0">
                      <a:noFill/>
                    </a:lnR>
                    <a:lnT w="0">
                      <a:noFill/>
                    </a:lnT>
                    <a:lnB w="9525">
                      <a:solidFill>
                        <a:srgbClr val="DDDBD2"/>
                      </a:solidFill>
                    </a:lnB>
                    <a:solidFill>
                      <a:srgbClr val="D4F94E"/>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1.2 화합물 스크리닝</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미션 브리핑 → 6개 기준 회의·투표 합의 → 220종 스크리닝 → 분자 쇼핑</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ChEMBL/ZINC · RDKit</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합의 기준 스크리닝 1회 이상</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$0.050M · 즉시</a:t>
                      </a:r>
                    </a:p>
                  </a:txBody>
                  <a:tcPr marL="64008" marR="64008" marT="45720" marB="45720" anchor="ctr">
                    <a:lnL w="0">
                      <a:noFill/>
                    </a:lnL>
                    <a:lnR w="0">
                      <a:noFill/>
                    </a:lnR>
                    <a:lnT w="0">
                      <a:noFill/>
                    </a:lnT>
                    <a:lnB w="9525">
                      <a:solidFill>
                        <a:srgbClr val="DDDBD2"/>
                      </a:solidFill>
                    </a:lnB>
                    <a:solidFill>
                      <a:srgbClr val="FFFFFF"/>
                    </a:solidFill>
                  </a:tcPr>
                </a:tc>
              </a:tr>
              <a:tr h="477961">
                <a:tc rowSpan="2">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2. 최적화</a:t>
                      </a:r>
                    </a:p>
                  </a:txBody>
                  <a:tcPr marL="64008" marR="64008" marT="45720" marB="45720" anchor="ctr">
                    <a:lnL w="0">
                      <a:noFill/>
                    </a:lnL>
                    <a:lnR w="0">
                      <a:noFill/>
                    </a:lnR>
                    <a:lnT w="0">
                      <a:noFill/>
                    </a:lnT>
                    <a:lnB w="9525">
                      <a:solidFill>
                        <a:srgbClr val="DDDBD2"/>
                      </a:solidFill>
                    </a:lnB>
                    <a:solidFill>
                      <a:srgbClr val="D4F94E"/>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2.1 분자 도킹</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후보+대조군 3D 도킹 · 작용기 변형 재도킹 · 도구 3종으로 2.2 대기열 선정</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AutoDock Vina · PLIP · RDKit</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실제 도킹 근거 1건 이상</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건당 $0.050M</a:t>
                      </a:r>
                    </a:p>
                  </a:txBody>
                  <a:tcPr marL="64008" marR="64008" marT="45720" marB="45720" anchor="ctr">
                    <a:lnL w="0">
                      <a:noFill/>
                    </a:lnL>
                    <a:lnR w="0">
                      <a:noFill/>
                    </a:lnR>
                    <a:lnT w="0">
                      <a:noFill/>
                    </a:lnT>
                    <a:lnB w="9525">
                      <a:solidFill>
                        <a:srgbClr val="DDDBD2"/>
                      </a:solidFill>
                    </a:lnB>
                    <a:solidFill>
                      <a:srgbClr val="FFFFFF"/>
                    </a:solidFill>
                  </a:tcPr>
                </a:tc>
              </a:tr>
              <a:tr h="477961">
                <a:tc vMerge="1">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
                      </a:r>
                    </a:p>
                  </a:txBody>
                  <a:tcPr marL="64008" marR="64008" marT="45720" marB="45720" anchor="ctr">
                    <a:lnL w="0">
                      <a:noFill/>
                    </a:lnL>
                    <a:lnR w="0">
                      <a:noFill/>
                    </a:lnR>
                    <a:lnT w="0">
                      <a:noFill/>
                    </a:lnT>
                    <a:lnB w="9525">
                      <a:solidFill>
                        <a:srgbClr val="DDDBD2"/>
                      </a:solidFill>
                    </a:lnB>
                    <a:solidFill>
                      <a:srgbClr val="D4F94E"/>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2.2 ADMET·특허 후보</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도구 4종(물성 레이더·신호등·몸속 지도·점수 사슬) 분석 → 특허 후보 선정</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ADMET-AI v2 · RDKit 신호</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특허 후보 1개 이상 지정</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건당 $0.050M</a:t>
                      </a:r>
                    </a:p>
                  </a:txBody>
                  <a:tcPr marL="64008" marR="64008" marT="45720" marB="45720" anchor="ctr">
                    <a:lnL w="0">
                      <a:noFill/>
                    </a:lnL>
                    <a:lnR w="0">
                      <a:noFill/>
                    </a:lnR>
                    <a:lnT w="0">
                      <a:noFill/>
                    </a:lnT>
                    <a:lnB w="9525">
                      <a:solidFill>
                        <a:srgbClr val="DDDBD2"/>
                      </a:solidFill>
                    </a:lnB>
                    <a:solidFill>
                      <a:srgbClr val="FFFFFF"/>
                    </a:solidFill>
                  </a:tcPr>
                </a:tc>
              </a:tr>
              <a:tr h="477961">
                <a:tc rowSpan="3">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3. 개발·규제</a:t>
                      </a:r>
                    </a:p>
                  </a:txBody>
                  <a:tcPr marL="64008" marR="64008" marT="45720" marB="45720" anchor="ctr">
                    <a:lnL w="0">
                      <a:noFill/>
                    </a:lnL>
                    <a:lnR w="0">
                      <a:noFill/>
                    </a:lnR>
                    <a:lnT w="0">
                      <a:noFill/>
                    </a:lnT>
                    <a:lnB w="9525">
                      <a:solidFill>
                        <a:srgbClr val="DDDBD2"/>
                      </a:solidFill>
                    </a:lnB>
                    <a:solidFill>
                      <a:srgbClr val="D4F94E"/>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3.1 선언·물질특허</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최대 3건 출원서 &amp; 코드명 해부도 작성 → 규칙+AI 심사 → 학급 특허 원장</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RDKit 평면 SMILES + 규칙·AI</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유효 물질특허 1건 이상</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등록 시 건당 $0.050M</a:t>
                      </a:r>
                    </a:p>
                  </a:txBody>
                  <a:tcPr marL="64008" marR="64008" marT="45720" marB="45720" anchor="ctr">
                    <a:lnL w="0">
                      <a:noFill/>
                    </a:lnL>
                    <a:lnR w="0">
                      <a:noFill/>
                    </a:lnR>
                    <a:lnT w="0">
                      <a:noFill/>
                    </a:lnT>
                    <a:lnB w="9525">
                      <a:solidFill>
                        <a:srgbClr val="DDDBD2"/>
                      </a:solidFill>
                    </a:lnB>
                    <a:solidFill>
                      <a:srgbClr val="FFFFFF"/>
                    </a:solidFill>
                  </a:tcPr>
                </a:tc>
              </a:tr>
              <a:tr h="477961">
                <a:tc vMerge="1">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
                      </a:r>
                    </a:p>
                  </a:txBody>
                  <a:tcPr marL="64008" marR="64008" marT="45720" marB="45720" anchor="ctr">
                    <a:lnL w="0">
                      <a:noFill/>
                    </a:lnL>
                    <a:lnR w="0">
                      <a:noFill/>
                    </a:lnR>
                    <a:lnT w="0">
                      <a:noFill/>
                    </a:lnT>
                    <a:lnB w="9525">
                      <a:solidFill>
                        <a:srgbClr val="DDDBD2"/>
                      </a:solidFill>
                    </a:lnB>
                    <a:solidFill>
                      <a:srgbClr val="D4F94E"/>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3.2 전임상·동물실험</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3R 윤리 교육 이수 → 동물실험계획서 심의 → 동물실험 · MRSD 계산 → 주력·백업</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전임상 규칙 모델 + 규칙·AI</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승인 계획서 + 실험 1건 + 주력 지정</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후보당 $0.080M · 28일</a:t>
                      </a:r>
                    </a:p>
                  </a:txBody>
                  <a:tcPr marL="64008" marR="64008" marT="45720" marB="45720" anchor="ctr">
                    <a:lnL w="0">
                      <a:noFill/>
                    </a:lnL>
                    <a:lnR w="0">
                      <a:noFill/>
                    </a:lnR>
                    <a:lnT w="0">
                      <a:noFill/>
                    </a:lnT>
                    <a:lnB w="9525">
                      <a:solidFill>
                        <a:srgbClr val="DDDBD2"/>
                      </a:solidFill>
                    </a:lnB>
                    <a:solidFill>
                      <a:srgbClr val="FFFFFF"/>
                    </a:solidFill>
                  </a:tcPr>
                </a:tc>
              </a:tr>
              <a:tr h="477961">
                <a:tc vMerge="1">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
                      </a:r>
                    </a:p>
                  </a:txBody>
                  <a:tcPr marL="64008" marR="64008" marT="45720" marB="45720" anchor="ctr">
                    <a:lnL w="0">
                      <a:noFill/>
                    </a:lnL>
                    <a:lnR w="0">
                      <a:noFill/>
                    </a:lnR>
                    <a:lnT w="0">
                      <a:noFill/>
                    </a:lnT>
                    <a:lnB w="9525">
                      <a:solidFill>
                        <a:srgbClr val="DDDBD2"/>
                      </a:solidFill>
                    </a:lnB>
                    <a:solidFill>
                      <a:srgbClr val="D4F94E"/>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3.3 제형·IND 신청</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도구 6종으로 제형·용량(≤MRSD)·평가지표 설계 → IND 신청서 심사·접수</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효능 E·안전 S 모델 + 규칙·AI</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IND 승인</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접수 $0.100M · 30일</a:t>
                      </a:r>
                    </a:p>
                  </a:txBody>
                  <a:tcPr marL="64008" marR="64008" marT="45720" marB="45720" anchor="ctr">
                    <a:lnL w="0">
                      <a:noFill/>
                    </a:lnL>
                    <a:lnR w="0">
                      <a:noFill/>
                    </a:lnR>
                    <a:lnT w="0">
                      <a:noFill/>
                    </a:lnT>
                    <a:lnB w="9525">
                      <a:solidFill>
                        <a:srgbClr val="DDDBD2"/>
                      </a:solidFill>
                    </a:lnB>
                    <a:solidFill>
                      <a:srgbClr val="FFFFFF"/>
                    </a:solidFill>
                  </a:tcPr>
                </a:tc>
              </a:tr>
              <a:tr h="477961">
                <a:tc rowSpan="2">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4. 임상·허가</a:t>
                      </a:r>
                    </a:p>
                  </a:txBody>
                  <a:tcPr marL="64008" marR="64008" marT="45720" marB="45720" anchor="ctr">
                    <a:lnL w="0">
                      <a:noFill/>
                    </a:lnL>
                    <a:lnR w="0">
                      <a:noFill/>
                    </a:lnR>
                    <a:lnT w="0">
                      <a:noFill/>
                    </a:lnT>
                    <a:lnB w="9525">
                      <a:solidFill>
                        <a:srgbClr val="DDDBD2"/>
                      </a:solidFill>
                    </a:lnB>
                    <a:solidFill>
                      <a:srgbClr val="D4F94E"/>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4.1 임상 1·2·3상</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1상(안전) → 2상(효능) → 3상(확증) 진행, 보류 시 용량·제형·백업 교체 재도전</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임상 판정 모델</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임상 3상 통과</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$0.3M / $0.6M / $1.2M</a:t>
                      </a:r>
                    </a:p>
                  </a:txBody>
                  <a:tcPr marL="64008" marR="64008" marT="45720" marB="45720" anchor="ctr">
                    <a:lnL w="0">
                      <a:noFill/>
                    </a:lnL>
                    <a:lnR w="0">
                      <a:noFill/>
                    </a:lnR>
                    <a:lnT w="0">
                      <a:noFill/>
                    </a:lnT>
                    <a:lnB w="9525">
                      <a:solidFill>
                        <a:srgbClr val="DDDBD2"/>
                      </a:solidFill>
                    </a:lnB>
                    <a:solidFill>
                      <a:srgbClr val="FFFFFF"/>
                    </a:solidFill>
                  </a:tcPr>
                </a:tc>
              </a:tr>
              <a:tr h="477961">
                <a:tc vMerge="1">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
                      </a:r>
                    </a:p>
                  </a:txBody>
                  <a:tcPr marL="64008" marR="64008" marT="45720" marB="45720" anchor="ctr">
                    <a:lnL w="0">
                      <a:noFill/>
                    </a:lnL>
                    <a:lnR w="0">
                      <a:noFill/>
                    </a:lnR>
                    <a:lnT w="0">
                      <a:noFill/>
                    </a:lnT>
                    <a:lnB w="9525">
                      <a:solidFill>
                        <a:srgbClr val="DDDBD2"/>
                      </a:solidFill>
                    </a:lnB>
                    <a:solidFill>
                      <a:srgbClr val="D4F94E"/>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4.2 최종 허가</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신약 브랜드 이름·포장 설계 → 최종 심사 → 허가 도장 및 전광판 공시</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허가 판정</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최종 허가 획득</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E3A1E"/>
                          </a:solidFill>
                          <a:latin typeface="Apple SD Gothic Neo"/>
                          <a:ea typeface="Apple SD Gothic Neo"/>
                        </a:rPr>
                        <a:t>$0.100M · 60일</a:t>
                      </a:r>
                    </a:p>
                  </a:txBody>
                  <a:tcPr marL="64008" marR="64008" marT="45720" marB="45720" anchor="ctr">
                    <a:lnL w="0">
                      <a:noFill/>
                    </a:lnL>
                    <a:lnR w="0">
                      <a:noFill/>
                    </a:lnR>
                    <a:lnT w="0">
                      <a:noFill/>
                    </a:lnT>
                    <a:lnB w="9525">
                      <a:solidFill>
                        <a:srgbClr val="DDDBD2"/>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13 / 26</a:t>
            </a:r>
          </a:p>
        </p:txBody>
      </p:sp>
      <p:sp>
        <p:nvSpPr>
          <p:cNvPr id="7" name="Rounded Rectangle 6"/>
          <p:cNvSpPr/>
          <p:nvPr/>
        </p:nvSpPr>
        <p:spPr>
          <a:xfrm>
            <a:off x="457200" y="566928"/>
            <a:ext cx="2649941"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375621"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3 · 단계 1.1 질환·표적 선정</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8개 모둠이 겹치지 않고 탐구하는 4대 질환군 12종 실제 결정구조 표적</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4인 모둠에서 한 사람이 한 질환군(3개 질환)씩 맡아 탐색하면 12개 질환을 빈틈없이 비교할 수 있습니다.</a:t>
            </a:r>
          </a:p>
        </p:txBody>
      </p:sp>
      <p:sp>
        <p:nvSpPr>
          <p:cNvPr id="12" name="TextBox 11"/>
          <p:cNvSpPr txBox="1"/>
          <p:nvPr/>
        </p:nvSpPr>
        <p:spPr>
          <a:xfrm>
            <a:off x="457200" y="182549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12대 질환 카탈로그 표</a:t>
            </a:r>
          </a:p>
        </p:txBody>
      </p:sp>
      <p:graphicFrame>
        <p:nvGraphicFramePr>
          <p:cNvPr id="13" name="Table 12"/>
          <p:cNvGraphicFramePr>
            <a:graphicFrameLocks noGrp="1"/>
          </p:cNvGraphicFramePr>
          <p:nvPr/>
        </p:nvGraphicFramePr>
        <p:xfrm>
          <a:off x="457200" y="2046351"/>
          <a:ext cx="11277295" cy="4427601"/>
        </p:xfrm>
        <a:graphic>
          <a:graphicData uri="http://schemas.openxmlformats.org/drawingml/2006/table">
            <a:tbl>
              <a:tblPr firstRow="1">
                <a:tableStyleId>{2D5ABB26-0587-4C30-8999-92F81FD0307C}</a:tableStyleId>
              </a:tblPr>
              <a:tblGrid>
                <a:gridCol w="1481328"/>
                <a:gridCol w="347472"/>
                <a:gridCol w="1517904"/>
                <a:gridCol w="2212848"/>
                <a:gridCol w="987552"/>
                <a:gridCol w="1810512"/>
                <a:gridCol w="2919679"/>
              </a:tblGrid>
              <a:tr h="282067">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질환군 (특성)</a:t>
                      </a:r>
                    </a:p>
                  </a:txBody>
                  <a:tcPr marL="64008" marR="64008" marT="36576" marB="36576" anchor="ctr">
                    <a:lnL w="0">
                      <a:noFill/>
                    </a:lnL>
                    <a:lnR w="0">
                      <a:noFill/>
                    </a:lnR>
                    <a:lnT w="0">
                      <a:noFill/>
                    </a:lnT>
                    <a:lnB w="0">
                      <a:noFill/>
                    </a:lnB>
                    <a:solidFill>
                      <a:srgbClr val="141413"/>
                    </a:solidFill>
                  </a:tcPr>
                </a:tc>
                <a:tc>
                  <a:txBody>
                    <a:bodyPr wrap="square"/>
                    <a:lstStyle/>
                    <a:p>
                      <a:pPr algn="ctr">
                        <a:lnSpc>
                          <a:spcPts val="1250"/>
                        </a:lnSpc>
                        <a:spcBef>
                          <a:spcPts val="0"/>
                        </a:spcBef>
                        <a:spcAft>
                          <a:spcPts val="0"/>
                        </a:spcAft>
                      </a:pPr>
                      <a:r>
                        <a:rPr sz="1000" b="1" i="0">
                          <a:solidFill>
                            <a:srgbClr val="FAF9F5"/>
                          </a:solidFill>
                          <a:latin typeface="Apple SD Gothic Neo"/>
                          <a:ea typeface="Apple SD Gothic Neo"/>
                        </a:rPr>
                        <a:t>#</a:t>
                      </a:r>
                    </a:p>
                  </a:txBody>
                  <a:tcPr marL="64008" marR="64008" marT="36576" marB="36576" anchor="ctr">
                    <a:lnL w="0">
                      <a:noFill/>
                    </a:lnL>
                    <a:lnR w="0">
                      <a:noFill/>
                    </a:lnR>
                    <a:lnT w="0">
                      <a:noFill/>
                    </a:lnT>
                    <a:lnB w="0">
                      <a:noFill/>
                    </a:lnB>
                    <a:solidFill>
                      <a:srgbClr val="141413"/>
                    </a:solidFill>
                  </a:tcPr>
                </a:tc>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질환명 (MONDO)</a:t>
                      </a:r>
                    </a:p>
                  </a:txBody>
                  <a:tcPr marL="64008" marR="64008" marT="36576" marB="36576" anchor="ctr">
                    <a:lnL w="0">
                      <a:noFill/>
                    </a:lnL>
                    <a:lnR w="0">
                      <a:noFill/>
                    </a:lnR>
                    <a:lnT w="0">
                      <a:noFill/>
                    </a:lnT>
                    <a:lnB w="0">
                      <a:noFill/>
                    </a:lnB>
                    <a:solidFill>
                      <a:srgbClr val="141413"/>
                    </a:solidFill>
                  </a:tcPr>
                </a:tc>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표적 유전자 · 단백질</a:t>
                      </a:r>
                    </a:p>
                  </a:txBody>
                  <a:tcPr marL="64008" marR="64008" marT="36576" marB="36576" anchor="ctr">
                    <a:lnL w="0">
                      <a:noFill/>
                    </a:lnL>
                    <a:lnR w="0">
                      <a:noFill/>
                    </a:lnR>
                    <a:lnT w="0">
                      <a:noFill/>
                    </a:lnT>
                    <a:lnB w="0">
                      <a:noFill/>
                    </a:lnB>
                    <a:solidFill>
                      <a:srgbClr val="141413"/>
                    </a:solidFill>
                  </a:tcPr>
                </a:tc>
                <a:tc>
                  <a:txBody>
                    <a:bodyPr wrap="square"/>
                    <a:lstStyle/>
                    <a:p>
                      <a:pPr algn="ctr">
                        <a:lnSpc>
                          <a:spcPts val="1250"/>
                        </a:lnSpc>
                        <a:spcBef>
                          <a:spcPts val="0"/>
                        </a:spcBef>
                        <a:spcAft>
                          <a:spcPts val="0"/>
                        </a:spcAft>
                      </a:pPr>
                      <a:r>
                        <a:rPr sz="1000" b="1" i="0">
                          <a:solidFill>
                            <a:srgbClr val="FAF9F5"/>
                          </a:solidFill>
                          <a:latin typeface="Apple SD Gothic Neo"/>
                          <a:ea typeface="Apple SD Gothic Neo"/>
                        </a:rPr>
                        <a:t>PDB (리간드)</a:t>
                      </a:r>
                    </a:p>
                  </a:txBody>
                  <a:tcPr marL="64008" marR="64008" marT="36576" marB="36576" anchor="ctr">
                    <a:lnL w="0">
                      <a:noFill/>
                    </a:lnL>
                    <a:lnR w="0">
                      <a:noFill/>
                    </a:lnR>
                    <a:lnT w="0">
                      <a:noFill/>
                    </a:lnT>
                    <a:lnB w="0">
                      <a:noFill/>
                    </a:lnB>
                    <a:solidFill>
                      <a:srgbClr val="141413"/>
                    </a:solidFill>
                  </a:tcPr>
                </a:tc>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기준 승인약 (대조군)</a:t>
                      </a:r>
                    </a:p>
                  </a:txBody>
                  <a:tcPr marL="64008" marR="64008" marT="36576" marB="36576" anchor="ctr">
                    <a:lnL w="0">
                      <a:noFill/>
                    </a:lnL>
                    <a:lnR w="0">
                      <a:noFill/>
                    </a:lnR>
                    <a:lnT w="0">
                      <a:noFill/>
                    </a:lnT>
                    <a:lnB w="0">
                      <a:noFill/>
                    </a:lnB>
                    <a:solidFill>
                      <a:srgbClr val="141413"/>
                    </a:solidFill>
                  </a:tcPr>
                </a:tc>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대표 임상 1차 평가지표</a:t>
                      </a:r>
                    </a:p>
                  </a:txBody>
                  <a:tcPr marL="64008" marR="64008" marT="36576" marB="36576" anchor="ctr">
                    <a:lnL w="0">
                      <a:noFill/>
                    </a:lnL>
                    <a:lnR w="0">
                      <a:noFill/>
                    </a:lnR>
                    <a:lnT w="0">
                      <a:noFill/>
                    </a:lnT>
                    <a:lnB w="0">
                      <a:noFill/>
                    </a:lnB>
                    <a:solidFill>
                      <a:srgbClr val="141413"/>
                    </a:solidFill>
                  </a:tcPr>
                </a:tc>
              </a:tr>
              <a:tr h="332232">
                <a:tc rowSpan="3">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Ⅰ. 신경계</a:t>
                      </a:r>
                    </a:p>
                    <a:p>
                      <a:pPr algn="l">
                        <a:lnSpc>
                          <a:spcPts val="1062"/>
                        </a:lnSpc>
                        <a:spcBef>
                          <a:spcPts val="0"/>
                        </a:spcBef>
                        <a:spcAft>
                          <a:spcPts val="0"/>
                        </a:spcAft>
                      </a:pPr>
                      <a:r>
                        <a:rPr sz="850" b="0" i="1">
                          <a:solidFill>
                            <a:srgbClr val="5C5B56"/>
                          </a:solidFill>
                          <a:latin typeface="Apple SD Gothic Neo"/>
                          <a:ea typeface="Apple SD Gothic Neo"/>
                        </a:rPr>
                        <a:t>(뇌혈관장벽 BBB 통과 필수)</a:t>
                      </a:r>
                    </a:p>
                  </a:txBody>
                  <a:tcPr marL="64008" marR="64008" marT="36576" marB="36576" anchor="ctr">
                    <a:lnL w="0">
                      <a:noFill/>
                    </a:lnL>
                    <a:lnR w="0">
                      <a:noFill/>
                    </a:lnR>
                    <a:lnT w="0">
                      <a:noFill/>
                    </a:lnT>
                    <a:lnB w="9525">
                      <a:solidFill>
                        <a:srgbClr val="DDDBD2"/>
                      </a:solidFill>
                    </a:lnB>
                    <a:solidFill>
                      <a:srgbClr val="D4F94E"/>
                    </a:solidFill>
                  </a:tcPr>
                </a:tc>
                <a:tc>
                  <a:txBody>
                    <a:bodyPr wrap="square"/>
                    <a:lstStyle/>
                    <a:p>
                      <a:pPr algn="ctr">
                        <a:lnSpc>
                          <a:spcPts val="1250"/>
                        </a:lnSpc>
                        <a:spcBef>
                          <a:spcPts val="0"/>
                        </a:spcBef>
                        <a:spcAft>
                          <a:spcPts val="0"/>
                        </a:spcAft>
                      </a:pPr>
                      <a:r>
                        <a:rPr sz="1000" b="0" i="0">
                          <a:solidFill>
                            <a:srgbClr val="5C5B56"/>
                          </a:solidFill>
                          <a:latin typeface="Menlo"/>
                          <a:ea typeface="Apple SD Gothic Neo"/>
                        </a:rPr>
                        <a:t>1</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알츠하이머병</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ACHE · 아세틸콜린에스테라아제</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ctr">
                        <a:lnSpc>
                          <a:spcPts val="1250"/>
                        </a:lnSpc>
                        <a:spcBef>
                          <a:spcPts val="0"/>
                        </a:spcBef>
                        <a:spcAft>
                          <a:spcPts val="0"/>
                        </a:spcAft>
                      </a:pPr>
                      <a:r>
                        <a:rPr sz="1000" b="1" i="0">
                          <a:solidFill>
                            <a:srgbClr val="1E3A1E"/>
                          </a:solidFill>
                          <a:latin typeface="Menlo"/>
                          <a:ea typeface="Apple SD Gothic Neo"/>
                        </a:rPr>
                        <a:t>4EY7 (E20)</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도네페질 (Donepezil)</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인지 기능 점수 (ADAS-Cog)</a:t>
                      </a:r>
                    </a:p>
                  </a:txBody>
                  <a:tcPr marL="64008" marR="64008" marT="36576" marB="36576" anchor="ctr">
                    <a:lnL w="0">
                      <a:noFill/>
                    </a:lnL>
                    <a:lnR w="0">
                      <a:noFill/>
                    </a:lnR>
                    <a:lnT w="0">
                      <a:noFill/>
                    </a:lnT>
                    <a:lnB w="9525">
                      <a:solidFill>
                        <a:srgbClr val="DDDBD2"/>
                      </a:solidFill>
                    </a:lnB>
                    <a:solidFill>
                      <a:srgbClr val="FFFFFF"/>
                    </a:solidFill>
                  </a:tcPr>
                </a:tc>
              </a:tr>
              <a:tr h="332232">
                <a:tc vMerge="1">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
                      </a:r>
                    </a:p>
                  </a:txBody>
                  <a:tcPr marL="64008" marR="64008" marT="36576" marB="36576" anchor="ctr">
                    <a:lnL w="0">
                      <a:noFill/>
                    </a:lnL>
                    <a:lnR w="0">
                      <a:noFill/>
                    </a:lnR>
                    <a:lnT w="0">
                      <a:noFill/>
                    </a:lnT>
                    <a:lnB w="9525">
                      <a:solidFill>
                        <a:srgbClr val="DDDBD2"/>
                      </a:solidFill>
                    </a:lnB>
                    <a:solidFill>
                      <a:srgbClr val="D4F94E"/>
                    </a:solidFill>
                  </a:tcPr>
                </a:tc>
                <a:tc>
                  <a:txBody>
                    <a:bodyPr wrap="square"/>
                    <a:lstStyle/>
                    <a:p>
                      <a:pPr algn="ctr">
                        <a:lnSpc>
                          <a:spcPts val="1250"/>
                        </a:lnSpc>
                        <a:spcBef>
                          <a:spcPts val="0"/>
                        </a:spcBef>
                        <a:spcAft>
                          <a:spcPts val="0"/>
                        </a:spcAft>
                      </a:pPr>
                      <a:r>
                        <a:rPr sz="1000" b="0" i="0">
                          <a:solidFill>
                            <a:srgbClr val="5C5B56"/>
                          </a:solidFill>
                          <a:latin typeface="Menlo"/>
                          <a:ea typeface="Apple SD Gothic Neo"/>
                        </a:rPr>
                        <a:t>2</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파킨슨병</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MAOB · 모노아민 산화효소 B</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ctr">
                        <a:lnSpc>
                          <a:spcPts val="1250"/>
                        </a:lnSpc>
                        <a:spcBef>
                          <a:spcPts val="0"/>
                        </a:spcBef>
                        <a:spcAft>
                          <a:spcPts val="0"/>
                        </a:spcAft>
                      </a:pPr>
                      <a:r>
                        <a:rPr sz="1000" b="1" i="0">
                          <a:solidFill>
                            <a:srgbClr val="1E3A1E"/>
                          </a:solidFill>
                          <a:latin typeface="Menlo"/>
                          <a:ea typeface="Apple SD Gothic Neo"/>
                        </a:rPr>
                        <a:t>2V5Z (SAG)</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사피나미드 (Safinamide)</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파킨슨 운동 점수 (UPDRS Part III)</a:t>
                      </a:r>
                    </a:p>
                  </a:txBody>
                  <a:tcPr marL="64008" marR="64008" marT="36576" marB="36576" anchor="ctr">
                    <a:lnL w="0">
                      <a:noFill/>
                    </a:lnL>
                    <a:lnR w="0">
                      <a:noFill/>
                    </a:lnR>
                    <a:lnT w="0">
                      <a:noFill/>
                    </a:lnT>
                    <a:lnB w="9525">
                      <a:solidFill>
                        <a:srgbClr val="DDDBD2"/>
                      </a:solidFill>
                    </a:lnB>
                    <a:solidFill>
                      <a:srgbClr val="FFFFFF"/>
                    </a:solidFill>
                  </a:tcPr>
                </a:tc>
              </a:tr>
              <a:tr h="332232">
                <a:tc vMerge="1">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
                      </a:r>
                    </a:p>
                  </a:txBody>
                  <a:tcPr marL="64008" marR="64008" marT="36576" marB="36576" anchor="ctr">
                    <a:lnL w="0">
                      <a:noFill/>
                    </a:lnL>
                    <a:lnR w="0">
                      <a:noFill/>
                    </a:lnR>
                    <a:lnT w="0">
                      <a:noFill/>
                    </a:lnT>
                    <a:lnB w="9525">
                      <a:solidFill>
                        <a:srgbClr val="DDDBD2"/>
                      </a:solidFill>
                    </a:lnB>
                    <a:solidFill>
                      <a:srgbClr val="D4F94E"/>
                    </a:solidFill>
                  </a:tcPr>
                </a:tc>
                <a:tc>
                  <a:txBody>
                    <a:bodyPr wrap="square"/>
                    <a:lstStyle/>
                    <a:p>
                      <a:pPr algn="ctr">
                        <a:lnSpc>
                          <a:spcPts val="1250"/>
                        </a:lnSpc>
                        <a:spcBef>
                          <a:spcPts val="0"/>
                        </a:spcBef>
                        <a:spcAft>
                          <a:spcPts val="0"/>
                        </a:spcAft>
                      </a:pPr>
                      <a:r>
                        <a:rPr sz="1000" b="0" i="0">
                          <a:solidFill>
                            <a:srgbClr val="5C5B56"/>
                          </a:solidFill>
                          <a:latin typeface="Menlo"/>
                          <a:ea typeface="Apple SD Gothic Neo"/>
                        </a:rPr>
                        <a:t>3</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주요우울장애</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SLC6A4 · 세로토닌 수송체(SERT)</a:t>
                      </a:r>
                    </a:p>
                  </a:txBody>
                  <a:tcPr marL="64008" marR="64008" marT="36576" marB="36576" anchor="ctr">
                    <a:lnL w="0">
                      <a:noFill/>
                    </a:lnL>
                    <a:lnR w="0">
                      <a:noFill/>
                    </a:lnR>
                    <a:lnT w="0">
                      <a:noFill/>
                    </a:lnT>
                    <a:lnB w="9525">
                      <a:solidFill>
                        <a:srgbClr val="B9B7AE"/>
                      </a:solidFill>
                    </a:lnB>
                    <a:solidFill>
                      <a:srgbClr val="FFFFFF"/>
                    </a:solidFill>
                  </a:tcPr>
                </a:tc>
                <a:tc>
                  <a:txBody>
                    <a:bodyPr wrap="square"/>
                    <a:lstStyle/>
                    <a:p>
                      <a:pPr algn="ctr">
                        <a:lnSpc>
                          <a:spcPts val="1250"/>
                        </a:lnSpc>
                        <a:spcBef>
                          <a:spcPts val="0"/>
                        </a:spcBef>
                        <a:spcAft>
                          <a:spcPts val="0"/>
                        </a:spcAft>
                      </a:pPr>
                      <a:r>
                        <a:rPr sz="1000" b="1" i="0">
                          <a:solidFill>
                            <a:srgbClr val="1E3A1E"/>
                          </a:solidFill>
                          <a:latin typeface="Menlo"/>
                          <a:ea typeface="Apple SD Gothic Neo"/>
                        </a:rPr>
                        <a:t>5I71 (68P)</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에스시탈로프람 (Escitalopram)</a:t>
                      </a:r>
                    </a:p>
                  </a:txBody>
                  <a:tcPr marL="64008" marR="64008" marT="36576" marB="36576" anchor="ctr">
                    <a:lnL w="0">
                      <a:noFill/>
                    </a:lnL>
                    <a:lnR w="0">
                      <a:noFill/>
                    </a:lnR>
                    <a:lnT w="0">
                      <a:noFill/>
                    </a:lnT>
                    <a:lnB w="9525">
                      <a:solidFill>
                        <a:srgbClr val="B9B7AE"/>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우울 척도 점수 (MADRS · HAM-D)</a:t>
                      </a:r>
                    </a:p>
                  </a:txBody>
                  <a:tcPr marL="64008" marR="64008" marT="36576" marB="36576" anchor="ctr">
                    <a:lnL w="0">
                      <a:noFill/>
                    </a:lnL>
                    <a:lnR w="0">
                      <a:noFill/>
                    </a:lnR>
                    <a:lnT w="0">
                      <a:noFill/>
                    </a:lnT>
                    <a:lnB w="9525">
                      <a:solidFill>
                        <a:srgbClr val="B9B7AE"/>
                      </a:solidFill>
                    </a:lnB>
                    <a:solidFill>
                      <a:srgbClr val="FFFFFF"/>
                    </a:solidFill>
                  </a:tcPr>
                </a:tc>
              </a:tr>
              <a:tr h="332232">
                <a:tc rowSpan="3">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Ⅱ. 종양·항암</a:t>
                      </a:r>
                    </a:p>
                    <a:p>
                      <a:pPr algn="l">
                        <a:lnSpc>
                          <a:spcPts val="1062"/>
                        </a:lnSpc>
                        <a:spcBef>
                          <a:spcPts val="0"/>
                        </a:spcBef>
                        <a:spcAft>
                          <a:spcPts val="0"/>
                        </a:spcAft>
                      </a:pPr>
                      <a:r>
                        <a:rPr sz="850" b="0" i="1">
                          <a:solidFill>
                            <a:srgbClr val="5C5B56"/>
                          </a:solidFill>
                          <a:latin typeface="Apple SD Gothic Neo"/>
                          <a:ea typeface="Apple SD Gothic Neo"/>
                        </a:rPr>
                        <a:t>(표적항암제 · 변이 표적)</a:t>
                      </a:r>
                    </a:p>
                  </a:txBody>
                  <a:tcPr marL="64008" marR="64008" marT="36576" marB="36576" anchor="ctr">
                    <a:lnL w="0">
                      <a:noFill/>
                    </a:lnL>
                    <a:lnR w="0">
                      <a:noFill/>
                    </a:lnR>
                    <a:lnT w="0">
                      <a:noFill/>
                    </a:lnT>
                    <a:lnB w="9525">
                      <a:solidFill>
                        <a:srgbClr val="DDDBD2"/>
                      </a:solidFill>
                    </a:lnB>
                    <a:solidFill>
                      <a:srgbClr val="FFE3A8"/>
                    </a:solidFill>
                  </a:tcPr>
                </a:tc>
                <a:tc>
                  <a:txBody>
                    <a:bodyPr wrap="square"/>
                    <a:lstStyle/>
                    <a:p>
                      <a:pPr algn="ctr">
                        <a:lnSpc>
                          <a:spcPts val="1250"/>
                        </a:lnSpc>
                        <a:spcBef>
                          <a:spcPts val="0"/>
                        </a:spcBef>
                        <a:spcAft>
                          <a:spcPts val="0"/>
                        </a:spcAft>
                      </a:pPr>
                      <a:r>
                        <a:rPr sz="1000" b="0" i="0">
                          <a:solidFill>
                            <a:srgbClr val="5C5B56"/>
                          </a:solidFill>
                          <a:latin typeface="Menlo"/>
                          <a:ea typeface="Apple SD Gothic Neo"/>
                        </a:rPr>
                        <a:t>4</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비소세포폐암</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EGFR · 상피세포 성장인자 수용체</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ctr">
                        <a:lnSpc>
                          <a:spcPts val="1250"/>
                        </a:lnSpc>
                        <a:spcBef>
                          <a:spcPts val="0"/>
                        </a:spcBef>
                        <a:spcAft>
                          <a:spcPts val="0"/>
                        </a:spcAft>
                      </a:pPr>
                      <a:r>
                        <a:rPr sz="1000" b="1" i="0">
                          <a:solidFill>
                            <a:srgbClr val="1E3A1E"/>
                          </a:solidFill>
                          <a:latin typeface="Menlo"/>
                          <a:ea typeface="Apple SD Gothic Neo"/>
                        </a:rPr>
                        <a:t>1M17 (AQ4)</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엘로티닙 (Erlotinib)</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무진행 생존기간 (PFS) · 반응률 (ORR)</a:t>
                      </a:r>
                    </a:p>
                  </a:txBody>
                  <a:tcPr marL="64008" marR="64008" marT="36576" marB="36576" anchor="ctr">
                    <a:lnL w="0">
                      <a:noFill/>
                    </a:lnL>
                    <a:lnR w="0">
                      <a:noFill/>
                    </a:lnR>
                    <a:lnT w="0">
                      <a:noFill/>
                    </a:lnT>
                    <a:lnB w="9525">
                      <a:solidFill>
                        <a:srgbClr val="DDDBD2"/>
                      </a:solidFill>
                    </a:lnB>
                    <a:solidFill>
                      <a:srgbClr val="FFFFFF"/>
                    </a:solidFill>
                  </a:tcPr>
                </a:tc>
              </a:tr>
              <a:tr h="332232">
                <a:tc vMerge="1">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
                      </a:r>
                    </a:p>
                  </a:txBody>
                  <a:tcPr marL="64008" marR="64008" marT="36576" marB="36576" anchor="ctr">
                    <a:lnL w="0">
                      <a:noFill/>
                    </a:lnL>
                    <a:lnR w="0">
                      <a:noFill/>
                    </a:lnR>
                    <a:lnT w="0">
                      <a:noFill/>
                    </a:lnT>
                    <a:lnB w="9525">
                      <a:solidFill>
                        <a:srgbClr val="DDDBD2"/>
                      </a:solidFill>
                    </a:lnB>
                    <a:solidFill>
                      <a:srgbClr val="FFE3A8"/>
                    </a:solidFill>
                  </a:tcPr>
                </a:tc>
                <a:tc>
                  <a:txBody>
                    <a:bodyPr wrap="square"/>
                    <a:lstStyle/>
                    <a:p>
                      <a:pPr algn="ctr">
                        <a:lnSpc>
                          <a:spcPts val="1250"/>
                        </a:lnSpc>
                        <a:spcBef>
                          <a:spcPts val="0"/>
                        </a:spcBef>
                        <a:spcAft>
                          <a:spcPts val="0"/>
                        </a:spcAft>
                      </a:pPr>
                      <a:r>
                        <a:rPr sz="1000" b="0" i="0">
                          <a:solidFill>
                            <a:srgbClr val="5C5B56"/>
                          </a:solidFill>
                          <a:latin typeface="Menlo"/>
                          <a:ea typeface="Apple SD Gothic Neo"/>
                        </a:rPr>
                        <a:t>5</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만성 골수성 백혈병</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ABL1 · BCR-ABL1 타이로신 키나아제</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ctr">
                        <a:lnSpc>
                          <a:spcPts val="1250"/>
                        </a:lnSpc>
                        <a:spcBef>
                          <a:spcPts val="0"/>
                        </a:spcBef>
                        <a:spcAft>
                          <a:spcPts val="0"/>
                        </a:spcAft>
                      </a:pPr>
                      <a:r>
                        <a:rPr sz="1000" b="1" i="0">
                          <a:solidFill>
                            <a:srgbClr val="1E3A1E"/>
                          </a:solidFill>
                          <a:latin typeface="Menlo"/>
                          <a:ea typeface="Apple SD Gothic Neo"/>
                        </a:rPr>
                        <a:t>2HYY (STI)</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이마티닙 (Imatinib)</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12개월 주요 분자유전학적 반응률 (MMR)</a:t>
                      </a:r>
                    </a:p>
                  </a:txBody>
                  <a:tcPr marL="64008" marR="64008" marT="36576" marB="36576" anchor="ctr">
                    <a:lnL w="0">
                      <a:noFill/>
                    </a:lnL>
                    <a:lnR w="0">
                      <a:noFill/>
                    </a:lnR>
                    <a:lnT w="0">
                      <a:noFill/>
                    </a:lnT>
                    <a:lnB w="9525">
                      <a:solidFill>
                        <a:srgbClr val="DDDBD2"/>
                      </a:solidFill>
                    </a:lnB>
                    <a:solidFill>
                      <a:srgbClr val="FFFFFF"/>
                    </a:solidFill>
                  </a:tcPr>
                </a:tc>
              </a:tr>
              <a:tr h="332232">
                <a:tc vMerge="1">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
                      </a:r>
                    </a:p>
                  </a:txBody>
                  <a:tcPr marL="64008" marR="64008" marT="36576" marB="36576" anchor="ctr">
                    <a:lnL w="0">
                      <a:noFill/>
                    </a:lnL>
                    <a:lnR w="0">
                      <a:noFill/>
                    </a:lnR>
                    <a:lnT w="0">
                      <a:noFill/>
                    </a:lnT>
                    <a:lnB w="9525">
                      <a:solidFill>
                        <a:srgbClr val="DDDBD2"/>
                      </a:solidFill>
                    </a:lnB>
                    <a:solidFill>
                      <a:srgbClr val="FFE3A8"/>
                    </a:solidFill>
                  </a:tcPr>
                </a:tc>
                <a:tc>
                  <a:txBody>
                    <a:bodyPr wrap="square"/>
                    <a:lstStyle/>
                    <a:p>
                      <a:pPr algn="ctr">
                        <a:lnSpc>
                          <a:spcPts val="1250"/>
                        </a:lnSpc>
                        <a:spcBef>
                          <a:spcPts val="0"/>
                        </a:spcBef>
                        <a:spcAft>
                          <a:spcPts val="0"/>
                        </a:spcAft>
                      </a:pPr>
                      <a:r>
                        <a:rPr sz="1000" b="0" i="0">
                          <a:solidFill>
                            <a:srgbClr val="5C5B56"/>
                          </a:solidFill>
                          <a:latin typeface="Menlo"/>
                          <a:ea typeface="Apple SD Gothic Neo"/>
                        </a:rPr>
                        <a:t>6</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전이성 흑색종</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BRAF · BRAF V600E 키나아제</a:t>
                      </a:r>
                    </a:p>
                  </a:txBody>
                  <a:tcPr marL="64008" marR="64008" marT="36576" marB="36576" anchor="ctr">
                    <a:lnL w="0">
                      <a:noFill/>
                    </a:lnL>
                    <a:lnR w="0">
                      <a:noFill/>
                    </a:lnR>
                    <a:lnT w="0">
                      <a:noFill/>
                    </a:lnT>
                    <a:lnB w="9525">
                      <a:solidFill>
                        <a:srgbClr val="B9B7AE"/>
                      </a:solidFill>
                    </a:lnB>
                    <a:solidFill>
                      <a:srgbClr val="FFFFFF"/>
                    </a:solidFill>
                  </a:tcPr>
                </a:tc>
                <a:tc>
                  <a:txBody>
                    <a:bodyPr wrap="square"/>
                    <a:lstStyle/>
                    <a:p>
                      <a:pPr algn="ctr">
                        <a:lnSpc>
                          <a:spcPts val="1250"/>
                        </a:lnSpc>
                        <a:spcBef>
                          <a:spcPts val="0"/>
                        </a:spcBef>
                        <a:spcAft>
                          <a:spcPts val="0"/>
                        </a:spcAft>
                      </a:pPr>
                      <a:r>
                        <a:rPr sz="1000" b="1" i="0">
                          <a:solidFill>
                            <a:srgbClr val="1E3A1E"/>
                          </a:solidFill>
                          <a:latin typeface="Menlo"/>
                          <a:ea typeface="Apple SD Gothic Neo"/>
                        </a:rPr>
                        <a:t>3OG7 (032)</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베무라페닙 (Vemurafenib)</a:t>
                      </a:r>
                    </a:p>
                  </a:txBody>
                  <a:tcPr marL="64008" marR="64008" marT="36576" marB="36576" anchor="ctr">
                    <a:lnL w="0">
                      <a:noFill/>
                    </a:lnL>
                    <a:lnR w="0">
                      <a:noFill/>
                    </a:lnR>
                    <a:lnT w="0">
                      <a:noFill/>
                    </a:lnT>
                    <a:lnB w="9525">
                      <a:solidFill>
                        <a:srgbClr val="B9B7AE"/>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무진행 생존기간 (PFS) · 전체 생존 (OS)</a:t>
                      </a:r>
                    </a:p>
                  </a:txBody>
                  <a:tcPr marL="64008" marR="64008" marT="36576" marB="36576" anchor="ctr">
                    <a:lnL w="0">
                      <a:noFill/>
                    </a:lnL>
                    <a:lnR w="0">
                      <a:noFill/>
                    </a:lnR>
                    <a:lnT w="0">
                      <a:noFill/>
                    </a:lnT>
                    <a:lnB w="9525">
                      <a:solidFill>
                        <a:srgbClr val="B9B7AE"/>
                      </a:solidFill>
                    </a:lnB>
                    <a:solidFill>
                      <a:srgbClr val="FFFFFF"/>
                    </a:solidFill>
                  </a:tcPr>
                </a:tc>
              </a:tr>
              <a:tr h="332232">
                <a:tc rowSpan="3">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Ⅲ. 대사·심혈관</a:t>
                      </a:r>
                    </a:p>
                    <a:p>
                      <a:pPr algn="l">
                        <a:lnSpc>
                          <a:spcPts val="1062"/>
                        </a:lnSpc>
                        <a:spcBef>
                          <a:spcPts val="0"/>
                        </a:spcBef>
                        <a:spcAft>
                          <a:spcPts val="0"/>
                        </a:spcAft>
                      </a:pPr>
                      <a:r>
                        <a:rPr sz="850" b="0" i="1">
                          <a:solidFill>
                            <a:srgbClr val="5C5B56"/>
                          </a:solidFill>
                          <a:latin typeface="Apple SD Gothic Neo"/>
                          <a:ea typeface="Apple SD Gothic Neo"/>
                        </a:rPr>
                        <a:t>(만성 복용 · 장기 안전성)</a:t>
                      </a:r>
                    </a:p>
                  </a:txBody>
                  <a:tcPr marL="64008" marR="64008" marT="36576" marB="36576" anchor="ctr">
                    <a:lnL w="0">
                      <a:noFill/>
                    </a:lnL>
                    <a:lnR w="0">
                      <a:noFill/>
                    </a:lnR>
                    <a:lnT w="0">
                      <a:noFill/>
                    </a:lnT>
                    <a:lnB w="9525">
                      <a:solidFill>
                        <a:srgbClr val="DDDBD2"/>
                      </a:solidFill>
                    </a:lnB>
                    <a:solidFill>
                      <a:srgbClr val="D6E8FF"/>
                    </a:solidFill>
                  </a:tcPr>
                </a:tc>
                <a:tc>
                  <a:txBody>
                    <a:bodyPr wrap="square"/>
                    <a:lstStyle/>
                    <a:p>
                      <a:pPr algn="ctr">
                        <a:lnSpc>
                          <a:spcPts val="1250"/>
                        </a:lnSpc>
                        <a:spcBef>
                          <a:spcPts val="0"/>
                        </a:spcBef>
                        <a:spcAft>
                          <a:spcPts val="0"/>
                        </a:spcAft>
                      </a:pPr>
                      <a:r>
                        <a:rPr sz="1000" b="0" i="0">
                          <a:solidFill>
                            <a:srgbClr val="5C5B56"/>
                          </a:solidFill>
                          <a:latin typeface="Menlo"/>
                          <a:ea typeface="Apple SD Gothic Neo"/>
                        </a:rPr>
                        <a:t>7</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2형 당뇨병</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DPP4 · 디펩티딜 펩티다아제-4</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ctr">
                        <a:lnSpc>
                          <a:spcPts val="1250"/>
                        </a:lnSpc>
                        <a:spcBef>
                          <a:spcPts val="0"/>
                        </a:spcBef>
                        <a:spcAft>
                          <a:spcPts val="0"/>
                        </a:spcAft>
                      </a:pPr>
                      <a:r>
                        <a:rPr sz="1000" b="1" i="0">
                          <a:solidFill>
                            <a:srgbClr val="1E3A1E"/>
                          </a:solidFill>
                          <a:latin typeface="Menlo"/>
                          <a:ea typeface="Apple SD Gothic Neo"/>
                        </a:rPr>
                        <a:t>1X70 (715)</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시타글립틴 (Sitagliptin)</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24주 당화혈색소 (HbA1c) 변화량</a:t>
                      </a:r>
                    </a:p>
                  </a:txBody>
                  <a:tcPr marL="64008" marR="64008" marT="36576" marB="36576" anchor="ctr">
                    <a:lnL w="0">
                      <a:noFill/>
                    </a:lnL>
                    <a:lnR w="0">
                      <a:noFill/>
                    </a:lnR>
                    <a:lnT w="0">
                      <a:noFill/>
                    </a:lnT>
                    <a:lnB w="9525">
                      <a:solidFill>
                        <a:srgbClr val="DDDBD2"/>
                      </a:solidFill>
                    </a:lnB>
                    <a:solidFill>
                      <a:srgbClr val="FFFFFF"/>
                    </a:solidFill>
                  </a:tcPr>
                </a:tc>
              </a:tr>
              <a:tr h="332232">
                <a:tc vMerge="1">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
                      </a:r>
                    </a:p>
                  </a:txBody>
                  <a:tcPr marL="64008" marR="64008" marT="36576" marB="36576" anchor="ctr">
                    <a:lnL w="0">
                      <a:noFill/>
                    </a:lnL>
                    <a:lnR w="0">
                      <a:noFill/>
                    </a:lnR>
                    <a:lnT w="0">
                      <a:noFill/>
                    </a:lnT>
                    <a:lnB w="9525">
                      <a:solidFill>
                        <a:srgbClr val="DDDBD2"/>
                      </a:solidFill>
                    </a:lnB>
                    <a:solidFill>
                      <a:srgbClr val="D6E8FF"/>
                    </a:solidFill>
                  </a:tcPr>
                </a:tc>
                <a:tc>
                  <a:txBody>
                    <a:bodyPr wrap="square"/>
                    <a:lstStyle/>
                    <a:p>
                      <a:pPr algn="ctr">
                        <a:lnSpc>
                          <a:spcPts val="1250"/>
                        </a:lnSpc>
                        <a:spcBef>
                          <a:spcPts val="0"/>
                        </a:spcBef>
                        <a:spcAft>
                          <a:spcPts val="0"/>
                        </a:spcAft>
                      </a:pPr>
                      <a:r>
                        <a:rPr sz="1000" b="0" i="0">
                          <a:solidFill>
                            <a:srgbClr val="5C5B56"/>
                          </a:solidFill>
                          <a:latin typeface="Menlo"/>
                          <a:ea typeface="Apple SD Gothic Neo"/>
                        </a:rPr>
                        <a:t>8</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고지혈증·이상지질혈증</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HMGCR · HMG-CoA 환원효소</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ctr">
                        <a:lnSpc>
                          <a:spcPts val="1250"/>
                        </a:lnSpc>
                        <a:spcBef>
                          <a:spcPts val="0"/>
                        </a:spcBef>
                        <a:spcAft>
                          <a:spcPts val="0"/>
                        </a:spcAft>
                      </a:pPr>
                      <a:r>
                        <a:rPr sz="1000" b="1" i="0">
                          <a:solidFill>
                            <a:srgbClr val="1E3A1E"/>
                          </a:solidFill>
                          <a:latin typeface="Menlo"/>
                          <a:ea typeface="Apple SD Gothic Neo"/>
                        </a:rPr>
                        <a:t>1HWK (117)</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아토르바스타틴 (Atorvastatin)</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12주 LDL 콜레스테롤 감소율 (%)</a:t>
                      </a:r>
                    </a:p>
                  </a:txBody>
                  <a:tcPr marL="64008" marR="64008" marT="36576" marB="36576" anchor="ctr">
                    <a:lnL w="0">
                      <a:noFill/>
                    </a:lnL>
                    <a:lnR w="0">
                      <a:noFill/>
                    </a:lnR>
                    <a:lnT w="0">
                      <a:noFill/>
                    </a:lnT>
                    <a:lnB w="9525">
                      <a:solidFill>
                        <a:srgbClr val="DDDBD2"/>
                      </a:solidFill>
                    </a:lnB>
                    <a:solidFill>
                      <a:srgbClr val="FFFFFF"/>
                    </a:solidFill>
                  </a:tcPr>
                </a:tc>
              </a:tr>
              <a:tr h="490982">
                <a:tc vMerge="1">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
                      </a:r>
                    </a:p>
                  </a:txBody>
                  <a:tcPr marL="64008" marR="64008" marT="36576" marB="36576" anchor="ctr">
                    <a:lnL w="0">
                      <a:noFill/>
                    </a:lnL>
                    <a:lnR w="0">
                      <a:noFill/>
                    </a:lnR>
                    <a:lnT w="0">
                      <a:noFill/>
                    </a:lnT>
                    <a:lnB w="9525">
                      <a:solidFill>
                        <a:srgbClr val="DDDBD2"/>
                      </a:solidFill>
                    </a:lnB>
                    <a:solidFill>
                      <a:srgbClr val="D6E8FF"/>
                    </a:solidFill>
                  </a:tcPr>
                </a:tc>
                <a:tc>
                  <a:txBody>
                    <a:bodyPr wrap="square"/>
                    <a:lstStyle/>
                    <a:p>
                      <a:pPr algn="ctr">
                        <a:lnSpc>
                          <a:spcPts val="1250"/>
                        </a:lnSpc>
                        <a:spcBef>
                          <a:spcPts val="0"/>
                        </a:spcBef>
                        <a:spcAft>
                          <a:spcPts val="0"/>
                        </a:spcAft>
                      </a:pPr>
                      <a:r>
                        <a:rPr sz="1000" b="0" i="0">
                          <a:solidFill>
                            <a:srgbClr val="5C5B56"/>
                          </a:solidFill>
                          <a:latin typeface="Menlo"/>
                          <a:ea typeface="Apple SD Gothic Neo"/>
                        </a:rPr>
                        <a:t>9</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정맥혈전색전증·뇌졸중 예방</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F10 · 혈액응고인자 Xa</a:t>
                      </a:r>
                    </a:p>
                  </a:txBody>
                  <a:tcPr marL="64008" marR="64008" marT="36576" marB="36576" anchor="ctr">
                    <a:lnL w="0">
                      <a:noFill/>
                    </a:lnL>
                    <a:lnR w="0">
                      <a:noFill/>
                    </a:lnR>
                    <a:lnT w="0">
                      <a:noFill/>
                    </a:lnT>
                    <a:lnB w="9525">
                      <a:solidFill>
                        <a:srgbClr val="B9B7AE"/>
                      </a:solidFill>
                    </a:lnB>
                    <a:solidFill>
                      <a:srgbClr val="FFFFFF"/>
                    </a:solidFill>
                  </a:tcPr>
                </a:tc>
                <a:tc>
                  <a:txBody>
                    <a:bodyPr wrap="square"/>
                    <a:lstStyle/>
                    <a:p>
                      <a:pPr algn="ctr">
                        <a:lnSpc>
                          <a:spcPts val="1250"/>
                        </a:lnSpc>
                        <a:spcBef>
                          <a:spcPts val="0"/>
                        </a:spcBef>
                        <a:spcAft>
                          <a:spcPts val="0"/>
                        </a:spcAft>
                      </a:pPr>
                      <a:r>
                        <a:rPr sz="1000" b="1" i="0">
                          <a:solidFill>
                            <a:srgbClr val="1E3A1E"/>
                          </a:solidFill>
                          <a:latin typeface="Menlo"/>
                          <a:ea typeface="Apple SD Gothic Neo"/>
                        </a:rPr>
                        <a:t>2P16 (GG2)</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아픽사반 (Apixaban)</a:t>
                      </a:r>
                    </a:p>
                  </a:txBody>
                  <a:tcPr marL="64008" marR="64008" marT="36576" marB="36576" anchor="ctr">
                    <a:lnL w="0">
                      <a:noFill/>
                    </a:lnL>
                    <a:lnR w="0">
                      <a:noFill/>
                    </a:lnR>
                    <a:lnT w="0">
                      <a:noFill/>
                    </a:lnT>
                    <a:lnB w="9525">
                      <a:solidFill>
                        <a:srgbClr val="B9B7AE"/>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혈전 재발률 · 주요 출혈 사건 발생률</a:t>
                      </a:r>
                    </a:p>
                  </a:txBody>
                  <a:tcPr marL="64008" marR="64008" marT="36576" marB="36576" anchor="ctr">
                    <a:lnL w="0">
                      <a:noFill/>
                    </a:lnL>
                    <a:lnR w="0">
                      <a:noFill/>
                    </a:lnR>
                    <a:lnT w="0">
                      <a:noFill/>
                    </a:lnT>
                    <a:lnB w="9525">
                      <a:solidFill>
                        <a:srgbClr val="B9B7AE"/>
                      </a:solidFill>
                    </a:lnB>
                    <a:solidFill>
                      <a:srgbClr val="FFFFFF"/>
                    </a:solidFill>
                  </a:tcPr>
                </a:tc>
              </a:tr>
              <a:tr h="332232">
                <a:tc rowSpan="3">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Ⅳ. 면역·호흡기</a:t>
                      </a:r>
                    </a:p>
                    <a:p>
                      <a:pPr algn="l">
                        <a:lnSpc>
                          <a:spcPts val="1062"/>
                        </a:lnSpc>
                        <a:spcBef>
                          <a:spcPts val="0"/>
                        </a:spcBef>
                        <a:spcAft>
                          <a:spcPts val="0"/>
                        </a:spcAft>
                      </a:pPr>
                      <a:r>
                        <a:rPr sz="850" b="0" i="1">
                          <a:solidFill>
                            <a:srgbClr val="5C5B56"/>
                          </a:solidFill>
                          <a:latin typeface="Apple SD Gothic Neo"/>
                          <a:ea typeface="Apple SD Gothic Neo"/>
                        </a:rPr>
                        <a:t>(다양한 투여 경로·제형)</a:t>
                      </a:r>
                    </a:p>
                  </a:txBody>
                  <a:tcPr marL="64008" marR="64008" marT="36576" marB="36576" anchor="ctr">
                    <a:lnL w="0">
                      <a:noFill/>
                    </a:lnL>
                    <a:lnR w="0">
                      <a:noFill/>
                    </a:lnR>
                    <a:lnT w="0">
                      <a:noFill/>
                    </a:lnT>
                    <a:lnB w="9525">
                      <a:solidFill>
                        <a:srgbClr val="DDDBD2"/>
                      </a:solidFill>
                    </a:lnB>
                    <a:solidFill>
                      <a:srgbClr val="E5DCFF"/>
                    </a:solidFill>
                  </a:tcPr>
                </a:tc>
                <a:tc>
                  <a:txBody>
                    <a:bodyPr wrap="square"/>
                    <a:lstStyle/>
                    <a:p>
                      <a:pPr algn="ctr">
                        <a:lnSpc>
                          <a:spcPts val="1250"/>
                        </a:lnSpc>
                        <a:spcBef>
                          <a:spcPts val="0"/>
                        </a:spcBef>
                        <a:spcAft>
                          <a:spcPts val="0"/>
                        </a:spcAft>
                      </a:pPr>
                      <a:r>
                        <a:rPr sz="1000" b="0" i="0">
                          <a:solidFill>
                            <a:srgbClr val="5C5B56"/>
                          </a:solidFill>
                          <a:latin typeface="Menlo"/>
                          <a:ea typeface="Apple SD Gothic Neo"/>
                        </a:rPr>
                        <a:t>10</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류마티스 관절염</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PTGS2 · 사이클로옥시게나아제-2</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ctr">
                        <a:lnSpc>
                          <a:spcPts val="1250"/>
                        </a:lnSpc>
                        <a:spcBef>
                          <a:spcPts val="0"/>
                        </a:spcBef>
                        <a:spcAft>
                          <a:spcPts val="0"/>
                        </a:spcAft>
                      </a:pPr>
                      <a:r>
                        <a:rPr sz="1000" b="1" i="0">
                          <a:solidFill>
                            <a:srgbClr val="1E3A1E"/>
                          </a:solidFill>
                          <a:latin typeface="Menlo"/>
                          <a:ea typeface="Apple SD Gothic Neo"/>
                        </a:rPr>
                        <a:t>3LN1 (CEL)</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세레콕시브 (Celecoxib)</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24주 관절염 반응 달성률 (ACR20)</a:t>
                      </a:r>
                    </a:p>
                  </a:txBody>
                  <a:tcPr marL="64008" marR="64008" marT="36576" marB="36576" anchor="ctr">
                    <a:lnL w="0">
                      <a:noFill/>
                    </a:lnL>
                    <a:lnR w="0">
                      <a:noFill/>
                    </a:lnR>
                    <a:lnT w="0">
                      <a:noFill/>
                    </a:lnT>
                    <a:lnB w="9525">
                      <a:solidFill>
                        <a:srgbClr val="DDDBD2"/>
                      </a:solidFill>
                    </a:lnB>
                    <a:solidFill>
                      <a:srgbClr val="FFFFFF"/>
                    </a:solidFill>
                  </a:tcPr>
                </a:tc>
              </a:tr>
              <a:tr h="332232">
                <a:tc vMerge="1">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
                      </a:r>
                    </a:p>
                  </a:txBody>
                  <a:tcPr marL="64008" marR="64008" marT="36576" marB="36576" anchor="ctr">
                    <a:lnL w="0">
                      <a:noFill/>
                    </a:lnL>
                    <a:lnR w="0">
                      <a:noFill/>
                    </a:lnR>
                    <a:lnT w="0">
                      <a:noFill/>
                    </a:lnT>
                    <a:lnB w="9525">
                      <a:solidFill>
                        <a:srgbClr val="DDDBD2"/>
                      </a:solidFill>
                    </a:lnB>
                    <a:solidFill>
                      <a:srgbClr val="E5DCFF"/>
                    </a:solidFill>
                  </a:tcPr>
                </a:tc>
                <a:tc>
                  <a:txBody>
                    <a:bodyPr wrap="square"/>
                    <a:lstStyle/>
                    <a:p>
                      <a:pPr algn="ctr">
                        <a:lnSpc>
                          <a:spcPts val="1250"/>
                        </a:lnSpc>
                        <a:spcBef>
                          <a:spcPts val="0"/>
                        </a:spcBef>
                        <a:spcAft>
                          <a:spcPts val="0"/>
                        </a:spcAft>
                      </a:pPr>
                      <a:r>
                        <a:rPr sz="1000" b="0" i="0">
                          <a:solidFill>
                            <a:srgbClr val="5C5B56"/>
                          </a:solidFill>
                          <a:latin typeface="Menlo"/>
                          <a:ea typeface="Apple SD Gothic Neo"/>
                        </a:rPr>
                        <a:t>11</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아토피 피부염</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JAK1 · 야누스 키나아제 1</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ctr">
                        <a:lnSpc>
                          <a:spcPts val="1250"/>
                        </a:lnSpc>
                        <a:spcBef>
                          <a:spcPts val="0"/>
                        </a:spcBef>
                        <a:spcAft>
                          <a:spcPts val="0"/>
                        </a:spcAft>
                      </a:pPr>
                      <a:r>
                        <a:rPr sz="1000" b="1" i="0">
                          <a:solidFill>
                            <a:srgbClr val="1E3A1E"/>
                          </a:solidFill>
                          <a:latin typeface="Menlo"/>
                          <a:ea typeface="Apple SD Gothic Neo"/>
                        </a:rPr>
                        <a:t>6BBU (D7D)</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아브로시티닙 (Abrocitinib)</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16주 습진 중증도 지수 달성률 (EASI-75)</a:t>
                      </a:r>
                    </a:p>
                  </a:txBody>
                  <a:tcPr marL="64008" marR="64008" marT="36576" marB="36576" anchor="ctr">
                    <a:lnL w="0">
                      <a:noFill/>
                    </a:lnL>
                    <a:lnR w="0">
                      <a:noFill/>
                    </a:lnR>
                    <a:lnT w="0">
                      <a:noFill/>
                    </a:lnT>
                    <a:lnB w="9525">
                      <a:solidFill>
                        <a:srgbClr val="DDDBD2"/>
                      </a:solidFill>
                    </a:lnB>
                    <a:solidFill>
                      <a:srgbClr val="FFFFFF"/>
                    </a:solidFill>
                  </a:tcPr>
                </a:tc>
              </a:tr>
              <a:tr h="332232">
                <a:tc vMerge="1">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
                      </a:r>
                    </a:p>
                  </a:txBody>
                  <a:tcPr marL="64008" marR="64008" marT="36576" marB="36576" anchor="ctr">
                    <a:lnL w="0">
                      <a:noFill/>
                    </a:lnL>
                    <a:lnR w="0">
                      <a:noFill/>
                    </a:lnR>
                    <a:lnT w="0">
                      <a:noFill/>
                    </a:lnT>
                    <a:lnB w="9525">
                      <a:solidFill>
                        <a:srgbClr val="DDDBD2"/>
                      </a:solidFill>
                    </a:lnB>
                    <a:solidFill>
                      <a:srgbClr val="E5DCFF"/>
                    </a:solidFill>
                  </a:tcPr>
                </a:tc>
                <a:tc>
                  <a:txBody>
                    <a:bodyPr wrap="square"/>
                    <a:lstStyle/>
                    <a:p>
                      <a:pPr algn="ctr">
                        <a:lnSpc>
                          <a:spcPts val="1250"/>
                        </a:lnSpc>
                        <a:spcBef>
                          <a:spcPts val="0"/>
                        </a:spcBef>
                        <a:spcAft>
                          <a:spcPts val="0"/>
                        </a:spcAft>
                      </a:pPr>
                      <a:r>
                        <a:rPr sz="1000" b="0" i="0">
                          <a:solidFill>
                            <a:srgbClr val="5C5B56"/>
                          </a:solidFill>
                          <a:latin typeface="Menlo"/>
                          <a:ea typeface="Apple SD Gothic Neo"/>
                        </a:rPr>
                        <a:t>12</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천식·만성폐쇄성폐질환</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PDE4B · 포스포디에스테라아제 4B</a:t>
                      </a:r>
                    </a:p>
                  </a:txBody>
                  <a:tcPr marL="64008" marR="64008" marT="36576" marB="36576" anchor="ctr">
                    <a:lnL w="0">
                      <a:noFill/>
                    </a:lnL>
                    <a:lnR w="0">
                      <a:noFill/>
                    </a:lnR>
                    <a:lnT w="0">
                      <a:noFill/>
                    </a:lnT>
                    <a:lnB w="9525">
                      <a:solidFill>
                        <a:srgbClr val="B9B7AE"/>
                      </a:solidFill>
                    </a:lnB>
                    <a:solidFill>
                      <a:srgbClr val="FFFFFF"/>
                    </a:solidFill>
                  </a:tcPr>
                </a:tc>
                <a:tc>
                  <a:txBody>
                    <a:bodyPr wrap="square"/>
                    <a:lstStyle/>
                    <a:p>
                      <a:pPr algn="ctr">
                        <a:lnSpc>
                          <a:spcPts val="1250"/>
                        </a:lnSpc>
                        <a:spcBef>
                          <a:spcPts val="0"/>
                        </a:spcBef>
                        <a:spcAft>
                          <a:spcPts val="0"/>
                        </a:spcAft>
                      </a:pPr>
                      <a:r>
                        <a:rPr sz="1000" b="1" i="0">
                          <a:solidFill>
                            <a:srgbClr val="1E3A1E"/>
                          </a:solidFill>
                          <a:latin typeface="Menlo"/>
                          <a:ea typeface="Apple SD Gothic Neo"/>
                        </a:rPr>
                        <a:t>1XMU (ROF)</a:t>
                      </a:r>
                    </a:p>
                  </a:txBody>
                  <a:tcPr marL="64008" marR="64008" marT="36576" marB="36576"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로플루밀라스트 (Roflumilast)</a:t>
                      </a:r>
                    </a:p>
                  </a:txBody>
                  <a:tcPr marL="64008" marR="64008" marT="36576" marB="36576" anchor="ctr">
                    <a:lnL w="0">
                      <a:noFill/>
                    </a:lnL>
                    <a:lnR w="0">
                      <a:noFill/>
                    </a:lnR>
                    <a:lnT w="0">
                      <a:noFill/>
                    </a:lnT>
                    <a:lnB w="9525">
                      <a:solidFill>
                        <a:srgbClr val="B9B7AE"/>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1초간 강제호기량 (FEV1) 변화량</a:t>
                      </a:r>
                    </a:p>
                  </a:txBody>
                  <a:tcPr marL="64008" marR="64008" marT="36576" marB="36576" anchor="ctr">
                    <a:lnL w="0">
                      <a:noFill/>
                    </a:lnL>
                    <a:lnR w="0">
                      <a:noFill/>
                    </a:lnR>
                    <a:lnT w="0">
                      <a:noFill/>
                    </a:lnT>
                    <a:lnB w="9525">
                      <a:solidFill>
                        <a:srgbClr val="B9B7AE"/>
                      </a:solidFill>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14 / 26</a:t>
            </a:r>
          </a:p>
        </p:txBody>
      </p:sp>
      <p:sp>
        <p:nvSpPr>
          <p:cNvPr id="7" name="Rounded Rectangle 6"/>
          <p:cNvSpPr/>
          <p:nvPr/>
        </p:nvSpPr>
        <p:spPr>
          <a:xfrm>
            <a:off x="457200" y="566928"/>
            <a:ext cx="3244710"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970390"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3 · 단계 1.2 화합물 스크리닝 (1/2)</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한 사람이 슬라이더로 정하지 않고, 모둠이 6개 안건을 근거와 투표로 합의합니다</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내 작업대 도구로 220종 분포와 아는 약 계열 농축도를 먼저 실험한 뒤, 근거를 들어 제안하고 과반 찬성으로 기준을 확정합니다.</a:t>
            </a:r>
          </a:p>
        </p:txBody>
      </p:sp>
      <p:sp>
        <p:nvSpPr>
          <p:cNvPr id="12" name="TextBox 11"/>
          <p:cNvSpPr txBox="1"/>
          <p:nvPr/>
        </p:nvSpPr>
        <p:spPr>
          <a:xfrm>
            <a:off x="457200" y="182549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회의 안건 6개 표</a:t>
            </a:r>
          </a:p>
        </p:txBody>
      </p:sp>
      <p:graphicFrame>
        <p:nvGraphicFramePr>
          <p:cNvPr id="13" name="Table 12"/>
          <p:cNvGraphicFramePr>
            <a:graphicFrameLocks noGrp="1"/>
          </p:cNvGraphicFramePr>
          <p:nvPr/>
        </p:nvGraphicFramePr>
        <p:xfrm>
          <a:off x="457200" y="2046351"/>
          <a:ext cx="11277295" cy="2290953"/>
        </p:xfrm>
        <a:graphic>
          <a:graphicData uri="http://schemas.openxmlformats.org/drawingml/2006/table">
            <a:tbl>
              <a:tblPr firstRow="1">
                <a:tableStyleId>{2D5ABB26-0587-4C30-8999-92F81FD0307C}</a:tableStyleId>
              </a:tblPr>
              <a:tblGrid>
                <a:gridCol w="713232"/>
                <a:gridCol w="1664208"/>
                <a:gridCol w="1188720"/>
                <a:gridCol w="2834640"/>
                <a:gridCol w="4876495"/>
              </a:tblGrid>
              <a:tr h="291699">
                <a:tc>
                  <a:txBody>
                    <a:bodyPr wrap="square"/>
                    <a:lstStyle/>
                    <a:p>
                      <a:pPr algn="ctr">
                        <a:lnSpc>
                          <a:spcPts val="1250"/>
                        </a:lnSpc>
                        <a:spcBef>
                          <a:spcPts val="0"/>
                        </a:spcBef>
                        <a:spcAft>
                          <a:spcPts val="0"/>
                        </a:spcAft>
                      </a:pPr>
                      <a:r>
                        <a:rPr sz="1000" b="1" i="0">
                          <a:solidFill>
                            <a:srgbClr val="FAF9F5"/>
                          </a:solidFill>
                          <a:latin typeface="Apple SD Gothic Neo"/>
                          <a:ea typeface="Apple SD Gothic Neo"/>
                        </a:rPr>
                        <a:t>안건 순서</a:t>
                      </a:r>
                    </a:p>
                  </a:txBody>
                  <a:tcPr marL="64008" marR="64008" marT="45720" marB="45720" anchor="ctr">
                    <a:lnL w="0">
                      <a:noFill/>
                    </a:lnL>
                    <a:lnR w="0">
                      <a:noFill/>
                    </a:lnR>
                    <a:lnT w="0">
                      <a:noFill/>
                    </a:lnT>
                    <a:lnB w="0">
                      <a:noFill/>
                    </a:lnB>
                    <a:solidFill>
                      <a:srgbClr val="141413"/>
                    </a:solidFill>
                  </a:tcPr>
                </a:tc>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기준 항목</a:t>
                      </a:r>
                    </a:p>
                  </a:txBody>
                  <a:tcPr marL="64008" marR="64008" marT="45720" marB="45720" anchor="ctr">
                    <a:lnL w="0">
                      <a:noFill/>
                    </a:lnL>
                    <a:lnR w="0">
                      <a:noFill/>
                    </a:lnR>
                    <a:lnT w="0">
                      <a:noFill/>
                    </a:lnT>
                    <a:lnB w="0">
                      <a:noFill/>
                    </a:lnB>
                    <a:solidFill>
                      <a:srgbClr val="141413"/>
                    </a:solidFill>
                  </a:tcPr>
                </a:tc>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설정 범위</a:t>
                      </a:r>
                    </a:p>
                  </a:txBody>
                  <a:tcPr marL="64008" marR="64008" marT="45720" marB="45720" anchor="ctr">
                    <a:lnL w="0">
                      <a:noFill/>
                    </a:lnL>
                    <a:lnR w="0">
                      <a:noFill/>
                    </a:lnR>
                    <a:lnT w="0">
                      <a:noFill/>
                    </a:lnT>
                    <a:lnB w="0">
                      <a:noFill/>
                    </a:lnB>
                    <a:solidFill>
                      <a:srgbClr val="141413"/>
                    </a:solidFill>
                  </a:tcPr>
                </a:tc>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학생이 던지는 질문</a:t>
                      </a:r>
                    </a:p>
                  </a:txBody>
                  <a:tcPr marL="64008" marR="64008" marT="45720" marB="45720" anchor="ctr">
                    <a:lnL w="0">
                      <a:noFill/>
                    </a:lnL>
                    <a:lnR w="0">
                      <a:noFill/>
                    </a:lnR>
                    <a:lnT w="0">
                      <a:noFill/>
                    </a:lnT>
                    <a:lnB w="0">
                      <a:noFill/>
                    </a:lnB>
                    <a:solidFill>
                      <a:srgbClr val="141413"/>
                    </a:solidFill>
                  </a:tcPr>
                </a:tc>
                <a:tc>
                  <a:txBody>
                    <a:bodyPr wrap="square"/>
                    <a:lstStyle/>
                    <a:p>
                      <a:pPr algn="l">
                        <a:lnSpc>
                          <a:spcPts val="1250"/>
                        </a:lnSpc>
                        <a:spcBef>
                          <a:spcPts val="0"/>
                        </a:spcBef>
                        <a:spcAft>
                          <a:spcPts val="0"/>
                        </a:spcAft>
                      </a:pPr>
                      <a:r>
                        <a:rPr sz="1000" b="1" i="0">
                          <a:solidFill>
                            <a:srgbClr val="FAF9F5"/>
                          </a:solidFill>
                          <a:latin typeface="Apple SD Gothic Neo"/>
                          <a:ea typeface="Apple SD Gothic Neo"/>
                        </a:rPr>
                        <a:t>제안·찬성 시 골라야 하는 근거 예시</a:t>
                      </a:r>
                    </a:p>
                  </a:txBody>
                  <a:tcPr marL="64008" marR="64008" marT="45720" marB="45720" anchor="ctr">
                    <a:lnL w="0">
                      <a:noFill/>
                    </a:lnL>
                    <a:lnR w="0">
                      <a:noFill/>
                    </a:lnR>
                    <a:lnT w="0">
                      <a:noFill/>
                    </a:lnT>
                    <a:lnB w="0">
                      <a:noFill/>
                    </a:lnB>
                    <a:solidFill>
                      <a:srgbClr val="141413"/>
                    </a:solidFill>
                  </a:tcPr>
                </a:tc>
              </a:tr>
              <a:tr h="333209">
                <a:tc>
                  <a:txBody>
                    <a:bodyPr wrap="square"/>
                    <a:lstStyle/>
                    <a:p>
                      <a:pPr algn="ctr">
                        <a:lnSpc>
                          <a:spcPts val="1250"/>
                        </a:lnSpc>
                        <a:spcBef>
                          <a:spcPts val="0"/>
                        </a:spcBef>
                        <a:spcAft>
                          <a:spcPts val="0"/>
                        </a:spcAft>
                      </a:pPr>
                      <a:r>
                        <a:rPr sz="1000" b="1" i="0">
                          <a:solidFill>
                            <a:srgbClr val="FFB21A"/>
                          </a:solidFill>
                          <a:latin typeface="Menlo"/>
                          <a:ea typeface="Apple SD Gothic Neo"/>
                        </a:rPr>
                        <a:t>1</a:t>
                      </a:r>
                    </a:p>
                  </a:txBody>
                  <a:tcPr marL="64008" marR="64008" marT="45720" marB="45720" anchor="ctr">
                    <a:lnL w="0">
                      <a:noFill/>
                    </a:lnL>
                    <a:lnR w="0">
                      <a:noFill/>
                    </a:lnR>
                    <a:lnT w="0">
                      <a:noFill/>
                    </a:lnT>
                    <a:lnB w="9525">
                      <a:solidFill>
                        <a:srgbClr val="DDDBD2"/>
                      </a:solidFill>
                    </a:lnB>
                    <a:solidFill>
                      <a:srgbClr val="141413"/>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분자 크기 (MW ≤)</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1" i="0">
                          <a:solidFill>
                            <a:srgbClr val="1E3A1E"/>
                          </a:solidFill>
                          <a:latin typeface="Menlo"/>
                          <a:ea typeface="Apple SD Gothic Neo"/>
                        </a:rPr>
                        <a:t>250 ~ 650 Da</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우리 약 분자는 얼마나 작아야 할까요?</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작은 분자가 장벽을 잘 지나서 · 뇌혈관장벽(BBB)을 넘어야 해서 · 실제 약 값을 참고해서</a:t>
                      </a:r>
                    </a:p>
                  </a:txBody>
                  <a:tcPr marL="64008" marR="64008" marT="45720" marB="45720" anchor="ctr">
                    <a:lnL w="0">
                      <a:noFill/>
                    </a:lnL>
                    <a:lnR w="0">
                      <a:noFill/>
                    </a:lnR>
                    <a:lnT w="0">
                      <a:noFill/>
                    </a:lnT>
                    <a:lnB w="9525">
                      <a:solidFill>
                        <a:srgbClr val="DDDBD2"/>
                      </a:solidFill>
                    </a:lnB>
                    <a:solidFill>
                      <a:srgbClr val="FFFFFF"/>
                    </a:solidFill>
                  </a:tcPr>
                </a:tc>
              </a:tr>
              <a:tr h="333209">
                <a:tc>
                  <a:txBody>
                    <a:bodyPr wrap="square"/>
                    <a:lstStyle/>
                    <a:p>
                      <a:pPr algn="ctr">
                        <a:lnSpc>
                          <a:spcPts val="1250"/>
                        </a:lnSpc>
                        <a:spcBef>
                          <a:spcPts val="0"/>
                        </a:spcBef>
                        <a:spcAft>
                          <a:spcPts val="0"/>
                        </a:spcAft>
                      </a:pPr>
                      <a:r>
                        <a:rPr sz="1000" b="1" i="0">
                          <a:solidFill>
                            <a:srgbClr val="FFB21A"/>
                          </a:solidFill>
                          <a:latin typeface="Menlo"/>
                          <a:ea typeface="Apple SD Gothic Neo"/>
                        </a:rPr>
                        <a:t>2</a:t>
                      </a:r>
                    </a:p>
                  </a:txBody>
                  <a:tcPr marL="64008" marR="64008" marT="45720" marB="45720" anchor="ctr">
                    <a:lnL w="0">
                      <a:noFill/>
                    </a:lnL>
                    <a:lnR w="0">
                      <a:noFill/>
                    </a:lnR>
                    <a:lnT w="0">
                      <a:noFill/>
                    </a:lnT>
                    <a:lnB w="9525">
                      <a:solidFill>
                        <a:srgbClr val="DDDBD2"/>
                      </a:solidFill>
                    </a:lnB>
                    <a:solidFill>
                      <a:srgbClr val="141413"/>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극성 표면적 (TPSA ≤)</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1" i="0">
                          <a:solidFill>
                            <a:srgbClr val="1E3A1E"/>
                          </a:solidFill>
                          <a:latin typeface="Menlo"/>
                          <a:ea typeface="Apple SD Gothic Neo"/>
                        </a:rPr>
                        <a:t>40 ~ 180 Å²</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물과 친한 겉면은 어디까지 허용할까요?</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장에서 흡수만 되면 돼서 · BBB를 넘으려면 보통 90 이하라 · 후보를 너무 잃지 않으려고</a:t>
                      </a:r>
                    </a:p>
                  </a:txBody>
                  <a:tcPr marL="64008" marR="64008" marT="45720" marB="45720" anchor="ctr">
                    <a:lnL w="0">
                      <a:noFill/>
                    </a:lnL>
                    <a:lnR w="0">
                      <a:noFill/>
                    </a:lnR>
                    <a:lnT w="0">
                      <a:noFill/>
                    </a:lnT>
                    <a:lnB w="9525">
                      <a:solidFill>
                        <a:srgbClr val="DDDBD2"/>
                      </a:solidFill>
                    </a:lnB>
                    <a:solidFill>
                      <a:srgbClr val="FFFFFF"/>
                    </a:solidFill>
                  </a:tcPr>
                </a:tc>
              </a:tr>
              <a:tr h="333209">
                <a:tc>
                  <a:txBody>
                    <a:bodyPr wrap="square"/>
                    <a:lstStyle/>
                    <a:p>
                      <a:pPr algn="ctr">
                        <a:lnSpc>
                          <a:spcPts val="1250"/>
                        </a:lnSpc>
                        <a:spcBef>
                          <a:spcPts val="0"/>
                        </a:spcBef>
                        <a:spcAft>
                          <a:spcPts val="0"/>
                        </a:spcAft>
                      </a:pPr>
                      <a:r>
                        <a:rPr sz="1000" b="1" i="0">
                          <a:solidFill>
                            <a:srgbClr val="FFB21A"/>
                          </a:solidFill>
                          <a:latin typeface="Menlo"/>
                          <a:ea typeface="Apple SD Gothic Neo"/>
                        </a:rPr>
                        <a:t>3</a:t>
                      </a:r>
                    </a:p>
                  </a:txBody>
                  <a:tcPr marL="64008" marR="64008" marT="45720" marB="45720" anchor="ctr">
                    <a:lnL w="0">
                      <a:noFill/>
                    </a:lnL>
                    <a:lnR w="0">
                      <a:noFill/>
                    </a:lnR>
                    <a:lnT w="0">
                      <a:noFill/>
                    </a:lnT>
                    <a:lnB w="9525">
                      <a:solidFill>
                        <a:srgbClr val="DDDBD2"/>
                      </a:solidFill>
                    </a:lnB>
                    <a:solidFill>
                      <a:srgbClr val="141413"/>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먹는 약 규칙 (Ro5 위반 ≤)</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1" i="0">
                          <a:solidFill>
                            <a:srgbClr val="1E3A1E"/>
                          </a:solidFill>
                          <a:latin typeface="Menlo"/>
                          <a:ea typeface="Apple SD Gothic Neo"/>
                        </a:rPr>
                        <a:t>0 · 1 · 2개</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리핀스키 5규칙은 몇 개까지 어겨도 될까요?</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먹는 약이라 규칙을 지켜야 해서 · 규칙을 1개쯤 어긴 좋은 약도 있어서</a:t>
                      </a:r>
                    </a:p>
                  </a:txBody>
                  <a:tcPr marL="64008" marR="64008" marT="45720" marB="45720" anchor="ctr">
                    <a:lnL w="0">
                      <a:noFill/>
                    </a:lnL>
                    <a:lnR w="0">
                      <a:noFill/>
                    </a:lnR>
                    <a:lnT w="0">
                      <a:noFill/>
                    </a:lnT>
                    <a:lnB w="9525">
                      <a:solidFill>
                        <a:srgbClr val="DDDBD2"/>
                      </a:solidFill>
                    </a:lnB>
                    <a:solidFill>
                      <a:srgbClr val="FFFFFF"/>
                    </a:solidFill>
                  </a:tcPr>
                </a:tc>
              </a:tr>
              <a:tr h="333209">
                <a:tc>
                  <a:txBody>
                    <a:bodyPr wrap="square"/>
                    <a:lstStyle/>
                    <a:p>
                      <a:pPr algn="ctr">
                        <a:lnSpc>
                          <a:spcPts val="1250"/>
                        </a:lnSpc>
                        <a:spcBef>
                          <a:spcPts val="0"/>
                        </a:spcBef>
                        <a:spcAft>
                          <a:spcPts val="0"/>
                        </a:spcAft>
                      </a:pPr>
                      <a:r>
                        <a:rPr sz="1000" b="1" i="0">
                          <a:solidFill>
                            <a:srgbClr val="FFB21A"/>
                          </a:solidFill>
                          <a:latin typeface="Menlo"/>
                          <a:ea typeface="Apple SD Gothic Neo"/>
                        </a:rPr>
                        <a:t>4</a:t>
                      </a:r>
                    </a:p>
                  </a:txBody>
                  <a:tcPr marL="64008" marR="64008" marT="45720" marB="45720" anchor="ctr">
                    <a:lnL w="0">
                      <a:noFill/>
                    </a:lnL>
                    <a:lnR w="0">
                      <a:noFill/>
                    </a:lnR>
                    <a:lnT w="0">
                      <a:noFill/>
                    </a:lnT>
                    <a:lnB w="9525">
                      <a:solidFill>
                        <a:srgbClr val="DDDBD2"/>
                      </a:solidFill>
                    </a:lnB>
                    <a:solidFill>
                      <a:srgbClr val="141413"/>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독성 부품 (구조 경고)</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1" i="0">
                          <a:solidFill>
                            <a:srgbClr val="1E3A1E"/>
                          </a:solidFill>
                          <a:latin typeface="Menlo"/>
                          <a:ea typeface="Apple SD Gothic Neo"/>
                        </a:rPr>
                        <a:t>빼기 · 허용</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독성 위험 부품이 있는 분자는 지금 뺄까요?</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오래 먹는 약이라 독성이 쌓이면 안 돼서 · 2.1에서 구조를 바꿔 고칠 수 있어서</a:t>
                      </a:r>
                    </a:p>
                  </a:txBody>
                  <a:tcPr marL="64008" marR="64008" marT="45720" marB="45720" anchor="ctr">
                    <a:lnL w="0">
                      <a:noFill/>
                    </a:lnL>
                    <a:lnR w="0">
                      <a:noFill/>
                    </a:lnR>
                    <a:lnT w="0">
                      <a:noFill/>
                    </a:lnT>
                    <a:lnB w="9525">
                      <a:solidFill>
                        <a:srgbClr val="DDDBD2"/>
                      </a:solidFill>
                    </a:lnB>
                    <a:solidFill>
                      <a:srgbClr val="FFFFFF"/>
                    </a:solidFill>
                  </a:tcPr>
                </a:tc>
              </a:tr>
              <a:tr h="333209">
                <a:tc>
                  <a:txBody>
                    <a:bodyPr wrap="square"/>
                    <a:lstStyle/>
                    <a:p>
                      <a:pPr algn="ctr">
                        <a:lnSpc>
                          <a:spcPts val="1250"/>
                        </a:lnSpc>
                        <a:spcBef>
                          <a:spcPts val="0"/>
                        </a:spcBef>
                        <a:spcAft>
                          <a:spcPts val="0"/>
                        </a:spcAft>
                      </a:pPr>
                      <a:r>
                        <a:rPr sz="1000" b="1" i="0">
                          <a:solidFill>
                            <a:srgbClr val="FFB21A"/>
                          </a:solidFill>
                          <a:latin typeface="Menlo"/>
                          <a:ea typeface="Apple SD Gothic Neo"/>
                        </a:rPr>
                        <a:t>5</a:t>
                      </a:r>
                    </a:p>
                  </a:txBody>
                  <a:tcPr marL="64008" marR="64008" marT="45720" marB="45720" anchor="ctr">
                    <a:lnL w="0">
                      <a:noFill/>
                    </a:lnL>
                    <a:lnR w="0">
                      <a:noFill/>
                    </a:lnR>
                    <a:lnT w="0">
                      <a:noFill/>
                    </a:lnT>
                    <a:lnB w="9525">
                      <a:solidFill>
                        <a:srgbClr val="DDDBD2"/>
                      </a:solidFill>
                    </a:lnB>
                    <a:solidFill>
                      <a:srgbClr val="141413"/>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약다움 (QED ≥)</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1" i="0">
                          <a:solidFill>
                            <a:srgbClr val="1E3A1E"/>
                          </a:solidFill>
                          <a:latin typeface="Menlo"/>
                          <a:ea typeface="Apple SD Gothic Neo"/>
                        </a:rPr>
                        <a:t>0 ~ 0.90</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실제 약과 닮은 정도는 몇 점 이상으로 할까요?</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실제 약과 닮은 분자를 고르려고 · 약다움보다 결합력이 더 중요해서</a:t>
                      </a:r>
                    </a:p>
                  </a:txBody>
                  <a:tcPr marL="64008" marR="64008" marT="45720" marB="45720" anchor="ctr">
                    <a:lnL w="0">
                      <a:noFill/>
                    </a:lnL>
                    <a:lnR w="0">
                      <a:noFill/>
                    </a:lnR>
                    <a:lnT w="0">
                      <a:noFill/>
                    </a:lnT>
                    <a:lnB w="9525">
                      <a:solidFill>
                        <a:srgbClr val="DDDBD2"/>
                      </a:solidFill>
                    </a:lnB>
                    <a:solidFill>
                      <a:srgbClr val="FFFFFF"/>
                    </a:solidFill>
                  </a:tcPr>
                </a:tc>
              </a:tr>
              <a:tr h="333209">
                <a:tc>
                  <a:txBody>
                    <a:bodyPr wrap="square"/>
                    <a:lstStyle/>
                    <a:p>
                      <a:pPr algn="ctr">
                        <a:lnSpc>
                          <a:spcPts val="1250"/>
                        </a:lnSpc>
                        <a:spcBef>
                          <a:spcPts val="0"/>
                        </a:spcBef>
                        <a:spcAft>
                          <a:spcPts val="0"/>
                        </a:spcAft>
                      </a:pPr>
                      <a:r>
                        <a:rPr sz="1000" b="1" i="0">
                          <a:solidFill>
                            <a:srgbClr val="FFB21A"/>
                          </a:solidFill>
                          <a:latin typeface="Menlo"/>
                          <a:ea typeface="Apple SD Gothic Neo"/>
                        </a:rPr>
                        <a:t>6</a:t>
                      </a:r>
                    </a:p>
                  </a:txBody>
                  <a:tcPr marL="64008" marR="64008" marT="45720" marB="45720" anchor="ctr">
                    <a:lnL w="0">
                      <a:noFill/>
                    </a:lnL>
                    <a:lnR w="0">
                      <a:noFill/>
                    </a:lnR>
                    <a:lnT w="0">
                      <a:noFill/>
                    </a:lnT>
                    <a:lnB w="9525">
                      <a:solidFill>
                        <a:srgbClr val="DDDBD2"/>
                      </a:solidFill>
                    </a:lnB>
                    <a:solidFill>
                      <a:srgbClr val="141413"/>
                    </a:solidFill>
                  </a:tcPr>
                </a:tc>
                <a:tc>
                  <a:txBody>
                    <a:bodyPr wrap="square"/>
                    <a:lstStyle/>
                    <a:p>
                      <a:pPr algn="l">
                        <a:lnSpc>
                          <a:spcPts val="1250"/>
                        </a:lnSpc>
                        <a:spcBef>
                          <a:spcPts val="0"/>
                        </a:spcBef>
                        <a:spcAft>
                          <a:spcPts val="0"/>
                        </a:spcAft>
                      </a:pPr>
                      <a:r>
                        <a:rPr sz="1000" b="1" i="0">
                          <a:solidFill>
                            <a:srgbClr val="141413"/>
                          </a:solidFill>
                          <a:latin typeface="Apple SD Gothic Neo"/>
                          <a:ea typeface="Apple SD Gothic Neo"/>
                        </a:rPr>
                        <a:t>결합 예측 (표적 점수 ≥)</a:t>
                      </a:r>
                    </a:p>
                  </a:txBody>
                  <a:tcPr marL="64008" marR="64008" marT="45720" marB="45720" anchor="ctr">
                    <a:lnL w="0">
                      <a:noFill/>
                    </a:lnL>
                    <a:lnR w="0">
                      <a:noFill/>
                    </a:lnR>
                    <a:lnT w="0">
                      <a:noFill/>
                    </a:lnT>
                    <a:lnB w="9525">
                      <a:solidFill>
                        <a:srgbClr val="DDDBD2"/>
                      </a:solidFill>
                    </a:lnB>
                    <a:solidFill>
                      <a:srgbClr val="FAF9F5"/>
                    </a:solidFill>
                  </a:tcPr>
                </a:tc>
                <a:tc>
                  <a:txBody>
                    <a:bodyPr wrap="square"/>
                    <a:lstStyle/>
                    <a:p>
                      <a:pPr algn="l">
                        <a:lnSpc>
                          <a:spcPts val="1250"/>
                        </a:lnSpc>
                        <a:spcBef>
                          <a:spcPts val="0"/>
                        </a:spcBef>
                        <a:spcAft>
                          <a:spcPts val="0"/>
                        </a:spcAft>
                      </a:pPr>
                      <a:r>
                        <a:rPr sz="1000" b="1" i="0">
                          <a:solidFill>
                            <a:srgbClr val="1E3A1E"/>
                          </a:solidFill>
                          <a:latin typeface="Menlo"/>
                          <a:ea typeface="Apple SD Gothic Neo"/>
                        </a:rPr>
                        <a:t>0 ~ 0.90</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141413"/>
                          </a:solidFill>
                          <a:latin typeface="Apple SD Gothic Neo"/>
                          <a:ea typeface="Apple SD Gothic Neo"/>
                        </a:rPr>
                        <a:t>표적에 잘 붙을 분자만 남기려면 몇 점 이상일까요?</a:t>
                      </a:r>
                    </a:p>
                  </a:txBody>
                  <a:tcPr marL="64008" marR="64008" marT="45720" marB="45720" anchor="ctr">
                    <a:lnL w="0">
                      <a:noFill/>
                    </a:lnL>
                    <a:lnR w="0">
                      <a:noFill/>
                    </a:lnR>
                    <a:lnT w="0">
                      <a:noFill/>
                    </a:lnT>
                    <a:lnB w="9525">
                      <a:solidFill>
                        <a:srgbClr val="DDDBD2"/>
                      </a:solidFill>
                    </a:lnB>
                    <a:solidFill>
                      <a:srgbClr val="FFFFFF"/>
                    </a:solidFill>
                  </a:tcPr>
                </a:tc>
                <a:tc>
                  <a:txBody>
                    <a:bodyPr wrap="square"/>
                    <a:lstStyle/>
                    <a:p>
                      <a:pPr algn="l">
                        <a:lnSpc>
                          <a:spcPts val="1250"/>
                        </a:lnSpc>
                        <a:spcBef>
                          <a:spcPts val="0"/>
                        </a:spcBef>
                        <a:spcAft>
                          <a:spcPts val="0"/>
                        </a:spcAft>
                      </a:pPr>
                      <a:r>
                        <a:rPr sz="1000" b="0" i="0">
                          <a:solidFill>
                            <a:srgbClr val="5C5B56"/>
                          </a:solidFill>
                          <a:latin typeface="Apple SD Gothic Neo"/>
                          <a:ea typeface="Apple SD Gothic Neo"/>
                        </a:rPr>
                        <a:t>강하게 붙을 분자만 도킹해 비용을 아끼려고 · 점수가 낮아도 2.1에서 고칠 수 있어서</a:t>
                      </a:r>
                    </a:p>
                  </a:txBody>
                  <a:tcPr marL="64008" marR="64008" marT="45720" marB="45720" anchor="ctr">
                    <a:lnL w="0">
                      <a:noFill/>
                    </a:lnL>
                    <a:lnR w="0">
                      <a:noFill/>
                    </a:lnR>
                    <a:lnT w="0">
                      <a:noFill/>
                    </a:lnT>
                    <a:lnB w="9525">
                      <a:solidFill>
                        <a:srgbClr val="DDDBD2"/>
                      </a:solidFill>
                    </a:lnB>
                    <a:solidFill>
                      <a:srgbClr val="FFFFFF"/>
                    </a:solidFill>
                  </a:tcPr>
                </a:tc>
              </a:tr>
            </a:tbl>
          </a:graphicData>
        </a:graphic>
      </p:graphicFrame>
      <p:sp>
        <p:nvSpPr>
          <p:cNvPr id="14" name="TextBox 13"/>
          <p:cNvSpPr txBox="1"/>
          <p:nvPr/>
        </p:nvSpPr>
        <p:spPr>
          <a:xfrm>
            <a:off x="457200" y="4520184"/>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내 작업대 도구 5종과 공통 점수판</a:t>
            </a:r>
          </a:p>
        </p:txBody>
      </p:sp>
      <p:sp>
        <p:nvSpPr>
          <p:cNvPr id="15" name="Rounded Rectangle 14"/>
          <p:cNvSpPr/>
          <p:nvPr/>
        </p:nvSpPr>
        <p:spPr>
          <a:xfrm>
            <a:off x="457200" y="4741037"/>
            <a:ext cx="1417320" cy="722376"/>
          </a:xfrm>
          <a:prstGeom prst="roundRect">
            <a:avLst>
              <a:gd name="adj" fmla="val 17721"/>
            </a:avLst>
          </a:prstGeom>
          <a:solidFill>
            <a:srgbClr val="141413"/>
          </a:solidFill>
          <a:ln>
            <a:noFill/>
          </a:ln>
        </p:spPr>
        <p:txBody>
          <a:bodyPr rtlCol="0" anchor="ctr"/>
          <a:lstStyle/>
          <a:p>
            <a:pPr algn="ctr"/>
          </a:p>
        </p:txBody>
      </p:sp>
      <p:sp>
        <p:nvSpPr>
          <p:cNvPr id="16" name="TextBox 15"/>
          <p:cNvSpPr txBox="1"/>
          <p:nvPr/>
        </p:nvSpPr>
        <p:spPr>
          <a:xfrm>
            <a:off x="585216" y="4741037"/>
            <a:ext cx="1161288" cy="722376"/>
          </a:xfrm>
          <a:prstGeom prst="rect">
            <a:avLst/>
          </a:prstGeom>
          <a:noFill/>
        </p:spPr>
        <p:txBody>
          <a:bodyPr wrap="square" lIns="0" rIns="0" tIns="0" bIns="0" anchor="ctr">
            <a:noAutofit/>
          </a:bodyPr>
          <a:lstStyle/>
          <a:p>
            <a:pPr algn="l">
              <a:lnSpc>
                <a:spcPts val="1365"/>
              </a:lnSpc>
              <a:spcBef>
                <a:spcPts val="0"/>
              </a:spcBef>
              <a:spcAft>
                <a:spcPts val="0"/>
              </a:spcAft>
            </a:pPr>
            <a:r>
              <a:rPr sz="1050" b="1" i="0">
                <a:solidFill>
                  <a:srgbClr val="FFB21A"/>
                </a:solidFill>
                <a:latin typeface="Apple SD Gothic Neo"/>
                <a:ea typeface="Apple SD Gothic Neo"/>
              </a:rPr>
              <a:t>도구 5종</a:t>
            </a:r>
          </a:p>
        </p:txBody>
      </p:sp>
      <p:sp>
        <p:nvSpPr>
          <p:cNvPr id="17" name="Rounded Rectangle 16"/>
          <p:cNvSpPr/>
          <p:nvPr/>
        </p:nvSpPr>
        <p:spPr>
          <a:xfrm>
            <a:off x="2011680" y="4741037"/>
            <a:ext cx="1856781" cy="722376"/>
          </a:xfrm>
          <a:prstGeom prst="roundRect">
            <a:avLst>
              <a:gd name="adj" fmla="val 17721"/>
            </a:avLst>
          </a:prstGeom>
          <a:solidFill>
            <a:srgbClr val="FFFFFF"/>
          </a:solidFill>
          <a:ln>
            <a:noFill/>
          </a:ln>
        </p:spPr>
        <p:txBody>
          <a:bodyPr rtlCol="0" anchor="ctr"/>
          <a:lstStyle/>
          <a:p>
            <a:pPr algn="ctr"/>
          </a:p>
        </p:txBody>
      </p:sp>
      <p:sp>
        <p:nvSpPr>
          <p:cNvPr id="18" name="TextBox 17"/>
          <p:cNvSpPr txBox="1"/>
          <p:nvPr/>
        </p:nvSpPr>
        <p:spPr>
          <a:xfrm>
            <a:off x="2121408" y="4850765"/>
            <a:ext cx="1637325" cy="502920"/>
          </a:xfrm>
          <a:prstGeom prst="rect">
            <a:avLst/>
          </a:prstGeom>
          <a:noFill/>
        </p:spPr>
        <p:txBody>
          <a:bodyPr wrap="square" lIns="0" rIns="0" tIns="0" bIns="0" anchor="ctr">
            <a:noAutofit/>
          </a:bodyPr>
          <a:lstStyle/>
          <a:p>
            <a:pPr algn="l">
              <a:lnSpc>
                <a:spcPts val="1320"/>
              </a:lnSpc>
              <a:spcBef>
                <a:spcPts val="0"/>
              </a:spcBef>
              <a:spcAft>
                <a:spcPts val="0"/>
              </a:spcAft>
            </a:pPr>
            <a:r>
              <a:rPr sz="1000" b="0" i="0">
                <a:solidFill>
                  <a:srgbClr val="141413"/>
                </a:solidFill>
                <a:latin typeface="Apple SD Gothic Neo"/>
                <a:ea typeface="Apple SD Gothic Neo"/>
              </a:rPr>
              <a:t>01 기준 설계실(6개 안건 동시 조절)</a:t>
            </a:r>
          </a:p>
        </p:txBody>
      </p:sp>
      <p:sp>
        <p:nvSpPr>
          <p:cNvPr id="19" name="Rounded Rectangle 18"/>
          <p:cNvSpPr/>
          <p:nvPr/>
        </p:nvSpPr>
        <p:spPr>
          <a:xfrm>
            <a:off x="3978189" y="4741037"/>
            <a:ext cx="1856781" cy="722376"/>
          </a:xfrm>
          <a:prstGeom prst="roundRect">
            <a:avLst>
              <a:gd name="adj" fmla="val 17721"/>
            </a:avLst>
          </a:prstGeom>
          <a:solidFill>
            <a:srgbClr val="FFFFFF"/>
          </a:solidFill>
          <a:ln>
            <a:noFill/>
          </a:ln>
        </p:spPr>
        <p:txBody>
          <a:bodyPr rtlCol="0" anchor="ctr"/>
          <a:lstStyle/>
          <a:p>
            <a:pPr algn="ctr"/>
          </a:p>
        </p:txBody>
      </p:sp>
      <p:sp>
        <p:nvSpPr>
          <p:cNvPr id="20" name="TextBox 19"/>
          <p:cNvSpPr txBox="1"/>
          <p:nvPr/>
        </p:nvSpPr>
        <p:spPr>
          <a:xfrm>
            <a:off x="4087917" y="4850765"/>
            <a:ext cx="1637325" cy="502920"/>
          </a:xfrm>
          <a:prstGeom prst="rect">
            <a:avLst/>
          </a:prstGeom>
          <a:noFill/>
        </p:spPr>
        <p:txBody>
          <a:bodyPr wrap="square" lIns="0" rIns="0" tIns="0" bIns="0" anchor="ctr">
            <a:noAutofit/>
          </a:bodyPr>
          <a:lstStyle/>
          <a:p>
            <a:pPr algn="l">
              <a:lnSpc>
                <a:spcPts val="1320"/>
              </a:lnSpc>
              <a:spcBef>
                <a:spcPts val="0"/>
              </a:spcBef>
              <a:spcAft>
                <a:spcPts val="0"/>
              </a:spcAft>
            </a:pPr>
            <a:r>
              <a:rPr sz="1000" b="0" i="0">
                <a:solidFill>
                  <a:srgbClr val="141413"/>
                </a:solidFill>
                <a:latin typeface="Apple SD Gothic Neo"/>
                <a:ea typeface="Apple SD Gothic Neo"/>
              </a:rPr>
              <a:t>02 분포 보고 문턱 정하기(버려지는 실제 약 이름 표시)</a:t>
            </a:r>
          </a:p>
        </p:txBody>
      </p:sp>
      <p:sp>
        <p:nvSpPr>
          <p:cNvPr id="21" name="Rounded Rectangle 20"/>
          <p:cNvSpPr/>
          <p:nvPr/>
        </p:nvSpPr>
        <p:spPr>
          <a:xfrm>
            <a:off x="5944697" y="4741037"/>
            <a:ext cx="1856781" cy="722376"/>
          </a:xfrm>
          <a:prstGeom prst="roundRect">
            <a:avLst>
              <a:gd name="adj" fmla="val 17721"/>
            </a:avLst>
          </a:prstGeom>
          <a:solidFill>
            <a:srgbClr val="FFFFFF"/>
          </a:solidFill>
          <a:ln>
            <a:noFill/>
          </a:ln>
        </p:spPr>
        <p:txBody>
          <a:bodyPr rtlCol="0" anchor="ctr"/>
          <a:lstStyle/>
          <a:p>
            <a:pPr algn="ctr"/>
          </a:p>
        </p:txBody>
      </p:sp>
      <p:sp>
        <p:nvSpPr>
          <p:cNvPr id="22" name="TextBox 21"/>
          <p:cNvSpPr txBox="1"/>
          <p:nvPr/>
        </p:nvSpPr>
        <p:spPr>
          <a:xfrm>
            <a:off x="6054425" y="4850765"/>
            <a:ext cx="1637325" cy="502920"/>
          </a:xfrm>
          <a:prstGeom prst="rect">
            <a:avLst/>
          </a:prstGeom>
          <a:noFill/>
        </p:spPr>
        <p:txBody>
          <a:bodyPr wrap="square" lIns="0" rIns="0" tIns="0" bIns="0" anchor="ctr">
            <a:noAutofit/>
          </a:bodyPr>
          <a:lstStyle/>
          <a:p>
            <a:pPr algn="l">
              <a:lnSpc>
                <a:spcPts val="1320"/>
              </a:lnSpc>
              <a:spcBef>
                <a:spcPts val="0"/>
              </a:spcBef>
              <a:spcAft>
                <a:spcPts val="0"/>
              </a:spcAft>
            </a:pPr>
            <a:r>
              <a:rPr sz="1000" b="0" i="0">
                <a:solidFill>
                  <a:srgbClr val="141413"/>
                </a:solidFill>
                <a:latin typeface="Apple SD Gothic Neo"/>
                <a:ea typeface="Apple SD Gothic Neo"/>
              </a:rPr>
              <a:t>03 화학 공간 울타리(2차원 산점도 사각형 선택)</a:t>
            </a:r>
          </a:p>
        </p:txBody>
      </p:sp>
      <p:sp>
        <p:nvSpPr>
          <p:cNvPr id="23" name="Rounded Rectangle 22"/>
          <p:cNvSpPr/>
          <p:nvPr/>
        </p:nvSpPr>
        <p:spPr>
          <a:xfrm>
            <a:off x="7911206" y="4741037"/>
            <a:ext cx="1856781" cy="722376"/>
          </a:xfrm>
          <a:prstGeom prst="roundRect">
            <a:avLst>
              <a:gd name="adj" fmla="val 17721"/>
            </a:avLst>
          </a:prstGeom>
          <a:solidFill>
            <a:srgbClr val="FFFFFF"/>
          </a:solidFill>
          <a:ln>
            <a:noFill/>
          </a:ln>
        </p:spPr>
        <p:txBody>
          <a:bodyPr rtlCol="0" anchor="ctr"/>
          <a:lstStyle/>
          <a:p>
            <a:pPr algn="ctr"/>
          </a:p>
        </p:txBody>
      </p:sp>
      <p:sp>
        <p:nvSpPr>
          <p:cNvPr id="24" name="TextBox 23"/>
          <p:cNvSpPr txBox="1"/>
          <p:nvPr/>
        </p:nvSpPr>
        <p:spPr>
          <a:xfrm>
            <a:off x="8020934" y="4850765"/>
            <a:ext cx="1637325" cy="502920"/>
          </a:xfrm>
          <a:prstGeom prst="rect">
            <a:avLst/>
          </a:prstGeom>
          <a:noFill/>
        </p:spPr>
        <p:txBody>
          <a:bodyPr wrap="square" lIns="0" rIns="0" tIns="0" bIns="0" anchor="ctr">
            <a:noAutofit/>
          </a:bodyPr>
          <a:lstStyle/>
          <a:p>
            <a:pPr algn="l">
              <a:lnSpc>
                <a:spcPts val="1320"/>
              </a:lnSpc>
              <a:spcBef>
                <a:spcPts val="0"/>
              </a:spcBef>
              <a:spcAft>
                <a:spcPts val="0"/>
              </a:spcAft>
            </a:pPr>
            <a:r>
              <a:rPr sz="1000" b="0" i="0">
                <a:solidFill>
                  <a:srgbClr val="141413"/>
                </a:solidFill>
                <a:latin typeface="Apple SD Gothic Neo"/>
                <a:ea typeface="Apple SD Gothic Neo"/>
              </a:rPr>
              <a:t>04 내가 심사관(분자 카드 8장 직접 판정)</a:t>
            </a:r>
          </a:p>
        </p:txBody>
      </p:sp>
      <p:sp>
        <p:nvSpPr>
          <p:cNvPr id="25" name="Rounded Rectangle 24"/>
          <p:cNvSpPr/>
          <p:nvPr/>
        </p:nvSpPr>
        <p:spPr>
          <a:xfrm>
            <a:off x="9877715" y="4741037"/>
            <a:ext cx="1856781" cy="722376"/>
          </a:xfrm>
          <a:prstGeom prst="roundRect">
            <a:avLst>
              <a:gd name="adj" fmla="val 17721"/>
            </a:avLst>
          </a:prstGeom>
          <a:solidFill>
            <a:srgbClr val="FFFFFF"/>
          </a:solidFill>
          <a:ln>
            <a:noFill/>
          </a:ln>
        </p:spPr>
        <p:txBody>
          <a:bodyPr rtlCol="0" anchor="ctr"/>
          <a:lstStyle/>
          <a:p>
            <a:pPr algn="ctr"/>
          </a:p>
        </p:txBody>
      </p:sp>
      <p:sp>
        <p:nvSpPr>
          <p:cNvPr id="26" name="TextBox 25"/>
          <p:cNvSpPr txBox="1"/>
          <p:nvPr/>
        </p:nvSpPr>
        <p:spPr>
          <a:xfrm>
            <a:off x="9987443" y="4850765"/>
            <a:ext cx="1637325" cy="502920"/>
          </a:xfrm>
          <a:prstGeom prst="rect">
            <a:avLst/>
          </a:prstGeom>
          <a:noFill/>
        </p:spPr>
        <p:txBody>
          <a:bodyPr wrap="square" lIns="0" rIns="0" tIns="0" bIns="0" anchor="ctr">
            <a:noAutofit/>
          </a:bodyPr>
          <a:lstStyle/>
          <a:p>
            <a:pPr algn="l">
              <a:lnSpc>
                <a:spcPts val="1320"/>
              </a:lnSpc>
              <a:spcBef>
                <a:spcPts val="0"/>
              </a:spcBef>
              <a:spcAft>
                <a:spcPts val="0"/>
              </a:spcAft>
            </a:pPr>
            <a:r>
              <a:rPr sz="1000" b="0" i="0">
                <a:solidFill>
                  <a:srgbClr val="141413"/>
                </a:solidFill>
                <a:latin typeface="Apple SD Gothic Neo"/>
                <a:ea typeface="Apple SD Gothic Neo"/>
              </a:rPr>
              <a:t>05 도킹할 분자 고르기(지표 정렬 표)</a:t>
            </a:r>
          </a:p>
        </p:txBody>
      </p:sp>
      <p:sp>
        <p:nvSpPr>
          <p:cNvPr id="27" name="Rounded Rectangle 26"/>
          <p:cNvSpPr/>
          <p:nvPr/>
        </p:nvSpPr>
        <p:spPr>
          <a:xfrm>
            <a:off x="457200" y="5554853"/>
            <a:ext cx="1417320" cy="554736"/>
          </a:xfrm>
          <a:prstGeom prst="roundRect">
            <a:avLst>
              <a:gd name="adj" fmla="val 23076"/>
            </a:avLst>
          </a:prstGeom>
          <a:solidFill>
            <a:srgbClr val="1E3A1E"/>
          </a:solidFill>
          <a:ln>
            <a:noFill/>
          </a:ln>
        </p:spPr>
        <p:txBody>
          <a:bodyPr rtlCol="0" anchor="ctr"/>
          <a:lstStyle/>
          <a:p>
            <a:pPr algn="ctr"/>
          </a:p>
        </p:txBody>
      </p:sp>
      <p:sp>
        <p:nvSpPr>
          <p:cNvPr id="28" name="TextBox 27"/>
          <p:cNvSpPr txBox="1"/>
          <p:nvPr/>
        </p:nvSpPr>
        <p:spPr>
          <a:xfrm>
            <a:off x="585216" y="5554853"/>
            <a:ext cx="1161288" cy="554736"/>
          </a:xfrm>
          <a:prstGeom prst="rect">
            <a:avLst/>
          </a:prstGeom>
          <a:noFill/>
        </p:spPr>
        <p:txBody>
          <a:bodyPr wrap="square" lIns="0" rIns="0" tIns="0" bIns="0" anchor="ctr">
            <a:noAutofit/>
          </a:bodyPr>
          <a:lstStyle/>
          <a:p>
            <a:pPr algn="l">
              <a:lnSpc>
                <a:spcPts val="1365"/>
              </a:lnSpc>
              <a:spcBef>
                <a:spcPts val="0"/>
              </a:spcBef>
              <a:spcAft>
                <a:spcPts val="0"/>
              </a:spcAft>
            </a:pPr>
            <a:r>
              <a:rPr sz="1050" b="1" i="0">
                <a:solidFill>
                  <a:srgbClr val="D4F94E"/>
                </a:solidFill>
                <a:latin typeface="Apple SD Gothic Neo"/>
                <a:ea typeface="Apple SD Gothic Neo"/>
              </a:rPr>
              <a:t>공통 점수판 4칸</a:t>
            </a:r>
          </a:p>
        </p:txBody>
      </p:sp>
      <p:sp>
        <p:nvSpPr>
          <p:cNvPr id="29" name="Rounded Rectangle 28"/>
          <p:cNvSpPr/>
          <p:nvPr/>
        </p:nvSpPr>
        <p:spPr>
          <a:xfrm>
            <a:off x="2011680" y="5554853"/>
            <a:ext cx="2348408" cy="554736"/>
          </a:xfrm>
          <a:prstGeom prst="roundRect">
            <a:avLst>
              <a:gd name="adj" fmla="val 23076"/>
            </a:avLst>
          </a:prstGeom>
          <a:solidFill>
            <a:srgbClr val="FFFFFF"/>
          </a:solidFill>
          <a:ln>
            <a:noFill/>
          </a:ln>
        </p:spPr>
        <p:txBody>
          <a:bodyPr rtlCol="0" anchor="ctr"/>
          <a:lstStyle/>
          <a:p>
            <a:pPr algn="ctr"/>
          </a:p>
        </p:txBody>
      </p:sp>
      <p:sp>
        <p:nvSpPr>
          <p:cNvPr id="30" name="TextBox 29"/>
          <p:cNvSpPr txBox="1"/>
          <p:nvPr/>
        </p:nvSpPr>
        <p:spPr>
          <a:xfrm>
            <a:off x="2121408" y="5664581"/>
            <a:ext cx="2128952" cy="335280"/>
          </a:xfrm>
          <a:prstGeom prst="rect">
            <a:avLst/>
          </a:prstGeom>
          <a:noFill/>
        </p:spPr>
        <p:txBody>
          <a:bodyPr wrap="square" lIns="0" rIns="0" tIns="0" bIns="0" anchor="ctr">
            <a:noAutofit/>
          </a:bodyPr>
          <a:lstStyle/>
          <a:p>
            <a:pPr algn="l">
              <a:lnSpc>
                <a:spcPts val="1320"/>
              </a:lnSpc>
              <a:spcBef>
                <a:spcPts val="0"/>
              </a:spcBef>
              <a:spcAft>
                <a:spcPts val="0"/>
              </a:spcAft>
            </a:pPr>
            <a:r>
              <a:rPr sz="1000" b="0" i="0">
                <a:solidFill>
                  <a:srgbClr val="141413"/>
                </a:solidFill>
                <a:latin typeface="Apple SD Gothic Neo"/>
                <a:ea typeface="Apple SD Gothic Neo"/>
              </a:rPr>
              <a:t>남은 분자 수(n/220)</a:t>
            </a:r>
          </a:p>
        </p:txBody>
      </p:sp>
      <p:sp>
        <p:nvSpPr>
          <p:cNvPr id="31" name="Rounded Rectangle 30"/>
          <p:cNvSpPr/>
          <p:nvPr/>
        </p:nvSpPr>
        <p:spPr>
          <a:xfrm>
            <a:off x="4469816" y="5554853"/>
            <a:ext cx="2348408" cy="554736"/>
          </a:xfrm>
          <a:prstGeom prst="roundRect">
            <a:avLst>
              <a:gd name="adj" fmla="val 23076"/>
            </a:avLst>
          </a:prstGeom>
          <a:solidFill>
            <a:srgbClr val="FFFFFF"/>
          </a:solidFill>
          <a:ln>
            <a:noFill/>
          </a:ln>
        </p:spPr>
        <p:txBody>
          <a:bodyPr rtlCol="0" anchor="ctr"/>
          <a:lstStyle/>
          <a:p>
            <a:pPr algn="ctr"/>
          </a:p>
        </p:txBody>
      </p:sp>
      <p:sp>
        <p:nvSpPr>
          <p:cNvPr id="32" name="TextBox 31"/>
          <p:cNvSpPr txBox="1"/>
          <p:nvPr/>
        </p:nvSpPr>
        <p:spPr>
          <a:xfrm>
            <a:off x="4579544" y="5664581"/>
            <a:ext cx="2128952" cy="335280"/>
          </a:xfrm>
          <a:prstGeom prst="rect">
            <a:avLst/>
          </a:prstGeom>
          <a:noFill/>
        </p:spPr>
        <p:txBody>
          <a:bodyPr wrap="square" lIns="0" rIns="0" tIns="0" bIns="0" anchor="ctr">
            <a:noAutofit/>
          </a:bodyPr>
          <a:lstStyle/>
          <a:p>
            <a:pPr algn="l">
              <a:lnSpc>
                <a:spcPts val="1320"/>
              </a:lnSpc>
              <a:spcBef>
                <a:spcPts val="0"/>
              </a:spcBef>
              <a:spcAft>
                <a:spcPts val="0"/>
              </a:spcAft>
            </a:pPr>
            <a:r>
              <a:rPr sz="1000" b="0" i="0">
                <a:solidFill>
                  <a:srgbClr val="141413"/>
                </a:solidFill>
                <a:latin typeface="Apple SD Gothic Neo"/>
                <a:ea typeface="Apple SD Gothic Neo"/>
              </a:rPr>
              <a:t>살아남은 아는 약 계열(k/K)</a:t>
            </a:r>
          </a:p>
        </p:txBody>
      </p:sp>
      <p:sp>
        <p:nvSpPr>
          <p:cNvPr id="33" name="Rounded Rectangle 32"/>
          <p:cNvSpPr/>
          <p:nvPr/>
        </p:nvSpPr>
        <p:spPr>
          <a:xfrm>
            <a:off x="6927952" y="5554853"/>
            <a:ext cx="2348408" cy="554736"/>
          </a:xfrm>
          <a:prstGeom prst="roundRect">
            <a:avLst>
              <a:gd name="adj" fmla="val 23076"/>
            </a:avLst>
          </a:prstGeom>
          <a:solidFill>
            <a:srgbClr val="FFFFFF"/>
          </a:solidFill>
          <a:ln>
            <a:noFill/>
          </a:ln>
        </p:spPr>
        <p:txBody>
          <a:bodyPr rtlCol="0" anchor="ctr"/>
          <a:lstStyle/>
          <a:p>
            <a:pPr algn="ctr"/>
          </a:p>
        </p:txBody>
      </p:sp>
      <p:sp>
        <p:nvSpPr>
          <p:cNvPr id="34" name="TextBox 33"/>
          <p:cNvSpPr txBox="1"/>
          <p:nvPr/>
        </p:nvSpPr>
        <p:spPr>
          <a:xfrm>
            <a:off x="7037680" y="5664581"/>
            <a:ext cx="2128952" cy="335280"/>
          </a:xfrm>
          <a:prstGeom prst="rect">
            <a:avLst/>
          </a:prstGeom>
          <a:noFill/>
        </p:spPr>
        <p:txBody>
          <a:bodyPr wrap="square" lIns="0" rIns="0" tIns="0" bIns="0" anchor="ctr">
            <a:noAutofit/>
          </a:bodyPr>
          <a:lstStyle/>
          <a:p>
            <a:pPr algn="l">
              <a:lnSpc>
                <a:spcPts val="1320"/>
              </a:lnSpc>
              <a:spcBef>
                <a:spcPts val="0"/>
              </a:spcBef>
              <a:spcAft>
                <a:spcPts val="0"/>
              </a:spcAft>
            </a:pPr>
            <a:r>
              <a:rPr sz="1000" b="0" i="0">
                <a:solidFill>
                  <a:srgbClr val="141413"/>
                </a:solidFill>
                <a:latin typeface="Apple SD Gothic Neo"/>
                <a:ea typeface="Apple SD Gothic Neo"/>
              </a:rPr>
              <a:t>농축도(처음보다 아는 약 비율이 몇 배 진해졌나)</a:t>
            </a:r>
          </a:p>
        </p:txBody>
      </p:sp>
      <p:sp>
        <p:nvSpPr>
          <p:cNvPr id="35" name="Rounded Rectangle 34"/>
          <p:cNvSpPr/>
          <p:nvPr/>
        </p:nvSpPr>
        <p:spPr>
          <a:xfrm>
            <a:off x="9386087" y="5554853"/>
            <a:ext cx="2348408" cy="554736"/>
          </a:xfrm>
          <a:prstGeom prst="roundRect">
            <a:avLst>
              <a:gd name="adj" fmla="val 23076"/>
            </a:avLst>
          </a:prstGeom>
          <a:solidFill>
            <a:srgbClr val="FFFFFF"/>
          </a:solidFill>
          <a:ln>
            <a:noFill/>
          </a:ln>
        </p:spPr>
        <p:txBody>
          <a:bodyPr rtlCol="0" anchor="ctr"/>
          <a:lstStyle/>
          <a:p>
            <a:pPr algn="ctr"/>
          </a:p>
        </p:txBody>
      </p:sp>
      <p:sp>
        <p:nvSpPr>
          <p:cNvPr id="36" name="TextBox 35"/>
          <p:cNvSpPr txBox="1"/>
          <p:nvPr/>
        </p:nvSpPr>
        <p:spPr>
          <a:xfrm>
            <a:off x="9495815" y="5664581"/>
            <a:ext cx="2128952" cy="335280"/>
          </a:xfrm>
          <a:prstGeom prst="rect">
            <a:avLst/>
          </a:prstGeom>
          <a:noFill/>
        </p:spPr>
        <p:txBody>
          <a:bodyPr wrap="square" lIns="0" rIns="0" tIns="0" bIns="0" anchor="ctr">
            <a:noAutofit/>
          </a:bodyPr>
          <a:lstStyle/>
          <a:p>
            <a:pPr algn="l">
              <a:lnSpc>
                <a:spcPts val="1320"/>
              </a:lnSpc>
              <a:spcBef>
                <a:spcPts val="0"/>
              </a:spcBef>
              <a:spcAft>
                <a:spcPts val="0"/>
              </a:spcAft>
            </a:pPr>
            <a:r>
              <a:rPr sz="1000" b="0" i="0">
                <a:solidFill>
                  <a:srgbClr val="141413"/>
                </a:solidFill>
                <a:latin typeface="Apple SD Gothic Neo"/>
                <a:ea typeface="Apple SD Gothic Neo"/>
              </a:rPr>
              <a:t>상위 10개 중 아는 약 계열 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15 / 26</a:t>
            </a:r>
          </a:p>
        </p:txBody>
      </p:sp>
      <p:sp>
        <p:nvSpPr>
          <p:cNvPr id="7" name="Rounded Rectangle 6"/>
          <p:cNvSpPr/>
          <p:nvPr/>
        </p:nvSpPr>
        <p:spPr>
          <a:xfrm>
            <a:off x="457200" y="566928"/>
            <a:ext cx="3244710"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970390"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3 · 단계 1.2 화합물 스크리닝 (2/2)</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기준의 대가를 결과로 겪고, 살아남은 분자 중 근거와 함께 내 후보를 찜합니다</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기준이 너무 엄격하면 좋은 약까지 놓치고(위음성), 너무 느슨하면 가망 없는 분자가 섞여 도킹 비용이 늘어납니다(위양성).</a:t>
            </a:r>
          </a:p>
        </p:txBody>
      </p:sp>
      <p:sp>
        <p:nvSpPr>
          <p:cNvPr id="12" name="TextBox 11"/>
          <p:cNvSpPr txBox="1"/>
          <p:nvPr/>
        </p:nvSpPr>
        <p:spPr>
          <a:xfrm>
            <a:off x="457200" y="182549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걸음 ③ 스크리닝 실행 → 걸음 ④ 분자 쇼핑 → 걸음 ⑤ 넘기기</a:t>
            </a:r>
          </a:p>
        </p:txBody>
      </p:sp>
      <p:sp>
        <p:nvSpPr>
          <p:cNvPr id="13" name="Rounded Rectangle 12"/>
          <p:cNvSpPr/>
          <p:nvPr/>
        </p:nvSpPr>
        <p:spPr>
          <a:xfrm>
            <a:off x="457200" y="2064639"/>
            <a:ext cx="4069080" cy="4409313"/>
          </a:xfrm>
          <a:prstGeom prst="roundRect">
            <a:avLst>
              <a:gd name="adj" fmla="val 4943"/>
            </a:avLst>
          </a:prstGeom>
          <a:solidFill>
            <a:srgbClr val="FFFFFF"/>
          </a:solidFill>
          <a:ln>
            <a:noFill/>
          </a:ln>
        </p:spPr>
        <p:txBody>
          <a:bodyPr rtlCol="0" anchor="ctr"/>
          <a:lstStyle/>
          <a:p>
            <a:pPr algn="ctr"/>
          </a:p>
        </p:txBody>
      </p:sp>
      <p:sp>
        <p:nvSpPr>
          <p:cNvPr id="14" name="Chevron 13"/>
          <p:cNvSpPr/>
          <p:nvPr/>
        </p:nvSpPr>
        <p:spPr>
          <a:xfrm>
            <a:off x="4599432" y="4086416"/>
            <a:ext cx="182880" cy="365760"/>
          </a:xfrm>
          <a:prstGeom prst="chevron">
            <a:avLst/>
          </a:prstGeom>
          <a:solidFill>
            <a:srgbClr val="141413"/>
          </a:solidFill>
          <a:ln>
            <a:noFill/>
          </a:ln>
        </p:spPr>
        <p:txBody>
          <a:bodyPr rtlCol="0" anchor="ctr"/>
          <a:lstStyle/>
          <a:p>
            <a:pPr algn="ctr"/>
          </a:p>
        </p:txBody>
      </p:sp>
      <p:sp>
        <p:nvSpPr>
          <p:cNvPr id="15" name="Rounded Rectangle 14"/>
          <p:cNvSpPr/>
          <p:nvPr/>
        </p:nvSpPr>
        <p:spPr>
          <a:xfrm>
            <a:off x="4855464" y="2064639"/>
            <a:ext cx="3977640" cy="4409313"/>
          </a:xfrm>
          <a:prstGeom prst="roundRect">
            <a:avLst>
              <a:gd name="adj" fmla="val 5057"/>
            </a:avLst>
          </a:prstGeom>
          <a:solidFill>
            <a:srgbClr val="FFFFFF"/>
          </a:solidFill>
          <a:ln>
            <a:noFill/>
          </a:ln>
        </p:spPr>
        <p:txBody>
          <a:bodyPr rtlCol="0" anchor="ctr"/>
          <a:lstStyle/>
          <a:p>
            <a:pPr algn="ctr"/>
          </a:p>
        </p:txBody>
      </p:sp>
      <p:sp>
        <p:nvSpPr>
          <p:cNvPr id="16" name="Chevron 15"/>
          <p:cNvSpPr/>
          <p:nvPr/>
        </p:nvSpPr>
        <p:spPr>
          <a:xfrm>
            <a:off x="8906256" y="4086416"/>
            <a:ext cx="182880" cy="365760"/>
          </a:xfrm>
          <a:prstGeom prst="chevron">
            <a:avLst/>
          </a:prstGeom>
          <a:solidFill>
            <a:srgbClr val="141413"/>
          </a:solidFill>
          <a:ln>
            <a:noFill/>
          </a:ln>
        </p:spPr>
        <p:txBody>
          <a:bodyPr rtlCol="0" anchor="ctr"/>
          <a:lstStyle/>
          <a:p>
            <a:pPr algn="ctr"/>
          </a:p>
        </p:txBody>
      </p:sp>
      <p:sp>
        <p:nvSpPr>
          <p:cNvPr id="17" name="Rounded Rectangle 16"/>
          <p:cNvSpPr/>
          <p:nvPr/>
        </p:nvSpPr>
        <p:spPr>
          <a:xfrm>
            <a:off x="9162288" y="2064639"/>
            <a:ext cx="2572207" cy="4409313"/>
          </a:xfrm>
          <a:prstGeom prst="roundRect">
            <a:avLst>
              <a:gd name="adj" fmla="val 7820"/>
            </a:avLst>
          </a:prstGeom>
          <a:solidFill>
            <a:srgbClr val="1E3A1E"/>
          </a:solidFill>
          <a:ln>
            <a:noFill/>
          </a:ln>
        </p:spPr>
        <p:txBody>
          <a:bodyPr rtlCol="0" anchor="ctr"/>
          <a:lstStyle/>
          <a:p>
            <a:pPr algn="ctr"/>
          </a:p>
        </p:txBody>
      </p:sp>
      <p:sp>
        <p:nvSpPr>
          <p:cNvPr id="18" name="TextBox 17"/>
          <p:cNvSpPr txBox="1"/>
          <p:nvPr/>
        </p:nvSpPr>
        <p:spPr>
          <a:xfrm>
            <a:off x="676656" y="2265807"/>
            <a:ext cx="3630168" cy="242062"/>
          </a:xfrm>
          <a:prstGeom prst="rect">
            <a:avLst/>
          </a:prstGeom>
          <a:noFill/>
        </p:spPr>
        <p:txBody>
          <a:bodyPr wrap="square" lIns="0" rIns="0" tIns="0" bIns="0" anchor="t">
            <a:noAutofit/>
          </a:bodyPr>
          <a:lstStyle/>
          <a:p>
            <a:pPr algn="l">
              <a:lnSpc>
                <a:spcPts val="1690"/>
              </a:lnSpc>
              <a:spcBef>
                <a:spcPts val="0"/>
              </a:spcBef>
              <a:spcAft>
                <a:spcPts val="0"/>
              </a:spcAft>
            </a:pPr>
            <a:r>
              <a:rPr sz="1300" b="1" i="0">
                <a:solidFill>
                  <a:srgbClr val="141413"/>
                </a:solidFill>
                <a:latin typeface="Apple SD Gothic Neo"/>
                <a:ea typeface="Apple SD Gothic Neo"/>
              </a:rPr>
              <a:t>걸음 ③ 실행 결과와 회고</a:t>
            </a:r>
          </a:p>
        </p:txBody>
      </p:sp>
      <p:sp>
        <p:nvSpPr>
          <p:cNvPr id="19" name="Rounded Rectangle 18"/>
          <p:cNvSpPr/>
          <p:nvPr/>
        </p:nvSpPr>
        <p:spPr>
          <a:xfrm>
            <a:off x="676656" y="2617597"/>
            <a:ext cx="695587" cy="246888"/>
          </a:xfrm>
          <a:prstGeom prst="roundRect">
            <a:avLst>
              <a:gd name="adj" fmla="val 50000"/>
            </a:avLst>
          </a:prstGeom>
          <a:solidFill>
            <a:srgbClr val="E7E6DE"/>
          </a:solidFill>
          <a:ln>
            <a:noFill/>
          </a:ln>
        </p:spPr>
        <p:txBody>
          <a:bodyPr rtlCol="0" anchor="ctr"/>
          <a:lstStyle/>
          <a:p>
            <a:pPr algn="ctr"/>
          </a:p>
        </p:txBody>
      </p:sp>
      <p:sp>
        <p:nvSpPr>
          <p:cNvPr id="20" name="TextBox 19"/>
          <p:cNvSpPr txBox="1"/>
          <p:nvPr/>
        </p:nvSpPr>
        <p:spPr>
          <a:xfrm>
            <a:off x="786384" y="2617597"/>
            <a:ext cx="521851" cy="246888"/>
          </a:xfrm>
          <a:prstGeom prst="rect">
            <a:avLst/>
          </a:prstGeom>
          <a:noFill/>
        </p:spPr>
        <p:txBody>
          <a:bodyPr wrap="square" lIns="0" rIns="0" tIns="0" bIns="0" anchor="ctr">
            <a:noAutofit/>
          </a:bodyPr>
          <a:lstStyle/>
          <a:p>
            <a:pPr algn="l">
              <a:lnSpc>
                <a:spcPts val="1235"/>
              </a:lnSpc>
              <a:spcBef>
                <a:spcPts val="0"/>
              </a:spcBef>
              <a:spcAft>
                <a:spcPts val="0"/>
              </a:spcAft>
            </a:pPr>
            <a:r>
              <a:rPr sz="950" b="1" i="0">
                <a:solidFill>
                  <a:srgbClr val="141413"/>
                </a:solidFill>
                <a:latin typeface="Apple SD Gothic Neo"/>
                <a:ea typeface="Apple SD Gothic Neo"/>
              </a:rPr>
              <a:t>판정 구간</a:t>
            </a:r>
          </a:p>
        </p:txBody>
      </p:sp>
      <p:sp>
        <p:nvSpPr>
          <p:cNvPr id="21" name="Rounded Rectangle 20"/>
          <p:cNvSpPr/>
          <p:nvPr/>
        </p:nvSpPr>
        <p:spPr>
          <a:xfrm>
            <a:off x="676656" y="2937637"/>
            <a:ext cx="3630168" cy="274320"/>
          </a:xfrm>
          <a:prstGeom prst="roundRect">
            <a:avLst>
              <a:gd name="adj" fmla="val 26666"/>
            </a:avLst>
          </a:prstGeom>
          <a:solidFill>
            <a:srgbClr val="FFD9D2"/>
          </a:solidFill>
          <a:ln>
            <a:noFill/>
          </a:ln>
        </p:spPr>
        <p:txBody>
          <a:bodyPr rtlCol="0" anchor="ctr"/>
          <a:lstStyle/>
          <a:p>
            <a:pPr algn="ctr"/>
          </a:p>
        </p:txBody>
      </p:sp>
      <p:sp>
        <p:nvSpPr>
          <p:cNvPr id="22" name="TextBox 21"/>
          <p:cNvSpPr txBox="1"/>
          <p:nvPr/>
        </p:nvSpPr>
        <p:spPr>
          <a:xfrm>
            <a:off x="813816" y="2937637"/>
            <a:ext cx="3355848" cy="274320"/>
          </a:xfrm>
          <a:prstGeom prst="rect">
            <a:avLst/>
          </a:prstGeom>
          <a:noFill/>
        </p:spPr>
        <p:txBody>
          <a:bodyPr wrap="square" lIns="0" rIns="0" tIns="0" bIns="0" anchor="ctr">
            <a:noAutofit/>
          </a:bodyPr>
          <a:lstStyle/>
          <a:p>
            <a:pPr algn="l">
              <a:lnSpc>
                <a:spcPts val="1365"/>
              </a:lnSpc>
              <a:spcBef>
                <a:spcPts val="0"/>
              </a:spcBef>
              <a:spcAft>
                <a:spcPts val="0"/>
              </a:spcAft>
            </a:pPr>
            <a:r>
              <a:rPr sz="1050" b="0" i="0">
                <a:solidFill>
                  <a:srgbClr val="141413"/>
                </a:solidFill>
                <a:latin typeface="Apple SD Gothic Neo"/>
                <a:ea typeface="Apple SD Gothic Neo"/>
              </a:rPr>
              <a:t>0개(너무 엄격)</a:t>
            </a:r>
          </a:p>
        </p:txBody>
      </p:sp>
      <p:sp>
        <p:nvSpPr>
          <p:cNvPr id="23" name="Rounded Rectangle 22"/>
          <p:cNvSpPr/>
          <p:nvPr/>
        </p:nvSpPr>
        <p:spPr>
          <a:xfrm>
            <a:off x="676656" y="3257677"/>
            <a:ext cx="3630168" cy="274320"/>
          </a:xfrm>
          <a:prstGeom prst="roundRect">
            <a:avLst>
              <a:gd name="adj" fmla="val 26666"/>
            </a:avLst>
          </a:prstGeom>
          <a:solidFill>
            <a:srgbClr val="FFE7B8"/>
          </a:solidFill>
          <a:ln>
            <a:noFill/>
          </a:ln>
        </p:spPr>
        <p:txBody>
          <a:bodyPr rtlCol="0" anchor="ctr"/>
          <a:lstStyle/>
          <a:p>
            <a:pPr algn="ctr"/>
          </a:p>
        </p:txBody>
      </p:sp>
      <p:sp>
        <p:nvSpPr>
          <p:cNvPr id="24" name="TextBox 23"/>
          <p:cNvSpPr txBox="1"/>
          <p:nvPr/>
        </p:nvSpPr>
        <p:spPr>
          <a:xfrm>
            <a:off x="813816" y="3257677"/>
            <a:ext cx="3355848" cy="274320"/>
          </a:xfrm>
          <a:prstGeom prst="rect">
            <a:avLst/>
          </a:prstGeom>
          <a:noFill/>
        </p:spPr>
        <p:txBody>
          <a:bodyPr wrap="square" lIns="0" rIns="0" tIns="0" bIns="0" anchor="ctr">
            <a:noAutofit/>
          </a:bodyPr>
          <a:lstStyle/>
          <a:p>
            <a:pPr algn="l">
              <a:lnSpc>
                <a:spcPts val="1365"/>
              </a:lnSpc>
              <a:spcBef>
                <a:spcPts val="0"/>
              </a:spcBef>
              <a:spcAft>
                <a:spcPts val="0"/>
              </a:spcAft>
            </a:pPr>
            <a:r>
              <a:rPr sz="1050" b="0" i="0">
                <a:solidFill>
                  <a:srgbClr val="141413"/>
                </a:solidFill>
                <a:latin typeface="Apple SD Gothic Neo"/>
                <a:ea typeface="Apple SD Gothic Neo"/>
              </a:rPr>
              <a:t>1~7개(너무 적음 · 위음성 위험)</a:t>
            </a:r>
          </a:p>
        </p:txBody>
      </p:sp>
      <p:sp>
        <p:nvSpPr>
          <p:cNvPr id="25" name="Rounded Rectangle 24"/>
          <p:cNvSpPr/>
          <p:nvPr/>
        </p:nvSpPr>
        <p:spPr>
          <a:xfrm>
            <a:off x="676656" y="3577717"/>
            <a:ext cx="3630168" cy="274320"/>
          </a:xfrm>
          <a:prstGeom prst="roundRect">
            <a:avLst>
              <a:gd name="adj" fmla="val 26666"/>
            </a:avLst>
          </a:prstGeom>
          <a:solidFill>
            <a:srgbClr val="E3F9A0"/>
          </a:solidFill>
          <a:ln>
            <a:noFill/>
          </a:ln>
        </p:spPr>
        <p:txBody>
          <a:bodyPr rtlCol="0" anchor="ctr"/>
          <a:lstStyle/>
          <a:p>
            <a:pPr algn="ctr"/>
          </a:p>
        </p:txBody>
      </p:sp>
      <p:sp>
        <p:nvSpPr>
          <p:cNvPr id="26" name="TextBox 25"/>
          <p:cNvSpPr txBox="1"/>
          <p:nvPr/>
        </p:nvSpPr>
        <p:spPr>
          <a:xfrm>
            <a:off x="813816" y="3577717"/>
            <a:ext cx="3355848" cy="274320"/>
          </a:xfrm>
          <a:prstGeom prst="rect">
            <a:avLst/>
          </a:prstGeom>
          <a:noFill/>
        </p:spPr>
        <p:txBody>
          <a:bodyPr wrap="square" lIns="0" rIns="0" tIns="0" bIns="0" anchor="ctr">
            <a:noAutofit/>
          </a:bodyPr>
          <a:lstStyle/>
          <a:p>
            <a:pPr algn="l">
              <a:lnSpc>
                <a:spcPts val="1365"/>
              </a:lnSpc>
              <a:spcBef>
                <a:spcPts val="0"/>
              </a:spcBef>
              <a:spcAft>
                <a:spcPts val="0"/>
              </a:spcAft>
            </a:pPr>
            <a:r>
              <a:rPr sz="1050" b="1" i="0">
                <a:solidFill>
                  <a:srgbClr val="141413"/>
                </a:solidFill>
                <a:latin typeface="Apple SD Gothic Neo"/>
                <a:ea typeface="Apple SD Gothic Neo"/>
              </a:rPr>
              <a:t>8~40개(알맞음)</a:t>
            </a:r>
          </a:p>
        </p:txBody>
      </p:sp>
      <p:sp>
        <p:nvSpPr>
          <p:cNvPr id="27" name="Rounded Rectangle 26"/>
          <p:cNvSpPr/>
          <p:nvPr/>
        </p:nvSpPr>
        <p:spPr>
          <a:xfrm>
            <a:off x="676656" y="3897757"/>
            <a:ext cx="3630168" cy="274320"/>
          </a:xfrm>
          <a:prstGeom prst="roundRect">
            <a:avLst>
              <a:gd name="adj" fmla="val 26666"/>
            </a:avLst>
          </a:prstGeom>
          <a:solidFill>
            <a:srgbClr val="FFE7B8"/>
          </a:solidFill>
          <a:ln>
            <a:noFill/>
          </a:ln>
        </p:spPr>
        <p:txBody>
          <a:bodyPr rtlCol="0" anchor="ctr"/>
          <a:lstStyle/>
          <a:p>
            <a:pPr algn="ctr"/>
          </a:p>
        </p:txBody>
      </p:sp>
      <p:sp>
        <p:nvSpPr>
          <p:cNvPr id="28" name="TextBox 27"/>
          <p:cNvSpPr txBox="1"/>
          <p:nvPr/>
        </p:nvSpPr>
        <p:spPr>
          <a:xfrm>
            <a:off x="813816" y="3897757"/>
            <a:ext cx="3355848" cy="274320"/>
          </a:xfrm>
          <a:prstGeom prst="rect">
            <a:avLst/>
          </a:prstGeom>
          <a:noFill/>
        </p:spPr>
        <p:txBody>
          <a:bodyPr wrap="square" lIns="0" rIns="0" tIns="0" bIns="0" anchor="ctr">
            <a:noAutofit/>
          </a:bodyPr>
          <a:lstStyle/>
          <a:p>
            <a:pPr algn="l">
              <a:lnSpc>
                <a:spcPts val="1365"/>
              </a:lnSpc>
              <a:spcBef>
                <a:spcPts val="0"/>
              </a:spcBef>
              <a:spcAft>
                <a:spcPts val="0"/>
              </a:spcAft>
            </a:pPr>
            <a:r>
              <a:rPr sz="1050" b="0" i="0">
                <a:solidFill>
                  <a:srgbClr val="141413"/>
                </a:solidFill>
                <a:latin typeface="Apple SD Gothic Neo"/>
                <a:ea typeface="Apple SD Gothic Neo"/>
              </a:rPr>
              <a:t>41개 이상(너무 많음 · 위양성 위험)</a:t>
            </a:r>
          </a:p>
        </p:txBody>
      </p:sp>
      <p:sp>
        <p:nvSpPr>
          <p:cNvPr id="29" name="Rounded Rectangle 28"/>
          <p:cNvSpPr/>
          <p:nvPr/>
        </p:nvSpPr>
        <p:spPr>
          <a:xfrm>
            <a:off x="676656" y="4327525"/>
            <a:ext cx="1171717" cy="246888"/>
          </a:xfrm>
          <a:prstGeom prst="roundRect">
            <a:avLst>
              <a:gd name="adj" fmla="val 50000"/>
            </a:avLst>
          </a:prstGeom>
          <a:solidFill>
            <a:srgbClr val="E7E6DE"/>
          </a:solidFill>
          <a:ln>
            <a:noFill/>
          </a:ln>
        </p:spPr>
        <p:txBody>
          <a:bodyPr rtlCol="0" anchor="ctr"/>
          <a:lstStyle/>
          <a:p>
            <a:pPr algn="ctr"/>
          </a:p>
        </p:txBody>
      </p:sp>
      <p:sp>
        <p:nvSpPr>
          <p:cNvPr id="30" name="TextBox 29"/>
          <p:cNvSpPr txBox="1"/>
          <p:nvPr/>
        </p:nvSpPr>
        <p:spPr>
          <a:xfrm>
            <a:off x="786384" y="4327525"/>
            <a:ext cx="997981" cy="246888"/>
          </a:xfrm>
          <a:prstGeom prst="rect">
            <a:avLst/>
          </a:prstGeom>
          <a:noFill/>
        </p:spPr>
        <p:txBody>
          <a:bodyPr wrap="square" lIns="0" rIns="0" tIns="0" bIns="0" anchor="ctr">
            <a:noAutofit/>
          </a:bodyPr>
          <a:lstStyle/>
          <a:p>
            <a:pPr algn="l">
              <a:lnSpc>
                <a:spcPts val="1235"/>
              </a:lnSpc>
              <a:spcBef>
                <a:spcPts val="0"/>
              </a:spcBef>
              <a:spcAft>
                <a:spcPts val="0"/>
              </a:spcAft>
            </a:pPr>
            <a:r>
              <a:rPr sz="950" b="1" i="0">
                <a:solidFill>
                  <a:srgbClr val="141413"/>
                </a:solidFill>
                <a:latin typeface="Apple SD Gothic Neo"/>
                <a:ea typeface="Apple SD Gothic Neo"/>
              </a:rPr>
              <a:t>놓친 분자 돌아보기</a:t>
            </a:r>
          </a:p>
        </p:txBody>
      </p:sp>
      <p:sp>
        <p:nvSpPr>
          <p:cNvPr id="31" name="TextBox 30"/>
          <p:cNvSpPr txBox="1"/>
          <p:nvPr/>
        </p:nvSpPr>
        <p:spPr>
          <a:xfrm>
            <a:off x="676656" y="4647565"/>
            <a:ext cx="3630168" cy="424180"/>
          </a:xfrm>
          <a:prstGeom prst="rect">
            <a:avLst/>
          </a:prstGeom>
          <a:noFill/>
        </p:spPr>
        <p:txBody>
          <a:bodyPr wrap="square" lIns="0" rIns="0" tIns="0" bIns="0" anchor="t">
            <a:noAutofit/>
          </a:bodyPr>
          <a:lstStyle/>
          <a:p>
            <a:pPr algn="l">
              <a:lnSpc>
                <a:spcPts val="1562"/>
              </a:lnSpc>
              <a:spcBef>
                <a:spcPts val="0"/>
              </a:spcBef>
              <a:spcAft>
                <a:spcPts val="0"/>
              </a:spcAft>
            </a:pPr>
            <a:r>
              <a:rPr sz="1100" b="0" i="0">
                <a:solidFill>
                  <a:srgbClr val="5C5B56"/>
                </a:solidFill>
                <a:latin typeface="Apple SD Gothic Neo"/>
                <a:ea typeface="Apple SD Gothic Neo"/>
              </a:rPr>
              <a:t>걸러진 분자 중 표적 결합 예측 점수가 높았던 상위 3개를 보여 주며 "어느 안건에서 걸렸을까요? 놓친 걸까요?"를 묻습니다.</a:t>
            </a:r>
          </a:p>
        </p:txBody>
      </p:sp>
      <p:sp>
        <p:nvSpPr>
          <p:cNvPr id="32" name="TextBox 31"/>
          <p:cNvSpPr txBox="1"/>
          <p:nvPr/>
        </p:nvSpPr>
        <p:spPr>
          <a:xfrm>
            <a:off x="5074920" y="2265807"/>
            <a:ext cx="3538728" cy="242062"/>
          </a:xfrm>
          <a:prstGeom prst="rect">
            <a:avLst/>
          </a:prstGeom>
          <a:noFill/>
        </p:spPr>
        <p:txBody>
          <a:bodyPr wrap="square" lIns="0" rIns="0" tIns="0" bIns="0" anchor="t">
            <a:noAutofit/>
          </a:bodyPr>
          <a:lstStyle/>
          <a:p>
            <a:pPr algn="l">
              <a:lnSpc>
                <a:spcPts val="1690"/>
              </a:lnSpc>
              <a:spcBef>
                <a:spcPts val="0"/>
              </a:spcBef>
              <a:spcAft>
                <a:spcPts val="0"/>
              </a:spcAft>
            </a:pPr>
            <a:r>
              <a:rPr sz="1300" b="1" i="0">
                <a:solidFill>
                  <a:srgbClr val="141413"/>
                </a:solidFill>
                <a:latin typeface="Apple SD Gothic Neo"/>
                <a:ea typeface="Apple SD Gothic Neo"/>
              </a:rPr>
              <a:t>걸음 ④ 분자 쇼핑 (1인 2개 찜 + 데이터 근거 검사)</a:t>
            </a:r>
          </a:p>
        </p:txBody>
      </p:sp>
      <p:sp>
        <p:nvSpPr>
          <p:cNvPr id="33" name="TextBox 32"/>
          <p:cNvSpPr txBox="1"/>
          <p:nvPr/>
        </p:nvSpPr>
        <p:spPr>
          <a:xfrm>
            <a:off x="5074920" y="2617597"/>
            <a:ext cx="3538728" cy="622554"/>
          </a:xfrm>
          <a:prstGeom prst="rect">
            <a:avLst/>
          </a:prstGeom>
          <a:noFill/>
        </p:spPr>
        <p:txBody>
          <a:bodyPr wrap="square" lIns="0" rIns="0" tIns="0" bIns="0" anchor="t">
            <a:noAutofit/>
          </a:bodyPr>
          <a:lstStyle/>
          <a:p>
            <a:pPr algn="l">
              <a:lnSpc>
                <a:spcPts val="1562"/>
              </a:lnSpc>
              <a:spcBef>
                <a:spcPts val="0"/>
              </a:spcBef>
              <a:spcAft>
                <a:spcPts val="0"/>
              </a:spcAft>
            </a:pPr>
            <a:r>
              <a:rPr sz="1100" b="0" i="0">
                <a:solidFill>
                  <a:srgbClr val="5C5B56"/>
                </a:solidFill>
                <a:latin typeface="Apple SD Gothic Neo"/>
                <a:ea typeface="Apple SD Gothic Neo"/>
              </a:rPr>
              <a:t>진열대에는 마지막 실행에서 통과한 분자만 올라옵니다. 모둠원은 1인당 최대 2개씩 근거 칩을 골라 장바구니에 담습니다.</a:t>
            </a:r>
          </a:p>
        </p:txBody>
      </p:sp>
      <p:sp>
        <p:nvSpPr>
          <p:cNvPr id="34" name="Rounded Rectangle 33"/>
          <p:cNvSpPr/>
          <p:nvPr/>
        </p:nvSpPr>
        <p:spPr>
          <a:xfrm>
            <a:off x="5074920" y="3423031"/>
            <a:ext cx="3538728" cy="1451864"/>
          </a:xfrm>
          <a:prstGeom prst="roundRect">
            <a:avLst>
              <a:gd name="adj" fmla="val 8817"/>
            </a:avLst>
          </a:prstGeom>
          <a:solidFill>
            <a:srgbClr val="FFF1EC"/>
          </a:solidFill>
          <a:ln w="9525">
            <a:solidFill>
              <a:srgbClr val="F2B8A8"/>
            </a:solidFill>
          </a:ln>
        </p:spPr>
        <p:txBody>
          <a:bodyPr rtlCol="0" anchor="ctr"/>
          <a:lstStyle/>
          <a:p>
            <a:pPr algn="ctr"/>
          </a:p>
        </p:txBody>
      </p:sp>
      <p:sp>
        <p:nvSpPr>
          <p:cNvPr id="35" name="Rounded Rectangle 34"/>
          <p:cNvSpPr/>
          <p:nvPr/>
        </p:nvSpPr>
        <p:spPr>
          <a:xfrm>
            <a:off x="5212080" y="3569335"/>
            <a:ext cx="950470" cy="256032"/>
          </a:xfrm>
          <a:prstGeom prst="roundRect">
            <a:avLst>
              <a:gd name="adj" fmla="val 50000"/>
            </a:avLst>
          </a:prstGeom>
          <a:solidFill>
            <a:srgbClr val="141413"/>
          </a:solidFill>
          <a:ln>
            <a:noFill/>
          </a:ln>
        </p:spPr>
        <p:txBody>
          <a:bodyPr rtlCol="0" anchor="ctr"/>
          <a:lstStyle/>
          <a:p>
            <a:pPr algn="ctr"/>
          </a:p>
        </p:txBody>
      </p:sp>
      <p:sp>
        <p:nvSpPr>
          <p:cNvPr id="36" name="TextBox 35"/>
          <p:cNvSpPr txBox="1"/>
          <p:nvPr/>
        </p:nvSpPr>
        <p:spPr>
          <a:xfrm>
            <a:off x="5321808" y="3569335"/>
            <a:ext cx="776734" cy="256032"/>
          </a:xfrm>
          <a:prstGeom prst="rect">
            <a:avLst/>
          </a:prstGeom>
          <a:noFill/>
        </p:spPr>
        <p:txBody>
          <a:bodyPr wrap="square" lIns="0" rIns="0" tIns="0" bIns="0" anchor="ctr">
            <a:noAutofit/>
          </a:bodyPr>
          <a:lstStyle/>
          <a:p>
            <a:pPr algn="l">
              <a:lnSpc>
                <a:spcPts val="1235"/>
              </a:lnSpc>
              <a:spcBef>
                <a:spcPts val="0"/>
              </a:spcBef>
              <a:spcAft>
                <a:spcPts val="0"/>
              </a:spcAft>
            </a:pPr>
            <a:r>
              <a:rPr sz="950" b="1" i="0">
                <a:solidFill>
                  <a:srgbClr val="FFB21A"/>
                </a:solidFill>
                <a:latin typeface="Apple SD Gothic Neo"/>
                <a:ea typeface="Apple SD Gothic Neo"/>
              </a:rPr>
              <a:t>서버 근거 검사</a:t>
            </a:r>
          </a:p>
        </p:txBody>
      </p:sp>
      <p:sp>
        <p:nvSpPr>
          <p:cNvPr id="37" name="TextBox 36"/>
          <p:cNvSpPr txBox="1"/>
          <p:nvPr/>
        </p:nvSpPr>
        <p:spPr>
          <a:xfrm>
            <a:off x="5212080" y="3935095"/>
            <a:ext cx="3264408" cy="820928"/>
          </a:xfrm>
          <a:prstGeom prst="rect">
            <a:avLst/>
          </a:prstGeom>
          <a:noFill/>
        </p:spPr>
        <p:txBody>
          <a:bodyPr wrap="square" lIns="0" rIns="0" tIns="0" bIns="0" anchor="t">
            <a:noAutofit/>
          </a:bodyPr>
          <a:lstStyle/>
          <a:p>
            <a:pPr algn="l">
              <a:lnSpc>
                <a:spcPts val="1562"/>
              </a:lnSpc>
              <a:spcBef>
                <a:spcPts val="0"/>
              </a:spcBef>
              <a:spcAft>
                <a:spcPts val="0"/>
              </a:spcAft>
            </a:pPr>
            <a:r>
              <a:rPr sz="1100" b="0" i="0">
                <a:solidFill>
                  <a:srgbClr val="141413"/>
                </a:solidFill>
                <a:latin typeface="Apple SD Gothic Neo"/>
                <a:ea typeface="Apple SD Gothic Neo"/>
              </a:rPr>
              <a:t>예를 들어 TPSA가 90을 넘는 분자에 "뇌로 잘 갈 것 같아요"를 고르거나, 승인약이 아닌 분자에 "이미 승인된 약이라 안전해 보여요"를 고르면 서버가 즉시 차단('막음')합니다.</a:t>
            </a:r>
          </a:p>
        </p:txBody>
      </p:sp>
      <p:sp>
        <p:nvSpPr>
          <p:cNvPr id="38" name="TextBox 37"/>
          <p:cNvSpPr txBox="1"/>
          <p:nvPr/>
        </p:nvSpPr>
        <p:spPr>
          <a:xfrm>
            <a:off x="9363456" y="2265807"/>
            <a:ext cx="2169871" cy="456692"/>
          </a:xfrm>
          <a:prstGeom prst="rect">
            <a:avLst/>
          </a:prstGeom>
          <a:noFill/>
        </p:spPr>
        <p:txBody>
          <a:bodyPr wrap="square" lIns="0" rIns="0" tIns="0" bIns="0" anchor="t">
            <a:noAutofit/>
          </a:bodyPr>
          <a:lstStyle/>
          <a:p>
            <a:pPr algn="l">
              <a:lnSpc>
                <a:spcPts val="1690"/>
              </a:lnSpc>
              <a:spcBef>
                <a:spcPts val="0"/>
              </a:spcBef>
              <a:spcAft>
                <a:spcPts val="0"/>
              </a:spcAft>
            </a:pPr>
            <a:r>
              <a:rPr sz="1300" b="1" i="0">
                <a:solidFill>
                  <a:srgbClr val="D4F94E"/>
                </a:solidFill>
                <a:latin typeface="Apple SD Gothic Neo"/>
                <a:ea typeface="Apple SD Gothic Neo"/>
              </a:rPr>
              <a:t>걸음 ⑤ 스크리닝 확정서와 연구 노트</a:t>
            </a:r>
          </a:p>
        </p:txBody>
      </p:sp>
      <p:sp>
        <p:nvSpPr>
          <p:cNvPr id="39" name="TextBox 38"/>
          <p:cNvSpPr txBox="1"/>
          <p:nvPr/>
        </p:nvSpPr>
        <p:spPr>
          <a:xfrm>
            <a:off x="9363456" y="2850515"/>
            <a:ext cx="2169871" cy="1040257"/>
          </a:xfrm>
          <a:prstGeom prst="rect">
            <a:avLst/>
          </a:prstGeom>
          <a:noFill/>
        </p:spPr>
        <p:txBody>
          <a:bodyPr wrap="square" lIns="0" rIns="0" tIns="0" bIns="0" anchor="t">
            <a:noAutofit/>
          </a:bodyPr>
          <a:lstStyle/>
          <a:p>
            <a:pPr algn="l">
              <a:lnSpc>
                <a:spcPts val="1595"/>
              </a:lnSpc>
              <a:spcBef>
                <a:spcPts val="0"/>
              </a:spcBef>
              <a:spcAft>
                <a:spcPts val="0"/>
              </a:spcAft>
            </a:pPr>
            <a:r>
              <a:rPr sz="1100" b="0" i="0">
                <a:solidFill>
                  <a:srgbClr val="FAF9F5"/>
                </a:solidFill>
                <a:latin typeface="Apple SD Gothic Neo"/>
                <a:ea typeface="Apple SD Gothic Neo"/>
              </a:rPr>
              <a:t>연구 노트 3칸(① 컷오프 근거 · ② 놓쳤을 가능성 · ③ 다시 한다면 바꿀 기준)을 나누어 적고, 찜한 후보들과 기준 약(대조군 1종 자동 추가)을 2.1 도킹 대기열로 넘깁니다.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16 / 26</a:t>
            </a:r>
          </a:p>
        </p:txBody>
      </p:sp>
      <p:sp>
        <p:nvSpPr>
          <p:cNvPr id="7" name="Rounded Rectangle 6"/>
          <p:cNvSpPr/>
          <p:nvPr/>
        </p:nvSpPr>
        <p:spPr>
          <a:xfrm>
            <a:off x="457200" y="566928"/>
            <a:ext cx="2359463"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085143"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3 · 단계 2.1 분자 도킹</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실제 AutoDock Vina 도킹 결과를 3종 도구로 읽고, 구조를 고쳐 다시 도킹합니다</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도킹 점수만 높다고 좋은 후보가 아닙니다. 기준 약과의 격차, 원래 겨냥한 질병(출신), 특허 가능 여부를 함께 따져 2.2 대기열에 담습니다.</a:t>
            </a:r>
          </a:p>
        </p:txBody>
      </p:sp>
      <p:sp>
        <p:nvSpPr>
          <p:cNvPr id="12" name="TextBox 11"/>
          <p:cNvSpPr txBox="1"/>
          <p:nvPr/>
        </p:nvSpPr>
        <p:spPr>
          <a:xfrm>
            <a:off x="457200" y="182549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핵심 활동 3가지</a:t>
            </a:r>
          </a:p>
        </p:txBody>
      </p:sp>
      <p:sp>
        <p:nvSpPr>
          <p:cNvPr id="13" name="Rounded Rectangle 12"/>
          <p:cNvSpPr/>
          <p:nvPr/>
        </p:nvSpPr>
        <p:spPr>
          <a:xfrm>
            <a:off x="457200" y="2064639"/>
            <a:ext cx="11277295" cy="1027938"/>
          </a:xfrm>
          <a:prstGeom prst="roundRect">
            <a:avLst>
              <a:gd name="adj" fmla="val 17790"/>
            </a:avLst>
          </a:prstGeom>
          <a:solidFill>
            <a:srgbClr val="FFFFFF"/>
          </a:solidFill>
          <a:ln>
            <a:noFill/>
          </a:ln>
        </p:spPr>
        <p:txBody>
          <a:bodyPr rtlCol="0" anchor="ctr"/>
          <a:lstStyle/>
          <a:p>
            <a:pPr algn="ctr"/>
          </a:p>
        </p:txBody>
      </p:sp>
      <p:sp>
        <p:nvSpPr>
          <p:cNvPr id="14" name="TextBox 13"/>
          <p:cNvSpPr txBox="1"/>
          <p:nvPr/>
        </p:nvSpPr>
        <p:spPr>
          <a:xfrm>
            <a:off x="640080" y="2247519"/>
            <a:ext cx="10911535" cy="662178"/>
          </a:xfrm>
          <a:prstGeom prst="rect">
            <a:avLst/>
          </a:prstGeom>
          <a:noFill/>
        </p:spPr>
        <p:txBody>
          <a:bodyPr wrap="square" lIns="0" rIns="0" tIns="0" bIns="0" anchor="t">
            <a:noAutofit/>
          </a:bodyPr>
          <a:lstStyle/>
          <a:p>
            <a:pPr algn="l">
              <a:lnSpc>
                <a:spcPts val="1690"/>
              </a:lnSpc>
              <a:spcBef>
                <a:spcPts val="0"/>
              </a:spcBef>
              <a:spcAft>
                <a:spcPts val="0"/>
              </a:spcAft>
            </a:pPr>
            <a:r>
              <a:rPr sz="1300" b="1" i="0">
                <a:solidFill>
                  <a:srgbClr val="141413"/>
                </a:solidFill>
                <a:latin typeface="Apple SD Gothic Neo"/>
                <a:ea typeface="Apple SD Gothic Neo"/>
              </a:rPr>
              <a:t>1. 병렬 도킹 및 '구조 바꿔 다시 도킹' (리드 최적화)</a:t>
            </a:r>
          </a:p>
          <a:p>
            <a:pPr algn="l">
              <a:lnSpc>
                <a:spcPts val="1562"/>
              </a:lnSpc>
              <a:spcBef>
                <a:spcPts val="400"/>
              </a:spcBef>
              <a:spcAft>
                <a:spcPts val="0"/>
              </a:spcAft>
            </a:pPr>
            <a:r>
              <a:rPr sz="1100" b="0" i="0">
                <a:solidFill>
                  <a:srgbClr val="5C5B56"/>
                </a:solidFill>
                <a:latin typeface="Apple SD Gothic Neo"/>
                <a:ea typeface="Apple SD Gothic Neo"/>
              </a:rPr>
              <a:t>각자 찜한 후보를 도킹해 ΔG(kcal/mol)와 PLIP 결합 잔기를 확인합니다. 물성 경고가 있거나 이미 알려진 약이면 작용기 변환 칩 6종(방향족 아민→아세트아마이드, 플루오린 도입 등)이나 SMILES 편집으로 변형체를 만들어 다시 도킹합니다.</a:t>
            </a:r>
          </a:p>
        </p:txBody>
      </p:sp>
      <p:sp>
        <p:nvSpPr>
          <p:cNvPr id="15" name="Rounded Rectangle 14"/>
          <p:cNvSpPr/>
          <p:nvPr/>
        </p:nvSpPr>
        <p:spPr>
          <a:xfrm>
            <a:off x="457200" y="3257169"/>
            <a:ext cx="11277295" cy="2024253"/>
          </a:xfrm>
          <a:prstGeom prst="roundRect">
            <a:avLst>
              <a:gd name="adj" fmla="val 9937"/>
            </a:avLst>
          </a:prstGeom>
          <a:solidFill>
            <a:srgbClr val="FAF9F5"/>
          </a:solidFill>
          <a:ln w="9525">
            <a:solidFill>
              <a:srgbClr val="DDDBD2"/>
            </a:solidFill>
          </a:ln>
        </p:spPr>
        <p:txBody>
          <a:bodyPr rtlCol="0" anchor="ctr"/>
          <a:lstStyle/>
          <a:p>
            <a:pPr algn="ctr"/>
          </a:p>
        </p:txBody>
      </p:sp>
      <p:sp>
        <p:nvSpPr>
          <p:cNvPr id="16" name="TextBox 15"/>
          <p:cNvSpPr txBox="1"/>
          <p:nvPr/>
        </p:nvSpPr>
        <p:spPr>
          <a:xfrm>
            <a:off x="658368" y="3403473"/>
            <a:ext cx="10874959" cy="242062"/>
          </a:xfrm>
          <a:prstGeom prst="rect">
            <a:avLst/>
          </a:prstGeom>
          <a:noFill/>
        </p:spPr>
        <p:txBody>
          <a:bodyPr wrap="square" lIns="0" rIns="0" tIns="0" bIns="0" anchor="t">
            <a:noAutofit/>
          </a:bodyPr>
          <a:lstStyle/>
          <a:p>
            <a:pPr algn="l">
              <a:lnSpc>
                <a:spcPts val="1690"/>
              </a:lnSpc>
              <a:spcBef>
                <a:spcPts val="0"/>
              </a:spcBef>
              <a:spcAft>
                <a:spcPts val="0"/>
              </a:spcAft>
            </a:pPr>
            <a:r>
              <a:rPr sz="1300" b="1" i="0">
                <a:solidFill>
                  <a:srgbClr val="141413"/>
                </a:solidFill>
                <a:latin typeface="Apple SD Gothic Neo"/>
                <a:ea typeface="Apple SD Gothic Neo"/>
              </a:rPr>
              <a:t>2. 결과 읽기 도구 3종 (내 작업대 무료 도구)</a:t>
            </a:r>
          </a:p>
        </p:txBody>
      </p:sp>
      <p:sp>
        <p:nvSpPr>
          <p:cNvPr id="17" name="Rounded Rectangle 16"/>
          <p:cNvSpPr/>
          <p:nvPr/>
        </p:nvSpPr>
        <p:spPr>
          <a:xfrm>
            <a:off x="658368" y="3736975"/>
            <a:ext cx="3533546" cy="1361567"/>
          </a:xfrm>
          <a:prstGeom prst="roundRect">
            <a:avLst>
              <a:gd name="adj" fmla="val 10745"/>
            </a:avLst>
          </a:prstGeom>
          <a:solidFill>
            <a:srgbClr val="FFFFFF"/>
          </a:solidFill>
          <a:ln>
            <a:noFill/>
          </a:ln>
        </p:spPr>
        <p:txBody>
          <a:bodyPr rtlCol="0" anchor="ctr"/>
          <a:lstStyle/>
          <a:p>
            <a:pPr algn="ctr"/>
          </a:p>
        </p:txBody>
      </p:sp>
      <p:sp>
        <p:nvSpPr>
          <p:cNvPr id="18" name="Rounded Rectangle 17"/>
          <p:cNvSpPr/>
          <p:nvPr/>
        </p:nvSpPr>
        <p:spPr>
          <a:xfrm>
            <a:off x="822960" y="3919855"/>
            <a:ext cx="73152" cy="292608"/>
          </a:xfrm>
          <a:prstGeom prst="roundRect">
            <a:avLst>
              <a:gd name="adj" fmla="val 37500"/>
            </a:avLst>
          </a:prstGeom>
          <a:solidFill>
            <a:srgbClr val="D4F94E"/>
          </a:solidFill>
          <a:ln>
            <a:noFill/>
          </a:ln>
        </p:spPr>
        <p:txBody>
          <a:bodyPr rtlCol="0" anchor="ctr"/>
          <a:lstStyle/>
          <a:p>
            <a:pPr algn="ctr"/>
          </a:p>
        </p:txBody>
      </p:sp>
      <p:sp>
        <p:nvSpPr>
          <p:cNvPr id="19" name="TextBox 18"/>
          <p:cNvSpPr txBox="1"/>
          <p:nvPr/>
        </p:nvSpPr>
        <p:spPr>
          <a:xfrm>
            <a:off x="987552" y="3883279"/>
            <a:ext cx="3039770" cy="365760"/>
          </a:xfrm>
          <a:prstGeom prst="rect">
            <a:avLst/>
          </a:prstGeom>
          <a:noFill/>
        </p:spPr>
        <p:txBody>
          <a:bodyPr wrap="square" lIns="0" rIns="0" tIns="0" bIns="0" anchor="ctr">
            <a:noAutofit/>
          </a:bodyPr>
          <a:lstStyle/>
          <a:p>
            <a:pPr algn="l">
              <a:lnSpc>
                <a:spcPts val="1560"/>
              </a:lnSpc>
              <a:spcBef>
                <a:spcPts val="0"/>
              </a:spcBef>
              <a:spcAft>
                <a:spcPts val="0"/>
              </a:spcAft>
            </a:pPr>
            <a:r>
              <a:rPr sz="1200" b="1" i="0">
                <a:solidFill>
                  <a:srgbClr val="1E3A1E"/>
                </a:solidFill>
                <a:latin typeface="Apple SD Gothic Neo"/>
                <a:ea typeface="Apple SD Gothic Neo"/>
              </a:rPr>
              <a:t>수심계 눈금 (3.05)</a:t>
            </a:r>
          </a:p>
        </p:txBody>
      </p:sp>
      <p:sp>
        <p:nvSpPr>
          <p:cNvPr id="20" name="TextBox 19"/>
          <p:cNvSpPr txBox="1"/>
          <p:nvPr/>
        </p:nvSpPr>
        <p:spPr>
          <a:xfrm>
            <a:off x="822960" y="4340479"/>
            <a:ext cx="3204362" cy="630047"/>
          </a:xfrm>
          <a:prstGeom prst="rect">
            <a:avLst/>
          </a:prstGeom>
          <a:noFill/>
        </p:spPr>
        <p:txBody>
          <a:bodyPr wrap="square" lIns="0" rIns="0" tIns="0" bIns="0" anchor="t">
            <a:noAutofit/>
          </a:bodyPr>
          <a:lstStyle/>
          <a:p>
            <a:pPr algn="l">
              <a:lnSpc>
                <a:spcPts val="1562"/>
              </a:lnSpc>
              <a:spcBef>
                <a:spcPts val="0"/>
              </a:spcBef>
              <a:spcAft>
                <a:spcPts val="0"/>
              </a:spcAft>
            </a:pPr>
            <a:r>
              <a:rPr sz="1100" b="0" i="0">
                <a:solidFill>
                  <a:srgbClr val="141413"/>
                </a:solidFill>
                <a:latin typeface="Apple SD Gothic Neo"/>
                <a:ea typeface="Apple SD Gothic Neo"/>
              </a:rPr>
              <a:t>0 ~ -14 kcal/mol 세로 게이지 위에 히스타민, 표적 중앙값, 기준 약, 220종 1위 점수와 우리 모둠 도킹 분자들을 담당자 잉크 점으로 찍어 비교합니다.</a:t>
            </a:r>
          </a:p>
        </p:txBody>
      </p:sp>
      <p:sp>
        <p:nvSpPr>
          <p:cNvPr id="21" name="Rounded Rectangle 20"/>
          <p:cNvSpPr/>
          <p:nvPr/>
        </p:nvSpPr>
        <p:spPr>
          <a:xfrm>
            <a:off x="4329074" y="3736975"/>
            <a:ext cx="3533546" cy="1361567"/>
          </a:xfrm>
          <a:prstGeom prst="roundRect">
            <a:avLst>
              <a:gd name="adj" fmla="val 10745"/>
            </a:avLst>
          </a:prstGeom>
          <a:solidFill>
            <a:srgbClr val="FFFFFF"/>
          </a:solidFill>
          <a:ln>
            <a:noFill/>
          </a:ln>
        </p:spPr>
        <p:txBody>
          <a:bodyPr rtlCol="0" anchor="ctr"/>
          <a:lstStyle/>
          <a:p>
            <a:pPr algn="ctr"/>
          </a:p>
        </p:txBody>
      </p:sp>
      <p:sp>
        <p:nvSpPr>
          <p:cNvPr id="22" name="Rounded Rectangle 21"/>
          <p:cNvSpPr/>
          <p:nvPr/>
        </p:nvSpPr>
        <p:spPr>
          <a:xfrm>
            <a:off x="4493666" y="3919855"/>
            <a:ext cx="73152" cy="292608"/>
          </a:xfrm>
          <a:prstGeom prst="roundRect">
            <a:avLst>
              <a:gd name="adj" fmla="val 37500"/>
            </a:avLst>
          </a:prstGeom>
          <a:solidFill>
            <a:srgbClr val="FFB21A"/>
          </a:solidFill>
          <a:ln>
            <a:noFill/>
          </a:ln>
        </p:spPr>
        <p:txBody>
          <a:bodyPr rtlCol="0" anchor="ctr"/>
          <a:lstStyle/>
          <a:p>
            <a:pPr algn="ctr"/>
          </a:p>
        </p:txBody>
      </p:sp>
      <p:sp>
        <p:nvSpPr>
          <p:cNvPr id="23" name="TextBox 22"/>
          <p:cNvSpPr txBox="1"/>
          <p:nvPr/>
        </p:nvSpPr>
        <p:spPr>
          <a:xfrm>
            <a:off x="4658258" y="3883279"/>
            <a:ext cx="3039770" cy="365760"/>
          </a:xfrm>
          <a:prstGeom prst="rect">
            <a:avLst/>
          </a:prstGeom>
          <a:noFill/>
        </p:spPr>
        <p:txBody>
          <a:bodyPr wrap="square" lIns="0" rIns="0" tIns="0" bIns="0" anchor="ctr">
            <a:noAutofit/>
          </a:bodyPr>
          <a:lstStyle/>
          <a:p>
            <a:pPr algn="l">
              <a:lnSpc>
                <a:spcPts val="1560"/>
              </a:lnSpc>
              <a:spcBef>
                <a:spcPts val="0"/>
              </a:spcBef>
              <a:spcAft>
                <a:spcPts val="0"/>
              </a:spcAft>
            </a:pPr>
            <a:r>
              <a:rPr sz="1200" b="1" i="0">
                <a:solidFill>
                  <a:srgbClr val="1E3A1E"/>
                </a:solidFill>
                <a:latin typeface="Apple SD Gothic Neo"/>
                <a:ea typeface="Apple SD Gothic Neo"/>
              </a:rPr>
              <a:t>점수 카드 (3.09)</a:t>
            </a:r>
          </a:p>
        </p:txBody>
      </p:sp>
      <p:sp>
        <p:nvSpPr>
          <p:cNvPr id="24" name="TextBox 23"/>
          <p:cNvSpPr txBox="1"/>
          <p:nvPr/>
        </p:nvSpPr>
        <p:spPr>
          <a:xfrm>
            <a:off x="4493666" y="4340479"/>
            <a:ext cx="3204362" cy="630047"/>
          </a:xfrm>
          <a:prstGeom prst="rect">
            <a:avLst/>
          </a:prstGeom>
          <a:noFill/>
        </p:spPr>
        <p:txBody>
          <a:bodyPr wrap="square" lIns="0" rIns="0" tIns="0" bIns="0" anchor="t">
            <a:noAutofit/>
          </a:bodyPr>
          <a:lstStyle/>
          <a:p>
            <a:pPr algn="l">
              <a:lnSpc>
                <a:spcPts val="1562"/>
              </a:lnSpc>
              <a:spcBef>
                <a:spcPts val="0"/>
              </a:spcBef>
              <a:spcAft>
                <a:spcPts val="0"/>
              </a:spcAft>
            </a:pPr>
            <a:r>
              <a:rPr sz="1100" b="0" i="0">
                <a:solidFill>
                  <a:srgbClr val="141413"/>
                </a:solidFill>
                <a:latin typeface="Apple SD Gothic Neo"/>
                <a:ea typeface="Apple SD Gothic Neo"/>
              </a:rPr>
              <a:t>분자마다 원래 겨냥한 출신 표적을 표시합니다. (예: 도킹 1위지만 원래 당뇨약인 Troglitazone처럼 다른 병의 기존 약을 걸러냅니다.)</a:t>
            </a:r>
          </a:p>
        </p:txBody>
      </p:sp>
      <p:sp>
        <p:nvSpPr>
          <p:cNvPr id="25" name="Rounded Rectangle 24"/>
          <p:cNvSpPr/>
          <p:nvPr/>
        </p:nvSpPr>
        <p:spPr>
          <a:xfrm>
            <a:off x="7999781" y="3736975"/>
            <a:ext cx="3533546" cy="1361567"/>
          </a:xfrm>
          <a:prstGeom prst="roundRect">
            <a:avLst>
              <a:gd name="adj" fmla="val 10745"/>
            </a:avLst>
          </a:prstGeom>
          <a:solidFill>
            <a:srgbClr val="FFFFFF"/>
          </a:solidFill>
          <a:ln>
            <a:noFill/>
          </a:ln>
        </p:spPr>
        <p:txBody>
          <a:bodyPr rtlCol="0" anchor="ctr"/>
          <a:lstStyle/>
          <a:p>
            <a:pPr algn="ctr"/>
          </a:p>
        </p:txBody>
      </p:sp>
      <p:sp>
        <p:nvSpPr>
          <p:cNvPr id="26" name="Rounded Rectangle 25"/>
          <p:cNvSpPr/>
          <p:nvPr/>
        </p:nvSpPr>
        <p:spPr>
          <a:xfrm>
            <a:off x="8164373" y="3919855"/>
            <a:ext cx="73152" cy="292608"/>
          </a:xfrm>
          <a:prstGeom prst="roundRect">
            <a:avLst>
              <a:gd name="adj" fmla="val 37500"/>
            </a:avLst>
          </a:prstGeom>
          <a:solidFill>
            <a:srgbClr val="7FB8FF"/>
          </a:solidFill>
          <a:ln>
            <a:noFill/>
          </a:ln>
        </p:spPr>
        <p:txBody>
          <a:bodyPr rtlCol="0" anchor="ctr"/>
          <a:lstStyle/>
          <a:p>
            <a:pPr algn="ctr"/>
          </a:p>
        </p:txBody>
      </p:sp>
      <p:sp>
        <p:nvSpPr>
          <p:cNvPr id="27" name="TextBox 26"/>
          <p:cNvSpPr txBox="1"/>
          <p:nvPr/>
        </p:nvSpPr>
        <p:spPr>
          <a:xfrm>
            <a:off x="8328965" y="3883279"/>
            <a:ext cx="3039770" cy="365760"/>
          </a:xfrm>
          <a:prstGeom prst="rect">
            <a:avLst/>
          </a:prstGeom>
          <a:noFill/>
        </p:spPr>
        <p:txBody>
          <a:bodyPr wrap="square" lIns="0" rIns="0" tIns="0" bIns="0" anchor="ctr">
            <a:noAutofit/>
          </a:bodyPr>
          <a:lstStyle/>
          <a:p>
            <a:pPr algn="l">
              <a:lnSpc>
                <a:spcPts val="1560"/>
              </a:lnSpc>
              <a:spcBef>
                <a:spcPts val="0"/>
              </a:spcBef>
              <a:spcAft>
                <a:spcPts val="0"/>
              </a:spcAft>
            </a:pPr>
            <a:r>
              <a:rPr sz="1200" b="1" i="0">
                <a:solidFill>
                  <a:srgbClr val="1E3A1E"/>
                </a:solidFill>
                <a:latin typeface="Apple SD Gothic Neo"/>
                <a:ea typeface="Apple SD Gothic Neo"/>
              </a:rPr>
              <a:t>10배 계단 (3.07)</a:t>
            </a:r>
          </a:p>
        </p:txBody>
      </p:sp>
      <p:sp>
        <p:nvSpPr>
          <p:cNvPr id="28" name="TextBox 27"/>
          <p:cNvSpPr txBox="1"/>
          <p:nvPr/>
        </p:nvSpPr>
        <p:spPr>
          <a:xfrm>
            <a:off x="8164373" y="4340479"/>
            <a:ext cx="3204362" cy="630047"/>
          </a:xfrm>
          <a:prstGeom prst="rect">
            <a:avLst/>
          </a:prstGeom>
          <a:noFill/>
        </p:spPr>
        <p:txBody>
          <a:bodyPr wrap="square" lIns="0" rIns="0" tIns="0" bIns="0" anchor="t">
            <a:noAutofit/>
          </a:bodyPr>
          <a:lstStyle/>
          <a:p>
            <a:pPr algn="l">
              <a:lnSpc>
                <a:spcPts val="1562"/>
              </a:lnSpc>
              <a:spcBef>
                <a:spcPts val="0"/>
              </a:spcBef>
              <a:spcAft>
                <a:spcPts val="0"/>
              </a:spcAft>
            </a:pPr>
            <a:r>
              <a:rPr sz="1100" b="0" i="0">
                <a:solidFill>
                  <a:srgbClr val="141413"/>
                </a:solidFill>
                <a:latin typeface="Apple SD Gothic Neo"/>
                <a:ea typeface="Apple SD Gothic Neo"/>
              </a:rPr>
              <a:t>기준 약과의 차이(ΔΔG)를 해리 상수 배수(10^(ΔΔG ÷ 1.364))로 바꾸어 "0.7 kcal/mol 차이는 약물이 몇 배 더 필요한가?"를 눈으로 보여 줍니다.</a:t>
            </a:r>
          </a:p>
        </p:txBody>
      </p:sp>
      <p:sp>
        <p:nvSpPr>
          <p:cNvPr id="29" name="Rounded Rectangle 28"/>
          <p:cNvSpPr/>
          <p:nvPr/>
        </p:nvSpPr>
        <p:spPr>
          <a:xfrm>
            <a:off x="457200" y="5446014"/>
            <a:ext cx="11277295" cy="1027938"/>
          </a:xfrm>
          <a:prstGeom prst="roundRect">
            <a:avLst>
              <a:gd name="adj" fmla="val 17790"/>
            </a:avLst>
          </a:prstGeom>
          <a:solidFill>
            <a:srgbClr val="1E3A1E"/>
          </a:solidFill>
          <a:ln>
            <a:noFill/>
          </a:ln>
        </p:spPr>
        <p:txBody>
          <a:bodyPr rtlCol="0" anchor="ctr"/>
          <a:lstStyle/>
          <a:p>
            <a:pPr algn="ctr"/>
          </a:p>
        </p:txBody>
      </p:sp>
      <p:sp>
        <p:nvSpPr>
          <p:cNvPr id="30" name="TextBox 29"/>
          <p:cNvSpPr txBox="1"/>
          <p:nvPr/>
        </p:nvSpPr>
        <p:spPr>
          <a:xfrm>
            <a:off x="640080" y="5628894"/>
            <a:ext cx="10911535" cy="662178"/>
          </a:xfrm>
          <a:prstGeom prst="rect">
            <a:avLst/>
          </a:prstGeom>
          <a:noFill/>
        </p:spPr>
        <p:txBody>
          <a:bodyPr wrap="square" lIns="0" rIns="0" tIns="0" bIns="0" anchor="t">
            <a:noAutofit/>
          </a:bodyPr>
          <a:lstStyle/>
          <a:p>
            <a:pPr algn="l">
              <a:lnSpc>
                <a:spcPts val="1690"/>
              </a:lnSpc>
              <a:spcBef>
                <a:spcPts val="0"/>
              </a:spcBef>
              <a:spcAft>
                <a:spcPts val="0"/>
              </a:spcAft>
            </a:pPr>
            <a:r>
              <a:rPr sz="1300" b="1" i="0">
                <a:solidFill>
                  <a:srgbClr val="D4F94E"/>
                </a:solidFill>
                <a:latin typeface="Apple SD Gothic Neo"/>
                <a:ea typeface="Apple SD Gothic Neo"/>
              </a:rPr>
              <a:t>3. 2.2 ADMET 대기열 고르기 (dock_picks, 1인 2개 · 모둠 최대 8개)</a:t>
            </a:r>
          </a:p>
          <a:p>
            <a:pPr algn="l">
              <a:lnSpc>
                <a:spcPts val="1562"/>
              </a:lnSpc>
              <a:spcBef>
                <a:spcPts val="400"/>
              </a:spcBef>
              <a:spcAft>
                <a:spcPts val="0"/>
              </a:spcAft>
            </a:pPr>
            <a:r>
              <a:rPr sz="1100" b="0" i="0">
                <a:solidFill>
                  <a:srgbClr val="FAF9F5"/>
                </a:solidFill>
                <a:latin typeface="Apple SD Gothic Neo"/>
                <a:ea typeface="Apple SD Gothic Neo"/>
              </a:rPr>
              <a:t>"기준 약보다 단단히 붙어요", "구조를 바꿔 더 좋아졌어요" 등 데이터와 맞는 근거 칩을 골라야 대기열에 담깁니다. 이미 알려진 물질에는 "특허를 받으려면 구조를 바꿔야 해요" 칩이 미리 붙습니다.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17 / 26</a:t>
            </a:r>
          </a:p>
        </p:txBody>
      </p:sp>
      <p:sp>
        <p:nvSpPr>
          <p:cNvPr id="7" name="Rounded Rectangle 6"/>
          <p:cNvSpPr/>
          <p:nvPr/>
        </p:nvSpPr>
        <p:spPr>
          <a:xfrm>
            <a:off x="457200" y="566928"/>
            <a:ext cx="2553641"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279321"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3 · 단계 2.2 ADMET 예측</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단백질에 잘 붙는 분자 중에서 몸속 여행을 버텨 낼 특허 후보 고르기</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물성 레이더, 신호등 표, 몸속 여행 지도, 점수 분해 사슬 4종 도구로 흡수율과 심장·간 독성을 점검합니다.</a:t>
            </a:r>
          </a:p>
        </p:txBody>
      </p:sp>
      <p:sp>
        <p:nvSpPr>
          <p:cNvPr id="12" name="TextBox 11"/>
          <p:cNvSpPr txBox="1"/>
          <p:nvPr/>
        </p:nvSpPr>
        <p:spPr>
          <a:xfrm>
            <a:off x="457200" y="182549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리드 읽기 도구 4종</a:t>
            </a:r>
          </a:p>
        </p:txBody>
      </p:sp>
      <p:sp>
        <p:nvSpPr>
          <p:cNvPr id="13" name="Rounded Rectangle 12"/>
          <p:cNvSpPr/>
          <p:nvPr/>
        </p:nvSpPr>
        <p:spPr>
          <a:xfrm>
            <a:off x="457200" y="2064639"/>
            <a:ext cx="2682164" cy="3025013"/>
          </a:xfrm>
          <a:prstGeom prst="roundRect">
            <a:avLst>
              <a:gd name="adj" fmla="val 6818"/>
            </a:avLst>
          </a:prstGeom>
          <a:solidFill>
            <a:srgbClr val="FFFFFF"/>
          </a:solidFill>
          <a:ln>
            <a:noFill/>
          </a:ln>
        </p:spPr>
        <p:txBody>
          <a:bodyPr rtlCol="0" anchor="ctr"/>
          <a:lstStyle/>
          <a:p>
            <a:pPr algn="ctr"/>
          </a:p>
        </p:txBody>
      </p:sp>
      <p:sp>
        <p:nvSpPr>
          <p:cNvPr id="14" name="Rounded Rectangle 13"/>
          <p:cNvSpPr/>
          <p:nvPr/>
        </p:nvSpPr>
        <p:spPr>
          <a:xfrm>
            <a:off x="640080" y="2265807"/>
            <a:ext cx="2316404" cy="64008"/>
          </a:xfrm>
          <a:prstGeom prst="roundRect">
            <a:avLst>
              <a:gd name="adj" fmla="val 50000"/>
            </a:avLst>
          </a:prstGeom>
          <a:solidFill>
            <a:srgbClr val="D4F94E"/>
          </a:solidFill>
          <a:ln>
            <a:noFill/>
          </a:ln>
        </p:spPr>
        <p:txBody>
          <a:bodyPr rtlCol="0" anchor="ctr"/>
          <a:lstStyle/>
          <a:p>
            <a:pPr algn="ctr"/>
          </a:p>
        </p:txBody>
      </p:sp>
      <p:sp>
        <p:nvSpPr>
          <p:cNvPr id="15" name="TextBox 14"/>
          <p:cNvSpPr txBox="1"/>
          <p:nvPr/>
        </p:nvSpPr>
        <p:spPr>
          <a:xfrm>
            <a:off x="640080" y="2448687"/>
            <a:ext cx="2316404" cy="2522093"/>
          </a:xfrm>
          <a:prstGeom prst="rect">
            <a:avLst/>
          </a:prstGeom>
          <a:noFill/>
        </p:spPr>
        <p:txBody>
          <a:bodyPr wrap="square" lIns="0" rIns="0" tIns="0" bIns="0" anchor="t">
            <a:noAutofit/>
          </a:bodyPr>
          <a:lstStyle/>
          <a:p>
            <a:pPr algn="l">
              <a:lnSpc>
                <a:spcPts val="1625"/>
              </a:lnSpc>
              <a:spcBef>
                <a:spcPts val="0"/>
              </a:spcBef>
              <a:spcAft>
                <a:spcPts val="0"/>
              </a:spcAft>
            </a:pPr>
            <a:r>
              <a:rPr sz="1250" b="1" i="0">
                <a:solidFill>
                  <a:srgbClr val="141413"/>
                </a:solidFill>
                <a:latin typeface="Apple SD Gothic Neo"/>
                <a:ea typeface="Apple SD Gothic Neo"/>
              </a:rPr>
              <a:t>물성 레이더 (4.02)</a:t>
            </a:r>
          </a:p>
          <a:p>
            <a:pPr algn="l">
              <a:lnSpc>
                <a:spcPts val="1595"/>
              </a:lnSpc>
              <a:spcBef>
                <a:spcPts val="500"/>
              </a:spcBef>
              <a:spcAft>
                <a:spcPts val="0"/>
              </a:spcAft>
            </a:pPr>
            <a:r>
              <a:rPr sz="1100" b="0" i="0">
                <a:solidFill>
                  <a:srgbClr val="5C5B56"/>
                </a:solidFill>
                <a:latin typeface="Apple SD Gothic Neo"/>
                <a:ea typeface="Apple SD Gothic Neo"/>
              </a:rPr>
              <a:t>지용성(cLogP)·크기(MW)·극성(TPSA)·유연성(RotB)·수소결합 주개/받개(HBD/HBA) 6축 레이더 차트 위에 시판 경구약의 안전 범위 띠를 겹쳐 어느 축이 약점인지 짚어 줍니다.</a:t>
            </a:r>
          </a:p>
        </p:txBody>
      </p:sp>
      <p:sp>
        <p:nvSpPr>
          <p:cNvPr id="16" name="Rounded Rectangle 15"/>
          <p:cNvSpPr/>
          <p:nvPr/>
        </p:nvSpPr>
        <p:spPr>
          <a:xfrm>
            <a:off x="3322244" y="2064639"/>
            <a:ext cx="2682164" cy="3025013"/>
          </a:xfrm>
          <a:prstGeom prst="roundRect">
            <a:avLst>
              <a:gd name="adj" fmla="val 6818"/>
            </a:avLst>
          </a:prstGeom>
          <a:solidFill>
            <a:srgbClr val="FFFFFF"/>
          </a:solidFill>
          <a:ln>
            <a:noFill/>
          </a:ln>
        </p:spPr>
        <p:txBody>
          <a:bodyPr rtlCol="0" anchor="ctr"/>
          <a:lstStyle/>
          <a:p>
            <a:pPr algn="ctr"/>
          </a:p>
        </p:txBody>
      </p:sp>
      <p:sp>
        <p:nvSpPr>
          <p:cNvPr id="17" name="Rounded Rectangle 16"/>
          <p:cNvSpPr/>
          <p:nvPr/>
        </p:nvSpPr>
        <p:spPr>
          <a:xfrm>
            <a:off x="3505124" y="2265807"/>
            <a:ext cx="2316404" cy="64008"/>
          </a:xfrm>
          <a:prstGeom prst="roundRect">
            <a:avLst>
              <a:gd name="adj" fmla="val 50000"/>
            </a:avLst>
          </a:prstGeom>
          <a:solidFill>
            <a:srgbClr val="FFB21A"/>
          </a:solidFill>
          <a:ln>
            <a:noFill/>
          </a:ln>
        </p:spPr>
        <p:txBody>
          <a:bodyPr rtlCol="0" anchor="ctr"/>
          <a:lstStyle/>
          <a:p>
            <a:pPr algn="ctr"/>
          </a:p>
        </p:txBody>
      </p:sp>
      <p:sp>
        <p:nvSpPr>
          <p:cNvPr id="18" name="TextBox 17"/>
          <p:cNvSpPr txBox="1"/>
          <p:nvPr/>
        </p:nvSpPr>
        <p:spPr>
          <a:xfrm>
            <a:off x="3505124" y="2448687"/>
            <a:ext cx="2316404" cy="2522093"/>
          </a:xfrm>
          <a:prstGeom prst="rect">
            <a:avLst/>
          </a:prstGeom>
          <a:noFill/>
        </p:spPr>
        <p:txBody>
          <a:bodyPr wrap="square" lIns="0" rIns="0" tIns="0" bIns="0" anchor="t">
            <a:noAutofit/>
          </a:bodyPr>
          <a:lstStyle/>
          <a:p>
            <a:pPr algn="l">
              <a:lnSpc>
                <a:spcPts val="1625"/>
              </a:lnSpc>
              <a:spcBef>
                <a:spcPts val="0"/>
              </a:spcBef>
              <a:spcAft>
                <a:spcPts val="0"/>
              </a:spcAft>
            </a:pPr>
            <a:r>
              <a:rPr sz="1250" b="1" i="0">
                <a:solidFill>
                  <a:srgbClr val="141413"/>
                </a:solidFill>
                <a:latin typeface="Apple SD Gothic Neo"/>
                <a:ea typeface="Apple SD Gothic Neo"/>
              </a:rPr>
              <a:t>신호등 표 (4.03)</a:t>
            </a:r>
          </a:p>
          <a:p>
            <a:pPr algn="l">
              <a:lnSpc>
                <a:spcPts val="1595"/>
              </a:lnSpc>
              <a:spcBef>
                <a:spcPts val="500"/>
              </a:spcBef>
              <a:spcAft>
                <a:spcPts val="0"/>
              </a:spcAft>
            </a:pPr>
            <a:r>
              <a:rPr sz="1100" b="0" i="0">
                <a:solidFill>
                  <a:srgbClr val="5C5B56"/>
                </a:solidFill>
                <a:latin typeface="Apple SD Gothic Neo"/>
                <a:ea typeface="Apple SD Gothic Neo"/>
              </a:rPr>
              <a:t>대기열 분자들과 기준 약을 나란히 놓고 결합력(p), 5대 신호등(경구 흡수 · 뇌 노출 · 심장 hERG · 간독성 · 경피 투과), 흔들림 전 예상 효능(E)·안전(S)을 한눈에 비교합니다.</a:t>
            </a:r>
          </a:p>
        </p:txBody>
      </p:sp>
      <p:sp>
        <p:nvSpPr>
          <p:cNvPr id="19" name="Rounded Rectangle 18"/>
          <p:cNvSpPr/>
          <p:nvPr/>
        </p:nvSpPr>
        <p:spPr>
          <a:xfrm>
            <a:off x="6187288" y="2064639"/>
            <a:ext cx="2682164" cy="3025013"/>
          </a:xfrm>
          <a:prstGeom prst="roundRect">
            <a:avLst>
              <a:gd name="adj" fmla="val 6818"/>
            </a:avLst>
          </a:prstGeom>
          <a:solidFill>
            <a:srgbClr val="FFFFFF"/>
          </a:solidFill>
          <a:ln>
            <a:noFill/>
          </a:ln>
        </p:spPr>
        <p:txBody>
          <a:bodyPr rtlCol="0" anchor="ctr"/>
          <a:lstStyle/>
          <a:p>
            <a:pPr algn="ctr"/>
          </a:p>
        </p:txBody>
      </p:sp>
      <p:sp>
        <p:nvSpPr>
          <p:cNvPr id="20" name="Rounded Rectangle 19"/>
          <p:cNvSpPr/>
          <p:nvPr/>
        </p:nvSpPr>
        <p:spPr>
          <a:xfrm>
            <a:off x="6370168" y="2265807"/>
            <a:ext cx="2316404" cy="64008"/>
          </a:xfrm>
          <a:prstGeom prst="roundRect">
            <a:avLst>
              <a:gd name="adj" fmla="val 50000"/>
            </a:avLst>
          </a:prstGeom>
          <a:solidFill>
            <a:srgbClr val="7FB8FF"/>
          </a:solidFill>
          <a:ln>
            <a:noFill/>
          </a:ln>
        </p:spPr>
        <p:txBody>
          <a:bodyPr rtlCol="0" anchor="ctr"/>
          <a:lstStyle/>
          <a:p>
            <a:pPr algn="ctr"/>
          </a:p>
        </p:txBody>
      </p:sp>
      <p:sp>
        <p:nvSpPr>
          <p:cNvPr id="21" name="TextBox 20"/>
          <p:cNvSpPr txBox="1"/>
          <p:nvPr/>
        </p:nvSpPr>
        <p:spPr>
          <a:xfrm>
            <a:off x="6370168" y="2448687"/>
            <a:ext cx="2316404" cy="2522093"/>
          </a:xfrm>
          <a:prstGeom prst="rect">
            <a:avLst/>
          </a:prstGeom>
          <a:noFill/>
        </p:spPr>
        <p:txBody>
          <a:bodyPr wrap="square" lIns="0" rIns="0" tIns="0" bIns="0" anchor="t">
            <a:noAutofit/>
          </a:bodyPr>
          <a:lstStyle/>
          <a:p>
            <a:pPr algn="l">
              <a:lnSpc>
                <a:spcPts val="1625"/>
              </a:lnSpc>
              <a:spcBef>
                <a:spcPts val="0"/>
              </a:spcBef>
              <a:spcAft>
                <a:spcPts val="0"/>
              </a:spcAft>
            </a:pPr>
            <a:r>
              <a:rPr sz="1250" b="1" i="0">
                <a:solidFill>
                  <a:srgbClr val="141413"/>
                </a:solidFill>
                <a:latin typeface="Apple SD Gothic Neo"/>
                <a:ea typeface="Apple SD Gothic Neo"/>
              </a:rPr>
              <a:t>몸속 여행 지도 (4.04)</a:t>
            </a:r>
          </a:p>
          <a:p>
            <a:pPr algn="l">
              <a:lnSpc>
                <a:spcPts val="1595"/>
              </a:lnSpc>
              <a:spcBef>
                <a:spcPts val="500"/>
              </a:spcBef>
              <a:spcAft>
                <a:spcPts val="0"/>
              </a:spcAft>
            </a:pPr>
            <a:r>
              <a:rPr sz="1100" b="0" i="0">
                <a:solidFill>
                  <a:srgbClr val="5C5B56"/>
                </a:solidFill>
                <a:latin typeface="Apple SD Gothic Neo"/>
                <a:ea typeface="Apple SD Gothic Neo"/>
              </a:rPr>
              <a:t>입 → 장(흡수) → 혈액 → 뇌(CNS 표적) → 심장(hERG)·간(간독성)으로 이어지는 경로 위에서 이 분자가 어디서 점수를 잃는지 보여 줍니다.</a:t>
            </a:r>
          </a:p>
        </p:txBody>
      </p:sp>
      <p:sp>
        <p:nvSpPr>
          <p:cNvPr id="22" name="Rounded Rectangle 21"/>
          <p:cNvSpPr/>
          <p:nvPr/>
        </p:nvSpPr>
        <p:spPr>
          <a:xfrm>
            <a:off x="9052331" y="2064639"/>
            <a:ext cx="2682164" cy="3025013"/>
          </a:xfrm>
          <a:prstGeom prst="roundRect">
            <a:avLst>
              <a:gd name="adj" fmla="val 6818"/>
            </a:avLst>
          </a:prstGeom>
          <a:solidFill>
            <a:srgbClr val="FFFFFF"/>
          </a:solidFill>
          <a:ln>
            <a:noFill/>
          </a:ln>
        </p:spPr>
        <p:txBody>
          <a:bodyPr rtlCol="0" anchor="ctr"/>
          <a:lstStyle/>
          <a:p>
            <a:pPr algn="ctr"/>
          </a:p>
        </p:txBody>
      </p:sp>
      <p:sp>
        <p:nvSpPr>
          <p:cNvPr id="23" name="Rounded Rectangle 22"/>
          <p:cNvSpPr/>
          <p:nvPr/>
        </p:nvSpPr>
        <p:spPr>
          <a:xfrm>
            <a:off x="9235211" y="2265807"/>
            <a:ext cx="2316404" cy="64008"/>
          </a:xfrm>
          <a:prstGeom prst="roundRect">
            <a:avLst>
              <a:gd name="adj" fmla="val 50000"/>
            </a:avLst>
          </a:prstGeom>
          <a:solidFill>
            <a:srgbClr val="B79CFF"/>
          </a:solidFill>
          <a:ln>
            <a:noFill/>
          </a:ln>
        </p:spPr>
        <p:txBody>
          <a:bodyPr rtlCol="0" anchor="ctr"/>
          <a:lstStyle/>
          <a:p>
            <a:pPr algn="ctr"/>
          </a:p>
        </p:txBody>
      </p:sp>
      <p:sp>
        <p:nvSpPr>
          <p:cNvPr id="24" name="TextBox 23"/>
          <p:cNvSpPr txBox="1"/>
          <p:nvPr/>
        </p:nvSpPr>
        <p:spPr>
          <a:xfrm>
            <a:off x="9235211" y="2448687"/>
            <a:ext cx="2316404" cy="2522093"/>
          </a:xfrm>
          <a:prstGeom prst="rect">
            <a:avLst/>
          </a:prstGeom>
          <a:noFill/>
        </p:spPr>
        <p:txBody>
          <a:bodyPr wrap="square" lIns="0" rIns="0" tIns="0" bIns="0" anchor="t">
            <a:noAutofit/>
          </a:bodyPr>
          <a:lstStyle/>
          <a:p>
            <a:pPr algn="l">
              <a:lnSpc>
                <a:spcPts val="1625"/>
              </a:lnSpc>
              <a:spcBef>
                <a:spcPts val="0"/>
              </a:spcBef>
              <a:spcAft>
                <a:spcPts val="0"/>
              </a:spcAft>
            </a:pPr>
            <a:r>
              <a:rPr sz="1250" b="1" i="0">
                <a:solidFill>
                  <a:srgbClr val="141413"/>
                </a:solidFill>
                <a:latin typeface="Apple SD Gothic Neo"/>
                <a:ea typeface="Apple SD Gothic Neo"/>
              </a:rPr>
              <a:t>점수 분해 사슬 (4.10)</a:t>
            </a:r>
          </a:p>
          <a:p>
            <a:pPr algn="l">
              <a:lnSpc>
                <a:spcPts val="1595"/>
              </a:lnSpc>
              <a:spcBef>
                <a:spcPts val="500"/>
              </a:spcBef>
              <a:spcAft>
                <a:spcPts val="0"/>
              </a:spcAft>
            </a:pPr>
            <a:r>
              <a:rPr sz="1100" b="0" i="0">
                <a:solidFill>
                  <a:srgbClr val="5C5B56"/>
                </a:solidFill>
                <a:latin typeface="Apple SD Gothic Neo"/>
                <a:ea typeface="Apple SD Gothic Neo"/>
              </a:rPr>
              <a:t>효능 E와 안전 S 공식의 각 항을 블록으로 풀어 놓고, 제형과 용량을 바꿀 때 어느 블록이 변하는지 미리 확인합니다.</a:t>
            </a:r>
          </a:p>
        </p:txBody>
      </p:sp>
      <p:sp>
        <p:nvSpPr>
          <p:cNvPr id="25" name="Rounded Rectangle 24"/>
          <p:cNvSpPr/>
          <p:nvPr/>
        </p:nvSpPr>
        <p:spPr>
          <a:xfrm>
            <a:off x="457200" y="5290820"/>
            <a:ext cx="11277295" cy="1183132"/>
          </a:xfrm>
          <a:prstGeom prst="roundRect">
            <a:avLst>
              <a:gd name="adj" fmla="val 15457"/>
            </a:avLst>
          </a:prstGeom>
          <a:solidFill>
            <a:srgbClr val="1E3A1E"/>
          </a:solidFill>
          <a:ln>
            <a:noFill/>
          </a:ln>
        </p:spPr>
        <p:txBody>
          <a:bodyPr rtlCol="0" anchor="ctr"/>
          <a:lstStyle/>
          <a:p>
            <a:pPr algn="ctr"/>
          </a:p>
        </p:txBody>
      </p:sp>
      <p:sp>
        <p:nvSpPr>
          <p:cNvPr id="26" name="Rounded Rectangle 25"/>
          <p:cNvSpPr/>
          <p:nvPr/>
        </p:nvSpPr>
        <p:spPr>
          <a:xfrm>
            <a:off x="685800" y="5473700"/>
            <a:ext cx="3461644" cy="274320"/>
          </a:xfrm>
          <a:prstGeom prst="roundRect">
            <a:avLst>
              <a:gd name="adj" fmla="val 50000"/>
            </a:avLst>
          </a:prstGeom>
          <a:solidFill>
            <a:srgbClr val="D4F94E"/>
          </a:solidFill>
          <a:ln>
            <a:noFill/>
          </a:ln>
        </p:spPr>
        <p:txBody>
          <a:bodyPr rtlCol="0" anchor="ctr"/>
          <a:lstStyle/>
          <a:p>
            <a:pPr algn="ctr"/>
          </a:p>
        </p:txBody>
      </p:sp>
      <p:sp>
        <p:nvSpPr>
          <p:cNvPr id="27" name="TextBox 26"/>
          <p:cNvSpPr txBox="1"/>
          <p:nvPr/>
        </p:nvSpPr>
        <p:spPr>
          <a:xfrm>
            <a:off x="795528" y="5473700"/>
            <a:ext cx="3287908" cy="274320"/>
          </a:xfrm>
          <a:prstGeom prst="rect">
            <a:avLst/>
          </a:prstGeom>
          <a:noFill/>
        </p:spPr>
        <p:txBody>
          <a:bodyPr wrap="square" lIns="0" rIns="0" tIns="0" bIns="0" anchor="ctr">
            <a:noAutofit/>
          </a:bodyPr>
          <a:lstStyle/>
          <a:p>
            <a:pPr algn="l">
              <a:lnSpc>
                <a:spcPts val="1300"/>
              </a:lnSpc>
              <a:spcBef>
                <a:spcPts val="0"/>
              </a:spcBef>
              <a:spcAft>
                <a:spcPts val="0"/>
              </a:spcAft>
            </a:pPr>
            <a:r>
              <a:rPr sz="1000" b="1" i="0">
                <a:solidFill>
                  <a:srgbClr val="1E3A1E"/>
                </a:solidFill>
                <a:latin typeface="Apple SD Gothic Neo"/>
                <a:ea typeface="Apple SD Gothic Neo"/>
              </a:rPr>
              <a:t>특허 후보 고르기 (lead_candidates, 1인 1개 · 모둠 최대 4개)</a:t>
            </a:r>
          </a:p>
        </p:txBody>
      </p:sp>
      <p:sp>
        <p:nvSpPr>
          <p:cNvPr id="28" name="Rounded Rectangle 27"/>
          <p:cNvSpPr/>
          <p:nvPr/>
        </p:nvSpPr>
        <p:spPr>
          <a:xfrm>
            <a:off x="685800" y="5894324"/>
            <a:ext cx="54864" cy="396748"/>
          </a:xfrm>
          <a:prstGeom prst="roundRect">
            <a:avLst>
              <a:gd name="adj" fmla="val 50000"/>
            </a:avLst>
          </a:prstGeom>
          <a:solidFill>
            <a:srgbClr val="D4F94E"/>
          </a:solidFill>
          <a:ln>
            <a:noFill/>
          </a:ln>
        </p:spPr>
        <p:txBody>
          <a:bodyPr rtlCol="0" anchor="ctr"/>
          <a:lstStyle/>
          <a:p>
            <a:pPr algn="ctr"/>
          </a:p>
        </p:txBody>
      </p:sp>
      <p:sp>
        <p:nvSpPr>
          <p:cNvPr id="29" name="TextBox 28"/>
          <p:cNvSpPr txBox="1"/>
          <p:nvPr/>
        </p:nvSpPr>
        <p:spPr>
          <a:xfrm>
            <a:off x="868680" y="5876036"/>
            <a:ext cx="4998568" cy="451612"/>
          </a:xfrm>
          <a:prstGeom prst="rect">
            <a:avLst/>
          </a:prstGeom>
          <a:noFill/>
        </p:spPr>
        <p:txBody>
          <a:bodyPr wrap="square" lIns="0" rIns="0" tIns="0" bIns="0" anchor="t">
            <a:noAutofit/>
          </a:bodyPr>
          <a:lstStyle/>
          <a:p>
            <a:pPr algn="l">
              <a:lnSpc>
                <a:spcPts val="1562"/>
              </a:lnSpc>
              <a:spcBef>
                <a:spcPts val="0"/>
              </a:spcBef>
              <a:spcAft>
                <a:spcPts val="0"/>
              </a:spcAft>
            </a:pPr>
            <a:r>
              <a:rPr sz="1100" b="0" i="0">
                <a:solidFill>
                  <a:srgbClr val="FAF9F5"/>
                </a:solidFill>
                <a:latin typeface="Apple SD Gothic Neo"/>
                <a:ea typeface="Apple SD Gothic Neo"/>
              </a:rPr>
              <a:t>모둠원 4명이 각자 분석한 분자 중 1인 1개씩 근거 칩(심장 위험 낮음, 간 위험 낮음, 경구 흡수 좋음 등)을 골라 최대 4개의 특허 후보를 올립니다.</a:t>
            </a:r>
          </a:p>
        </p:txBody>
      </p:sp>
      <p:sp>
        <p:nvSpPr>
          <p:cNvPr id="30" name="Rounded Rectangle 29"/>
          <p:cNvSpPr/>
          <p:nvPr/>
        </p:nvSpPr>
        <p:spPr>
          <a:xfrm>
            <a:off x="6233008" y="5894324"/>
            <a:ext cx="54864" cy="396748"/>
          </a:xfrm>
          <a:prstGeom prst="roundRect">
            <a:avLst>
              <a:gd name="adj" fmla="val 50000"/>
            </a:avLst>
          </a:prstGeom>
          <a:solidFill>
            <a:srgbClr val="D4F94E"/>
          </a:solidFill>
          <a:ln>
            <a:noFill/>
          </a:ln>
        </p:spPr>
        <p:txBody>
          <a:bodyPr rtlCol="0" anchor="ctr"/>
          <a:lstStyle/>
          <a:p>
            <a:pPr algn="ctr"/>
          </a:p>
        </p:txBody>
      </p:sp>
      <p:sp>
        <p:nvSpPr>
          <p:cNvPr id="31" name="TextBox 30"/>
          <p:cNvSpPr txBox="1"/>
          <p:nvPr/>
        </p:nvSpPr>
        <p:spPr>
          <a:xfrm>
            <a:off x="6415888" y="5876036"/>
            <a:ext cx="4998568" cy="451612"/>
          </a:xfrm>
          <a:prstGeom prst="rect">
            <a:avLst/>
          </a:prstGeom>
          <a:noFill/>
        </p:spPr>
        <p:txBody>
          <a:bodyPr wrap="square" lIns="0" rIns="0" tIns="0" bIns="0" anchor="t">
            <a:noAutofit/>
          </a:bodyPr>
          <a:lstStyle/>
          <a:p>
            <a:pPr algn="l">
              <a:lnSpc>
                <a:spcPts val="1562"/>
              </a:lnSpc>
              <a:spcBef>
                <a:spcPts val="0"/>
              </a:spcBef>
              <a:spcAft>
                <a:spcPts val="0"/>
              </a:spcAft>
            </a:pPr>
            <a:r>
              <a:rPr sz="1100" b="0" i="0">
                <a:solidFill>
                  <a:srgbClr val="FAF9F5"/>
                </a:solidFill>
                <a:latin typeface="Apple SD Gothic Neo"/>
                <a:ea typeface="Apple SD Gothic Neo"/>
              </a:rPr>
              <a:t>다음 3.1 단계에서는 최대 3건만 특허 출원할 수 있으므로, 4개 후보 중 어느 3개를 출원할지 모둠 토론이 자연스럽게 일어납니다.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18 / 26</a:t>
            </a:r>
          </a:p>
        </p:txBody>
      </p:sp>
      <p:sp>
        <p:nvSpPr>
          <p:cNvPr id="7" name="Rounded Rectangle 6"/>
          <p:cNvSpPr/>
          <p:nvPr/>
        </p:nvSpPr>
        <p:spPr>
          <a:xfrm>
            <a:off x="457200" y="566928"/>
            <a:ext cx="2562792"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288472"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3 · 단계 3.1 선언·물질특허</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코드명 해부도와 특허 명세서를 직접 쓰고, 학급 선착순 특허 원장에 등재합니다</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모둠당 최대 3건까지 출원합니다. 이미 알려진 물질이나 다른 모둠이 먼저 등록한 분자는 규칙 검사가 거절하고, AI 심사관이 명세서 모순을 점검합니다.</a:t>
            </a:r>
          </a:p>
        </p:txBody>
      </p:sp>
      <p:sp>
        <p:nvSpPr>
          <p:cNvPr id="12" name="TextBox 11"/>
          <p:cNvSpPr txBox="1"/>
          <p:nvPr/>
        </p:nvSpPr>
        <p:spPr>
          <a:xfrm>
            <a:off x="457200" y="182549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5걸음 진행 구조</a:t>
            </a:r>
          </a:p>
        </p:txBody>
      </p:sp>
      <p:sp>
        <p:nvSpPr>
          <p:cNvPr id="13" name="Rectangle 12"/>
          <p:cNvSpPr/>
          <p:nvPr/>
        </p:nvSpPr>
        <p:spPr>
          <a:xfrm>
            <a:off x="576072" y="2247519"/>
            <a:ext cx="27432" cy="4043553"/>
          </a:xfrm>
          <a:prstGeom prst="rect">
            <a:avLst/>
          </a:prstGeom>
          <a:solidFill>
            <a:srgbClr val="CFCDC4"/>
          </a:solidFill>
          <a:ln>
            <a:noFill/>
          </a:ln>
        </p:spPr>
        <p:txBody>
          <a:bodyPr rtlCol="0" anchor="ctr"/>
          <a:lstStyle/>
          <a:p>
            <a:pPr algn="ctr"/>
          </a:p>
        </p:txBody>
      </p:sp>
      <p:sp>
        <p:nvSpPr>
          <p:cNvPr id="14" name="Rounded Rectangle 13"/>
          <p:cNvSpPr/>
          <p:nvPr/>
        </p:nvSpPr>
        <p:spPr>
          <a:xfrm>
            <a:off x="731520" y="2064639"/>
            <a:ext cx="11002975" cy="571576"/>
          </a:xfrm>
          <a:prstGeom prst="roundRect">
            <a:avLst>
              <a:gd name="adj" fmla="val 25596"/>
            </a:avLst>
          </a:prstGeom>
          <a:solidFill>
            <a:srgbClr val="FFFFFF"/>
          </a:solidFill>
          <a:ln>
            <a:noFill/>
          </a:ln>
        </p:spPr>
        <p:txBody>
          <a:bodyPr rtlCol="0" anchor="ctr"/>
          <a:lstStyle/>
          <a:p>
            <a:pPr algn="ctr"/>
          </a:p>
        </p:txBody>
      </p:sp>
      <p:sp>
        <p:nvSpPr>
          <p:cNvPr id="15" name="Oval 14"/>
          <p:cNvSpPr/>
          <p:nvPr/>
        </p:nvSpPr>
        <p:spPr>
          <a:xfrm>
            <a:off x="502920" y="2263559"/>
            <a:ext cx="173736" cy="173736"/>
          </a:xfrm>
          <a:prstGeom prst="ellipse">
            <a:avLst/>
          </a:prstGeom>
          <a:solidFill>
            <a:srgbClr val="141413"/>
          </a:solidFill>
          <a:ln>
            <a:noFill/>
          </a:ln>
        </p:spPr>
        <p:txBody>
          <a:bodyPr rtlCol="0" anchor="ctr"/>
          <a:lstStyle/>
          <a:p>
            <a:pPr algn="ctr"/>
          </a:p>
        </p:txBody>
      </p:sp>
      <p:sp>
        <p:nvSpPr>
          <p:cNvPr id="16" name="TextBox 15"/>
          <p:cNvSpPr txBox="1"/>
          <p:nvPr/>
        </p:nvSpPr>
        <p:spPr>
          <a:xfrm>
            <a:off x="841248" y="2064639"/>
            <a:ext cx="3017520" cy="571576"/>
          </a:xfrm>
          <a:prstGeom prst="rect">
            <a:avLst/>
          </a:prstGeom>
          <a:noFill/>
        </p:spPr>
        <p:txBody>
          <a:bodyPr wrap="square" lIns="0" rIns="0" tIns="0" bIns="0" anchor="ctr">
            <a:noAutofit/>
          </a:bodyPr>
          <a:lstStyle/>
          <a:p>
            <a:pPr algn="l">
              <a:lnSpc>
                <a:spcPts val="1560"/>
              </a:lnSpc>
              <a:spcBef>
                <a:spcPts val="0"/>
              </a:spcBef>
              <a:spcAft>
                <a:spcPts val="0"/>
              </a:spcAft>
            </a:pPr>
            <a:r>
              <a:rPr sz="1200" b="1" i="0">
                <a:solidFill>
                  <a:srgbClr val="141413"/>
                </a:solidFill>
                <a:latin typeface="Apple SD Gothic Neo"/>
                <a:ea typeface="Apple SD Gothic Neo"/>
              </a:rPr>
              <a:t>① 출원할 후보 고르기 (최대 3건)</a:t>
            </a:r>
          </a:p>
        </p:txBody>
      </p:sp>
      <p:sp>
        <p:nvSpPr>
          <p:cNvPr id="17" name="TextBox 16"/>
          <p:cNvSpPr txBox="1"/>
          <p:nvPr/>
        </p:nvSpPr>
        <p:spPr>
          <a:xfrm>
            <a:off x="4133088" y="2064639"/>
            <a:ext cx="7418527" cy="571576"/>
          </a:xfrm>
          <a:prstGeom prst="rect">
            <a:avLst/>
          </a:prstGeom>
          <a:noFill/>
        </p:spPr>
        <p:txBody>
          <a:bodyPr wrap="square" lIns="0" rIns="0" tIns="0" bIns="0" anchor="ctr">
            <a:noAutofit/>
          </a:bodyPr>
          <a:lstStyle/>
          <a:p>
            <a:pPr algn="l">
              <a:lnSpc>
                <a:spcPts val="1518"/>
              </a:lnSpc>
              <a:spcBef>
                <a:spcPts val="0"/>
              </a:spcBef>
              <a:spcAft>
                <a:spcPts val="0"/>
              </a:spcAft>
            </a:pPr>
            <a:r>
              <a:rPr sz="1100" b="0" i="0">
                <a:solidFill>
                  <a:srgbClr val="141413"/>
                </a:solidFill>
                <a:latin typeface="Apple SD Gothic Neo"/>
                <a:ea typeface="Apple SD Gothic Neo"/>
              </a:rPr>
              <a:t>특허 후보 카드와 구조 지문(5.06 — 기준 약과 다른 화학 구조 부분만 형광 표시)을 보고 출원 대상을 고릅니다.</a:t>
            </a:r>
          </a:p>
        </p:txBody>
      </p:sp>
      <p:sp>
        <p:nvSpPr>
          <p:cNvPr id="18" name="Rounded Rectangle 17"/>
          <p:cNvSpPr/>
          <p:nvPr/>
        </p:nvSpPr>
        <p:spPr>
          <a:xfrm>
            <a:off x="731520" y="2727655"/>
            <a:ext cx="11002975" cy="759028"/>
          </a:xfrm>
          <a:prstGeom prst="roundRect">
            <a:avLst>
              <a:gd name="adj" fmla="val 19275"/>
            </a:avLst>
          </a:prstGeom>
          <a:solidFill>
            <a:srgbClr val="FFFFFF"/>
          </a:solidFill>
          <a:ln>
            <a:noFill/>
          </a:ln>
        </p:spPr>
        <p:txBody>
          <a:bodyPr rtlCol="0" anchor="ctr"/>
          <a:lstStyle/>
          <a:p>
            <a:pPr algn="ctr"/>
          </a:p>
        </p:txBody>
      </p:sp>
      <p:sp>
        <p:nvSpPr>
          <p:cNvPr id="19" name="Oval 18"/>
          <p:cNvSpPr/>
          <p:nvPr/>
        </p:nvSpPr>
        <p:spPr>
          <a:xfrm>
            <a:off x="502920" y="3020301"/>
            <a:ext cx="173736" cy="173736"/>
          </a:xfrm>
          <a:prstGeom prst="ellipse">
            <a:avLst/>
          </a:prstGeom>
          <a:solidFill>
            <a:srgbClr val="141413"/>
          </a:solidFill>
          <a:ln>
            <a:noFill/>
          </a:ln>
        </p:spPr>
        <p:txBody>
          <a:bodyPr rtlCol="0" anchor="ctr"/>
          <a:lstStyle/>
          <a:p>
            <a:pPr algn="ctr"/>
          </a:p>
        </p:txBody>
      </p:sp>
      <p:sp>
        <p:nvSpPr>
          <p:cNvPr id="20" name="TextBox 19"/>
          <p:cNvSpPr txBox="1"/>
          <p:nvPr/>
        </p:nvSpPr>
        <p:spPr>
          <a:xfrm>
            <a:off x="841248" y="2727655"/>
            <a:ext cx="3017520" cy="759028"/>
          </a:xfrm>
          <a:prstGeom prst="rect">
            <a:avLst/>
          </a:prstGeom>
          <a:noFill/>
        </p:spPr>
        <p:txBody>
          <a:bodyPr wrap="square" lIns="0" rIns="0" tIns="0" bIns="0" anchor="ctr">
            <a:noAutofit/>
          </a:bodyPr>
          <a:lstStyle/>
          <a:p>
            <a:pPr algn="l">
              <a:lnSpc>
                <a:spcPts val="1560"/>
              </a:lnSpc>
              <a:spcBef>
                <a:spcPts val="0"/>
              </a:spcBef>
              <a:spcAft>
                <a:spcPts val="0"/>
              </a:spcAft>
            </a:pPr>
            <a:r>
              <a:rPr sz="1200" b="1" i="0">
                <a:solidFill>
                  <a:srgbClr val="141413"/>
                </a:solidFill>
                <a:latin typeface="Apple SD Gothic Neo"/>
                <a:ea typeface="Apple SD Gothic Neo"/>
              </a:rPr>
              <a:t>② 코드명 해부도 쓰기 (5.02)</a:t>
            </a:r>
          </a:p>
        </p:txBody>
      </p:sp>
      <p:sp>
        <p:nvSpPr>
          <p:cNvPr id="21" name="TextBox 20"/>
          <p:cNvSpPr txBox="1"/>
          <p:nvPr/>
        </p:nvSpPr>
        <p:spPr>
          <a:xfrm>
            <a:off x="4133088" y="2727655"/>
            <a:ext cx="7418527" cy="759028"/>
          </a:xfrm>
          <a:prstGeom prst="rect">
            <a:avLst/>
          </a:prstGeom>
          <a:noFill/>
        </p:spPr>
        <p:txBody>
          <a:bodyPr wrap="square" lIns="0" rIns="0" tIns="0" bIns="0" anchor="ctr">
            <a:noAutofit/>
          </a:bodyPr>
          <a:lstStyle/>
          <a:p>
            <a:pPr algn="l">
              <a:lnSpc>
                <a:spcPts val="1518"/>
              </a:lnSpc>
              <a:spcBef>
                <a:spcPts val="0"/>
              </a:spcBef>
              <a:spcAft>
                <a:spcPts val="0"/>
              </a:spcAft>
            </a:pPr>
            <a:r>
              <a:rPr sz="1100" b="0" i="0">
                <a:solidFill>
                  <a:srgbClr val="141413"/>
                </a:solidFill>
                <a:latin typeface="Apple SD Gothic Neo"/>
                <a:ea typeface="Apple SD Gothic Neo"/>
              </a:rPr>
              <a:t>[우리 티커]-[3자리 번호](예: SEUM-102)와 번호를 붙인 이유, 그리고 작용 기전 한 줄(무엇을 · 어떻게 · 무엇을 하나, 예: ACHE · 선택적/가역 · 억제제)을 직접 작성합니다.</a:t>
            </a:r>
          </a:p>
        </p:txBody>
      </p:sp>
      <p:sp>
        <p:nvSpPr>
          <p:cNvPr id="22" name="Rounded Rectangle 21"/>
          <p:cNvSpPr/>
          <p:nvPr/>
        </p:nvSpPr>
        <p:spPr>
          <a:xfrm>
            <a:off x="731520" y="3578123"/>
            <a:ext cx="11002975" cy="759028"/>
          </a:xfrm>
          <a:prstGeom prst="roundRect">
            <a:avLst>
              <a:gd name="adj" fmla="val 19275"/>
            </a:avLst>
          </a:prstGeom>
          <a:solidFill>
            <a:srgbClr val="FFFFFF"/>
          </a:solidFill>
          <a:ln>
            <a:noFill/>
          </a:ln>
        </p:spPr>
        <p:txBody>
          <a:bodyPr rtlCol="0" anchor="ctr"/>
          <a:lstStyle/>
          <a:p>
            <a:pPr algn="ctr"/>
          </a:p>
        </p:txBody>
      </p:sp>
      <p:sp>
        <p:nvSpPr>
          <p:cNvPr id="23" name="Oval 22"/>
          <p:cNvSpPr/>
          <p:nvPr/>
        </p:nvSpPr>
        <p:spPr>
          <a:xfrm>
            <a:off x="502920" y="3870770"/>
            <a:ext cx="173736" cy="173736"/>
          </a:xfrm>
          <a:prstGeom prst="ellipse">
            <a:avLst/>
          </a:prstGeom>
          <a:solidFill>
            <a:srgbClr val="141413"/>
          </a:solidFill>
          <a:ln>
            <a:noFill/>
          </a:ln>
        </p:spPr>
        <p:txBody>
          <a:bodyPr rtlCol="0" anchor="ctr"/>
          <a:lstStyle/>
          <a:p>
            <a:pPr algn="ctr"/>
          </a:p>
        </p:txBody>
      </p:sp>
      <p:sp>
        <p:nvSpPr>
          <p:cNvPr id="24" name="TextBox 23"/>
          <p:cNvSpPr txBox="1"/>
          <p:nvPr/>
        </p:nvSpPr>
        <p:spPr>
          <a:xfrm>
            <a:off x="841248" y="3578123"/>
            <a:ext cx="3017520" cy="759028"/>
          </a:xfrm>
          <a:prstGeom prst="rect">
            <a:avLst/>
          </a:prstGeom>
          <a:noFill/>
        </p:spPr>
        <p:txBody>
          <a:bodyPr wrap="square" lIns="0" rIns="0" tIns="0" bIns="0" anchor="ctr">
            <a:noAutofit/>
          </a:bodyPr>
          <a:lstStyle/>
          <a:p>
            <a:pPr algn="l">
              <a:lnSpc>
                <a:spcPts val="1560"/>
              </a:lnSpc>
              <a:spcBef>
                <a:spcPts val="0"/>
              </a:spcBef>
              <a:spcAft>
                <a:spcPts val="0"/>
              </a:spcAft>
            </a:pPr>
            <a:r>
              <a:rPr sz="1200" b="1" i="0">
                <a:solidFill>
                  <a:srgbClr val="141413"/>
                </a:solidFill>
                <a:latin typeface="Apple SD Gothic Neo"/>
                <a:ea typeface="Apple SD Gothic Neo"/>
              </a:rPr>
              <a:t>③ 특허 명세서 분담 작성 (5.01)</a:t>
            </a:r>
          </a:p>
        </p:txBody>
      </p:sp>
      <p:sp>
        <p:nvSpPr>
          <p:cNvPr id="25" name="TextBox 24"/>
          <p:cNvSpPr txBox="1"/>
          <p:nvPr/>
        </p:nvSpPr>
        <p:spPr>
          <a:xfrm>
            <a:off x="4133088" y="3578123"/>
            <a:ext cx="7418527" cy="759028"/>
          </a:xfrm>
          <a:prstGeom prst="rect">
            <a:avLst/>
          </a:prstGeom>
          <a:noFill/>
        </p:spPr>
        <p:txBody>
          <a:bodyPr wrap="square" lIns="0" rIns="0" tIns="0" bIns="0" anchor="ctr">
            <a:noAutofit/>
          </a:bodyPr>
          <a:lstStyle/>
          <a:p>
            <a:pPr algn="l">
              <a:lnSpc>
                <a:spcPts val="1518"/>
              </a:lnSpc>
              <a:spcBef>
                <a:spcPts val="0"/>
              </a:spcBef>
              <a:spcAft>
                <a:spcPts val="0"/>
              </a:spcAft>
            </a:pPr>
            <a:r>
              <a:rPr sz="1100" b="0" i="0">
                <a:solidFill>
                  <a:srgbClr val="141413"/>
                </a:solidFill>
                <a:latin typeface="Apple SD Gothic Neo"/>
                <a:ea typeface="Apple SD Gothic Neo"/>
              </a:rPr>
              <a:t>발명의 명칭, 배경기술(기준 약의 한계), 청구항 1(물질)·청구항 2(용도), 발명의 효과(도킹 ΔG·ADMET 근거 해석), 요약을 모둠원이 칸 단위로 나눠 씁니다.</a:t>
            </a:r>
          </a:p>
        </p:txBody>
      </p:sp>
      <p:sp>
        <p:nvSpPr>
          <p:cNvPr id="26" name="Rounded Rectangle 25"/>
          <p:cNvSpPr/>
          <p:nvPr/>
        </p:nvSpPr>
        <p:spPr>
          <a:xfrm>
            <a:off x="731520" y="4428592"/>
            <a:ext cx="11002975" cy="1217752"/>
          </a:xfrm>
          <a:prstGeom prst="roundRect">
            <a:avLst>
              <a:gd name="adj" fmla="val 12014"/>
            </a:avLst>
          </a:prstGeom>
          <a:solidFill>
            <a:srgbClr val="FFFFFF"/>
          </a:solidFill>
          <a:ln>
            <a:noFill/>
          </a:ln>
        </p:spPr>
        <p:txBody>
          <a:bodyPr rtlCol="0" anchor="ctr"/>
          <a:lstStyle/>
          <a:p>
            <a:pPr algn="ctr"/>
          </a:p>
        </p:txBody>
      </p:sp>
      <p:sp>
        <p:nvSpPr>
          <p:cNvPr id="27" name="Oval 26"/>
          <p:cNvSpPr/>
          <p:nvPr/>
        </p:nvSpPr>
        <p:spPr>
          <a:xfrm>
            <a:off x="502920" y="4950600"/>
            <a:ext cx="173736" cy="173736"/>
          </a:xfrm>
          <a:prstGeom prst="ellipse">
            <a:avLst/>
          </a:prstGeom>
          <a:solidFill>
            <a:srgbClr val="141413"/>
          </a:solidFill>
          <a:ln>
            <a:noFill/>
          </a:ln>
        </p:spPr>
        <p:txBody>
          <a:bodyPr rtlCol="0" anchor="ctr"/>
          <a:lstStyle/>
          <a:p>
            <a:pPr algn="ctr"/>
          </a:p>
        </p:txBody>
      </p:sp>
      <p:sp>
        <p:nvSpPr>
          <p:cNvPr id="28" name="TextBox 27"/>
          <p:cNvSpPr txBox="1"/>
          <p:nvPr/>
        </p:nvSpPr>
        <p:spPr>
          <a:xfrm>
            <a:off x="841248" y="4428592"/>
            <a:ext cx="3017520" cy="1217752"/>
          </a:xfrm>
          <a:prstGeom prst="rect">
            <a:avLst/>
          </a:prstGeom>
          <a:noFill/>
        </p:spPr>
        <p:txBody>
          <a:bodyPr wrap="square" lIns="0" rIns="0" tIns="0" bIns="0" anchor="ctr">
            <a:noAutofit/>
          </a:bodyPr>
          <a:lstStyle/>
          <a:p>
            <a:pPr algn="l">
              <a:lnSpc>
                <a:spcPts val="1560"/>
              </a:lnSpc>
              <a:spcBef>
                <a:spcPts val="0"/>
              </a:spcBef>
              <a:spcAft>
                <a:spcPts val="0"/>
              </a:spcAft>
            </a:pPr>
            <a:r>
              <a:rPr sz="1200" b="1" i="0">
                <a:solidFill>
                  <a:srgbClr val="141413"/>
                </a:solidFill>
                <a:latin typeface="Apple SD Gothic Neo"/>
                <a:ea typeface="Apple SD Gothic Neo"/>
              </a:rPr>
              <a:t>④ 2단계 심사 (규칙 검사 → AI 특허심사관)</a:t>
            </a:r>
          </a:p>
        </p:txBody>
      </p:sp>
      <p:sp>
        <p:nvSpPr>
          <p:cNvPr id="29" name="Rounded Rectangle 28"/>
          <p:cNvSpPr/>
          <p:nvPr/>
        </p:nvSpPr>
        <p:spPr>
          <a:xfrm>
            <a:off x="4133088" y="4633608"/>
            <a:ext cx="695587" cy="256032"/>
          </a:xfrm>
          <a:prstGeom prst="roundRect">
            <a:avLst>
              <a:gd name="adj" fmla="val 50000"/>
            </a:avLst>
          </a:prstGeom>
          <a:solidFill>
            <a:srgbClr val="141413"/>
          </a:solidFill>
          <a:ln>
            <a:noFill/>
          </a:ln>
        </p:spPr>
        <p:txBody>
          <a:bodyPr rtlCol="0" anchor="ctr"/>
          <a:lstStyle/>
          <a:p>
            <a:pPr algn="ctr"/>
          </a:p>
        </p:txBody>
      </p:sp>
      <p:sp>
        <p:nvSpPr>
          <p:cNvPr id="30" name="TextBox 29"/>
          <p:cNvSpPr txBox="1"/>
          <p:nvPr/>
        </p:nvSpPr>
        <p:spPr>
          <a:xfrm>
            <a:off x="4242816" y="4633608"/>
            <a:ext cx="521851" cy="256032"/>
          </a:xfrm>
          <a:prstGeom prst="rect">
            <a:avLst/>
          </a:prstGeom>
          <a:noFill/>
        </p:spPr>
        <p:txBody>
          <a:bodyPr wrap="square" lIns="0" rIns="0" tIns="0" bIns="0" anchor="ctr">
            <a:noAutofit/>
          </a:bodyPr>
          <a:lstStyle/>
          <a:p>
            <a:pPr algn="l">
              <a:lnSpc>
                <a:spcPts val="1235"/>
              </a:lnSpc>
              <a:spcBef>
                <a:spcPts val="0"/>
              </a:spcBef>
              <a:spcAft>
                <a:spcPts val="0"/>
              </a:spcAft>
            </a:pPr>
            <a:r>
              <a:rPr sz="950" b="1" i="0">
                <a:solidFill>
                  <a:srgbClr val="FFB21A"/>
                </a:solidFill>
                <a:latin typeface="Apple SD Gothic Neo"/>
                <a:ea typeface="Apple SD Gothic Neo"/>
              </a:rPr>
              <a:t>서버 규칙</a:t>
            </a:r>
          </a:p>
        </p:txBody>
      </p:sp>
      <p:sp>
        <p:nvSpPr>
          <p:cNvPr id="31" name="TextBox 30"/>
          <p:cNvSpPr txBox="1"/>
          <p:nvPr/>
        </p:nvSpPr>
        <p:spPr>
          <a:xfrm>
            <a:off x="5321808" y="4615320"/>
            <a:ext cx="6229807" cy="385572"/>
          </a:xfrm>
          <a:prstGeom prst="rect">
            <a:avLst/>
          </a:prstGeom>
          <a:noFill/>
        </p:spPr>
        <p:txBody>
          <a:bodyPr wrap="square" lIns="0" rIns="0" tIns="0" bIns="0" anchor="ctr">
            <a:noAutofit/>
          </a:bodyPr>
          <a:lstStyle/>
          <a:p>
            <a:pPr algn="l">
              <a:lnSpc>
                <a:spcPts val="1518"/>
              </a:lnSpc>
              <a:spcBef>
                <a:spcPts val="0"/>
              </a:spcBef>
              <a:spcAft>
                <a:spcPts val="0"/>
              </a:spcAft>
            </a:pPr>
            <a:r>
              <a:rPr sz="1100" b="0" i="0">
                <a:solidFill>
                  <a:srgbClr val="141413"/>
                </a:solidFill>
                <a:latin typeface="Apple SD Gothic Neo"/>
                <a:ea typeface="Apple SD Gothic Neo"/>
              </a:rPr>
              <a:t>시판 약·기준 리간드와 평면 SMILES가 같으면 '신규성 없음' 거절 / 학급 원장에 이미 등록된 구조면 '선착순 중복' 거절</a:t>
            </a:r>
          </a:p>
        </p:txBody>
      </p:sp>
      <p:sp>
        <p:nvSpPr>
          <p:cNvPr id="32" name="Rounded Rectangle 31"/>
          <p:cNvSpPr/>
          <p:nvPr/>
        </p:nvSpPr>
        <p:spPr>
          <a:xfrm>
            <a:off x="4133088" y="5092332"/>
            <a:ext cx="705434" cy="256032"/>
          </a:xfrm>
          <a:prstGeom prst="roundRect">
            <a:avLst>
              <a:gd name="adj" fmla="val 50000"/>
            </a:avLst>
          </a:prstGeom>
          <a:solidFill>
            <a:srgbClr val="D4F94E"/>
          </a:solidFill>
          <a:ln>
            <a:noFill/>
          </a:ln>
        </p:spPr>
        <p:txBody>
          <a:bodyPr rtlCol="0" anchor="ctr"/>
          <a:lstStyle/>
          <a:p>
            <a:pPr algn="ctr"/>
          </a:p>
        </p:txBody>
      </p:sp>
      <p:sp>
        <p:nvSpPr>
          <p:cNvPr id="33" name="TextBox 32"/>
          <p:cNvSpPr txBox="1"/>
          <p:nvPr/>
        </p:nvSpPr>
        <p:spPr>
          <a:xfrm>
            <a:off x="4242816" y="5092332"/>
            <a:ext cx="531698" cy="256032"/>
          </a:xfrm>
          <a:prstGeom prst="rect">
            <a:avLst/>
          </a:prstGeom>
          <a:noFill/>
        </p:spPr>
        <p:txBody>
          <a:bodyPr wrap="square" lIns="0" rIns="0" tIns="0" bIns="0" anchor="ctr">
            <a:noAutofit/>
          </a:bodyPr>
          <a:lstStyle/>
          <a:p>
            <a:pPr algn="l">
              <a:lnSpc>
                <a:spcPts val="1235"/>
              </a:lnSpc>
              <a:spcBef>
                <a:spcPts val="0"/>
              </a:spcBef>
              <a:spcAft>
                <a:spcPts val="0"/>
              </a:spcAft>
            </a:pPr>
            <a:r>
              <a:rPr sz="950" b="1" i="0">
                <a:solidFill>
                  <a:srgbClr val="1E3A1E"/>
                </a:solidFill>
                <a:latin typeface="Apple SD Gothic Neo"/>
                <a:ea typeface="Apple SD Gothic Neo"/>
              </a:rPr>
              <a:t>AI 심사관</a:t>
            </a:r>
          </a:p>
        </p:txBody>
      </p:sp>
      <p:sp>
        <p:nvSpPr>
          <p:cNvPr id="34" name="TextBox 33"/>
          <p:cNvSpPr txBox="1"/>
          <p:nvPr/>
        </p:nvSpPr>
        <p:spPr>
          <a:xfrm>
            <a:off x="5321808" y="5074044"/>
            <a:ext cx="6229807" cy="385572"/>
          </a:xfrm>
          <a:prstGeom prst="rect">
            <a:avLst/>
          </a:prstGeom>
          <a:noFill/>
        </p:spPr>
        <p:txBody>
          <a:bodyPr wrap="square" lIns="0" rIns="0" tIns="0" bIns="0" anchor="ctr">
            <a:noAutofit/>
          </a:bodyPr>
          <a:lstStyle/>
          <a:p>
            <a:pPr algn="l">
              <a:lnSpc>
                <a:spcPts val="1518"/>
              </a:lnSpc>
              <a:spcBef>
                <a:spcPts val="0"/>
              </a:spcBef>
              <a:spcAft>
                <a:spcPts val="0"/>
              </a:spcAft>
            </a:pPr>
            <a:r>
              <a:rPr sz="1100" b="0" i="0">
                <a:solidFill>
                  <a:srgbClr val="141413"/>
                </a:solidFill>
                <a:latin typeface="Apple SD Gothic Neo"/>
                <a:ea typeface="Apple SD Gothic Neo"/>
              </a:rPr>
              <a:t>발명의 효과에 적은 주장(예: "기준보다 결합력이 강하다")이 첨부된 도킹·ADMET 숫자와 맞는지 심사 → 통과 또는 칸별 보완 요구</a:t>
            </a:r>
          </a:p>
        </p:txBody>
      </p:sp>
      <p:sp>
        <p:nvSpPr>
          <p:cNvPr id="35" name="Rounded Rectangle 34"/>
          <p:cNvSpPr/>
          <p:nvPr/>
        </p:nvSpPr>
        <p:spPr>
          <a:xfrm>
            <a:off x="731520" y="5737784"/>
            <a:ext cx="11002975" cy="571576"/>
          </a:xfrm>
          <a:prstGeom prst="roundRect">
            <a:avLst>
              <a:gd name="adj" fmla="val 25596"/>
            </a:avLst>
          </a:prstGeom>
          <a:solidFill>
            <a:srgbClr val="F6FCE0"/>
          </a:solidFill>
          <a:ln w="9525">
            <a:solidFill>
              <a:srgbClr val="C8E68A"/>
            </a:solidFill>
          </a:ln>
        </p:spPr>
        <p:txBody>
          <a:bodyPr rtlCol="0" anchor="ctr"/>
          <a:lstStyle/>
          <a:p>
            <a:pPr algn="ctr"/>
          </a:p>
        </p:txBody>
      </p:sp>
      <p:sp>
        <p:nvSpPr>
          <p:cNvPr id="36" name="Oval 35"/>
          <p:cNvSpPr/>
          <p:nvPr/>
        </p:nvSpPr>
        <p:spPr>
          <a:xfrm>
            <a:off x="502920" y="5936704"/>
            <a:ext cx="173736" cy="173736"/>
          </a:xfrm>
          <a:prstGeom prst="ellipse">
            <a:avLst/>
          </a:prstGeom>
          <a:solidFill>
            <a:srgbClr val="D4F94E"/>
          </a:solidFill>
          <a:ln>
            <a:noFill/>
          </a:ln>
        </p:spPr>
        <p:txBody>
          <a:bodyPr rtlCol="0" anchor="ctr"/>
          <a:lstStyle/>
          <a:p>
            <a:pPr algn="ctr"/>
          </a:p>
        </p:txBody>
      </p:sp>
      <p:sp>
        <p:nvSpPr>
          <p:cNvPr id="37" name="TextBox 36"/>
          <p:cNvSpPr txBox="1"/>
          <p:nvPr/>
        </p:nvSpPr>
        <p:spPr>
          <a:xfrm>
            <a:off x="841248" y="5737784"/>
            <a:ext cx="3017520" cy="571576"/>
          </a:xfrm>
          <a:prstGeom prst="rect">
            <a:avLst/>
          </a:prstGeom>
          <a:noFill/>
        </p:spPr>
        <p:txBody>
          <a:bodyPr wrap="square" lIns="0" rIns="0" tIns="0" bIns="0" anchor="ctr">
            <a:noAutofit/>
          </a:bodyPr>
          <a:lstStyle/>
          <a:p>
            <a:pPr algn="l">
              <a:lnSpc>
                <a:spcPts val="1560"/>
              </a:lnSpc>
              <a:spcBef>
                <a:spcPts val="0"/>
              </a:spcBef>
              <a:spcAft>
                <a:spcPts val="0"/>
              </a:spcAft>
            </a:pPr>
            <a:r>
              <a:rPr sz="1200" b="1" i="0">
                <a:solidFill>
                  <a:srgbClr val="1E3A1E"/>
                </a:solidFill>
                <a:latin typeface="Apple SD Gothic Neo"/>
                <a:ea typeface="Apple SD Gothic Neo"/>
              </a:rPr>
              <a:t>⑤ 학급 특허 원장 등재 (5.04)</a:t>
            </a:r>
          </a:p>
        </p:txBody>
      </p:sp>
      <p:sp>
        <p:nvSpPr>
          <p:cNvPr id="38" name="TextBox 37"/>
          <p:cNvSpPr txBox="1"/>
          <p:nvPr/>
        </p:nvSpPr>
        <p:spPr>
          <a:xfrm>
            <a:off x="4133088" y="5737784"/>
            <a:ext cx="7418527" cy="571576"/>
          </a:xfrm>
          <a:prstGeom prst="rect">
            <a:avLst/>
          </a:prstGeom>
          <a:noFill/>
        </p:spPr>
        <p:txBody>
          <a:bodyPr wrap="square" lIns="0" rIns="0" tIns="0" bIns="0" anchor="ctr">
            <a:noAutofit/>
          </a:bodyPr>
          <a:lstStyle/>
          <a:p>
            <a:pPr algn="l">
              <a:lnSpc>
                <a:spcPts val="1518"/>
              </a:lnSpc>
              <a:spcBef>
                <a:spcPts val="0"/>
              </a:spcBef>
              <a:spcAft>
                <a:spcPts val="0"/>
              </a:spcAft>
            </a:pPr>
            <a:r>
              <a:rPr sz="1100" b="0" i="0">
                <a:solidFill>
                  <a:srgbClr val="141413"/>
                </a:solidFill>
                <a:latin typeface="Apple SD Gothic Neo"/>
                <a:ea typeface="Apple SD Gothic Neo"/>
              </a:rPr>
              <a:t>심사 통과 즉시 출원료($0.050M)가 결제되고 학급 특허 원장(KR-학급번호-일련번호)에 구조식과 코드명이 공개 등재됩니다.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19 / 26</a:t>
            </a:r>
          </a:p>
        </p:txBody>
      </p:sp>
      <p:sp>
        <p:nvSpPr>
          <p:cNvPr id="7" name="Rounded Rectangle 6"/>
          <p:cNvSpPr/>
          <p:nvPr/>
        </p:nvSpPr>
        <p:spPr>
          <a:xfrm>
            <a:off x="457200" y="566928"/>
            <a:ext cx="3206471"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932151"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3 · 단계 3.2 전임상·동물실험 (1/2)</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동물보호법 원칙에 따른 3R 윤리 교육과 동물실험윤리위원회(IACUC) 심의</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버튼 하나로 동물을 소비하는 대신, 왜 비동물 시험으로 완전히 대체할 수 없는지와 고통 경감 조치를 계획서로 먼저 증명해야 합니다.</a:t>
            </a:r>
          </a:p>
        </p:txBody>
      </p:sp>
      <p:sp>
        <p:nvSpPr>
          <p:cNvPr id="12" name="Rounded Rectangle 11"/>
          <p:cNvSpPr/>
          <p:nvPr/>
        </p:nvSpPr>
        <p:spPr>
          <a:xfrm>
            <a:off x="457200" y="1862074"/>
            <a:ext cx="146304" cy="146304"/>
          </a:xfrm>
          <a:prstGeom prst="roundRect">
            <a:avLst>
              <a:gd name="adj" fmla="val 25000"/>
            </a:avLst>
          </a:prstGeom>
          <a:solidFill>
            <a:srgbClr val="D4F94E"/>
          </a:solidFill>
          <a:ln>
            <a:noFill/>
          </a:ln>
        </p:spPr>
        <p:txBody>
          <a:bodyPr rtlCol="0" anchor="ctr"/>
          <a:lstStyle/>
          <a:p>
            <a:pPr algn="ctr"/>
          </a:p>
        </p:txBody>
      </p:sp>
      <p:sp>
        <p:nvSpPr>
          <p:cNvPr id="13" name="TextBox 12"/>
          <p:cNvSpPr txBox="1"/>
          <p:nvPr/>
        </p:nvSpPr>
        <p:spPr>
          <a:xfrm>
            <a:off x="713232" y="1798066"/>
            <a:ext cx="11002975" cy="242062"/>
          </a:xfrm>
          <a:prstGeom prst="rect">
            <a:avLst/>
          </a:prstGeom>
          <a:noFill/>
        </p:spPr>
        <p:txBody>
          <a:bodyPr wrap="square" lIns="0" rIns="0" tIns="0" bIns="0" anchor="t">
            <a:noAutofit/>
          </a:bodyPr>
          <a:lstStyle/>
          <a:p>
            <a:pPr algn="l">
              <a:lnSpc>
                <a:spcPts val="1690"/>
              </a:lnSpc>
              <a:spcBef>
                <a:spcPts val="0"/>
              </a:spcBef>
              <a:spcAft>
                <a:spcPts val="0"/>
              </a:spcAft>
            </a:pPr>
            <a:r>
              <a:rPr sz="1300" b="1" i="0">
                <a:solidFill>
                  <a:srgbClr val="141413"/>
                </a:solidFill>
                <a:latin typeface="Apple SD Gothic Neo"/>
                <a:ea typeface="Apple SD Gothic Neo"/>
              </a:rPr>
              <a:t>걸음 ① 실험 수행자 윤리 교육 (윤리 카드 5장 + 확인 문제 3문항)</a:t>
            </a:r>
          </a:p>
        </p:txBody>
      </p:sp>
      <p:sp>
        <p:nvSpPr>
          <p:cNvPr id="14" name="Rounded Rectangle 13"/>
          <p:cNvSpPr/>
          <p:nvPr/>
        </p:nvSpPr>
        <p:spPr>
          <a:xfrm>
            <a:off x="457200" y="2131568"/>
            <a:ext cx="2138416" cy="3084957"/>
          </a:xfrm>
          <a:prstGeom prst="roundRect">
            <a:avLst>
              <a:gd name="adj" fmla="val 7696"/>
            </a:avLst>
          </a:prstGeom>
          <a:solidFill>
            <a:srgbClr val="FFFFFF"/>
          </a:solidFill>
          <a:ln>
            <a:noFill/>
          </a:ln>
        </p:spPr>
        <p:txBody>
          <a:bodyPr rtlCol="0" anchor="ctr"/>
          <a:lstStyle/>
          <a:p>
            <a:pPr algn="ctr"/>
          </a:p>
        </p:txBody>
      </p:sp>
      <p:sp>
        <p:nvSpPr>
          <p:cNvPr id="15" name="Rounded Rectangle 14"/>
          <p:cNvSpPr/>
          <p:nvPr/>
        </p:nvSpPr>
        <p:spPr>
          <a:xfrm>
            <a:off x="621792" y="2296160"/>
            <a:ext cx="384048" cy="64008"/>
          </a:xfrm>
          <a:prstGeom prst="roundRect">
            <a:avLst>
              <a:gd name="adj" fmla="val 50000"/>
            </a:avLst>
          </a:prstGeom>
          <a:solidFill>
            <a:srgbClr val="D4F94E"/>
          </a:solidFill>
          <a:ln>
            <a:noFill/>
          </a:ln>
        </p:spPr>
        <p:txBody>
          <a:bodyPr rtlCol="0" anchor="ctr"/>
          <a:lstStyle/>
          <a:p>
            <a:pPr algn="ctr"/>
          </a:p>
        </p:txBody>
      </p:sp>
      <p:sp>
        <p:nvSpPr>
          <p:cNvPr id="16" name="TextBox 15"/>
          <p:cNvSpPr txBox="1"/>
          <p:nvPr/>
        </p:nvSpPr>
        <p:spPr>
          <a:xfrm>
            <a:off x="621792" y="2460752"/>
            <a:ext cx="1809232" cy="2627757"/>
          </a:xfrm>
          <a:prstGeom prst="rect">
            <a:avLst/>
          </a:prstGeom>
          <a:noFill/>
        </p:spPr>
        <p:txBody>
          <a:bodyPr wrap="square" lIns="0" rIns="0" tIns="0" bIns="0" anchor="t">
            <a:noAutofit/>
          </a:bodyPr>
          <a:lstStyle/>
          <a:p>
            <a:pPr algn="l">
              <a:lnSpc>
                <a:spcPts val="1495"/>
              </a:lnSpc>
              <a:spcBef>
                <a:spcPts val="0"/>
              </a:spcBef>
              <a:spcAft>
                <a:spcPts val="0"/>
              </a:spcAft>
            </a:pPr>
            <a:r>
              <a:rPr sz="1150" b="1" i="0">
                <a:solidFill>
                  <a:srgbClr val="1E3A1E"/>
                </a:solidFill>
                <a:latin typeface="Apple SD Gothic Neo"/>
                <a:ea typeface="Apple SD Gothic Neo"/>
              </a:rPr>
              <a:t>카드 1 · 왜 동물에서 먼저 보나</a:t>
            </a:r>
          </a:p>
          <a:p>
            <a:pPr algn="l">
              <a:lnSpc>
                <a:spcPts val="1539"/>
              </a:lnSpc>
              <a:spcBef>
                <a:spcPts val="500"/>
              </a:spcBef>
              <a:spcAft>
                <a:spcPts val="0"/>
              </a:spcAft>
            </a:pPr>
            <a:r>
              <a:rPr sz="1100" b="0" i="0">
                <a:solidFill>
                  <a:srgbClr val="141413"/>
                </a:solidFill>
                <a:latin typeface="Apple SD Gothic Neo"/>
                <a:ea typeface="Apple SD Gothic Neo"/>
              </a:rPr>
              <a:t>사람에게 처음 투여하기 전 설치류(랫드) 1종 + 비설치류(비글견) 1종에서 반복투여 독성과 심장·중추·호흡 안전성약리를 확인하는 이유 (ICH M3(R2))</a:t>
            </a:r>
          </a:p>
        </p:txBody>
      </p:sp>
      <p:sp>
        <p:nvSpPr>
          <p:cNvPr id="17" name="Rounded Rectangle 16"/>
          <p:cNvSpPr/>
          <p:nvPr/>
        </p:nvSpPr>
        <p:spPr>
          <a:xfrm>
            <a:off x="2741920" y="2131568"/>
            <a:ext cx="2138416" cy="3084957"/>
          </a:xfrm>
          <a:prstGeom prst="roundRect">
            <a:avLst>
              <a:gd name="adj" fmla="val 7696"/>
            </a:avLst>
          </a:prstGeom>
          <a:solidFill>
            <a:srgbClr val="FFFFFF"/>
          </a:solidFill>
          <a:ln>
            <a:noFill/>
          </a:ln>
        </p:spPr>
        <p:txBody>
          <a:bodyPr rtlCol="0" anchor="ctr"/>
          <a:lstStyle/>
          <a:p>
            <a:pPr algn="ctr"/>
          </a:p>
        </p:txBody>
      </p:sp>
      <p:sp>
        <p:nvSpPr>
          <p:cNvPr id="18" name="Rounded Rectangle 17"/>
          <p:cNvSpPr/>
          <p:nvPr/>
        </p:nvSpPr>
        <p:spPr>
          <a:xfrm>
            <a:off x="2906512" y="2296160"/>
            <a:ext cx="384048" cy="64008"/>
          </a:xfrm>
          <a:prstGeom prst="roundRect">
            <a:avLst>
              <a:gd name="adj" fmla="val 50000"/>
            </a:avLst>
          </a:prstGeom>
          <a:solidFill>
            <a:srgbClr val="FFB21A"/>
          </a:solidFill>
          <a:ln>
            <a:noFill/>
          </a:ln>
        </p:spPr>
        <p:txBody>
          <a:bodyPr rtlCol="0" anchor="ctr"/>
          <a:lstStyle/>
          <a:p>
            <a:pPr algn="ctr"/>
          </a:p>
        </p:txBody>
      </p:sp>
      <p:sp>
        <p:nvSpPr>
          <p:cNvPr id="19" name="TextBox 18"/>
          <p:cNvSpPr txBox="1"/>
          <p:nvPr/>
        </p:nvSpPr>
        <p:spPr>
          <a:xfrm>
            <a:off x="2906512" y="2460752"/>
            <a:ext cx="1809232" cy="2627757"/>
          </a:xfrm>
          <a:prstGeom prst="rect">
            <a:avLst/>
          </a:prstGeom>
          <a:noFill/>
        </p:spPr>
        <p:txBody>
          <a:bodyPr wrap="square" lIns="0" rIns="0" tIns="0" bIns="0" anchor="t">
            <a:noAutofit/>
          </a:bodyPr>
          <a:lstStyle/>
          <a:p>
            <a:pPr algn="l">
              <a:lnSpc>
                <a:spcPts val="1495"/>
              </a:lnSpc>
              <a:spcBef>
                <a:spcPts val="0"/>
              </a:spcBef>
              <a:spcAft>
                <a:spcPts val="0"/>
              </a:spcAft>
            </a:pPr>
            <a:r>
              <a:rPr sz="1150" b="1" i="0">
                <a:solidFill>
                  <a:srgbClr val="1E3A1E"/>
                </a:solidFill>
                <a:latin typeface="Apple SD Gothic Neo"/>
                <a:ea typeface="Apple SD Gothic Neo"/>
              </a:rPr>
              <a:t>카드 2 · 3R 원칙 (동물보호법 제47조)</a:t>
            </a:r>
          </a:p>
          <a:p>
            <a:pPr algn="l">
              <a:lnSpc>
                <a:spcPts val="1539"/>
              </a:lnSpc>
              <a:spcBef>
                <a:spcPts val="500"/>
              </a:spcBef>
              <a:spcAft>
                <a:spcPts val="0"/>
              </a:spcAft>
            </a:pPr>
            <a:r>
              <a:rPr sz="1100" b="0" i="0">
                <a:solidFill>
                  <a:srgbClr val="141413"/>
                </a:solidFill>
                <a:latin typeface="Apple SD Gothic Neo"/>
                <a:ea typeface="Apple SD Gothic Neo"/>
              </a:rPr>
              <a:t>대체(Replacement · 세포/오가노이드/컴퓨터 우선) · 감소(Reduction · 통계적으로 믿을 수 있는 최소 마릿수) · 개선(Refinement · 마취/진통/사육환경/인도적 종료시점)</a:t>
            </a:r>
          </a:p>
        </p:txBody>
      </p:sp>
      <p:sp>
        <p:nvSpPr>
          <p:cNvPr id="20" name="Rounded Rectangle 19"/>
          <p:cNvSpPr/>
          <p:nvPr/>
        </p:nvSpPr>
        <p:spPr>
          <a:xfrm>
            <a:off x="5026640" y="2131568"/>
            <a:ext cx="2138416" cy="3084957"/>
          </a:xfrm>
          <a:prstGeom prst="roundRect">
            <a:avLst>
              <a:gd name="adj" fmla="val 7696"/>
            </a:avLst>
          </a:prstGeom>
          <a:solidFill>
            <a:srgbClr val="FFFFFF"/>
          </a:solidFill>
          <a:ln>
            <a:noFill/>
          </a:ln>
        </p:spPr>
        <p:txBody>
          <a:bodyPr rtlCol="0" anchor="ctr"/>
          <a:lstStyle/>
          <a:p>
            <a:pPr algn="ctr"/>
          </a:p>
        </p:txBody>
      </p:sp>
      <p:sp>
        <p:nvSpPr>
          <p:cNvPr id="21" name="Rounded Rectangle 20"/>
          <p:cNvSpPr/>
          <p:nvPr/>
        </p:nvSpPr>
        <p:spPr>
          <a:xfrm>
            <a:off x="5191232" y="2296160"/>
            <a:ext cx="384048" cy="64008"/>
          </a:xfrm>
          <a:prstGeom prst="roundRect">
            <a:avLst>
              <a:gd name="adj" fmla="val 50000"/>
            </a:avLst>
          </a:prstGeom>
          <a:solidFill>
            <a:srgbClr val="FF8A7A"/>
          </a:solidFill>
          <a:ln>
            <a:noFill/>
          </a:ln>
        </p:spPr>
        <p:txBody>
          <a:bodyPr rtlCol="0" anchor="ctr"/>
          <a:lstStyle/>
          <a:p>
            <a:pPr algn="ctr"/>
          </a:p>
        </p:txBody>
      </p:sp>
      <p:sp>
        <p:nvSpPr>
          <p:cNvPr id="22" name="TextBox 21"/>
          <p:cNvSpPr txBox="1"/>
          <p:nvPr/>
        </p:nvSpPr>
        <p:spPr>
          <a:xfrm>
            <a:off x="5191232" y="2460752"/>
            <a:ext cx="1809232" cy="2627757"/>
          </a:xfrm>
          <a:prstGeom prst="rect">
            <a:avLst/>
          </a:prstGeom>
          <a:noFill/>
        </p:spPr>
        <p:txBody>
          <a:bodyPr wrap="square" lIns="0" rIns="0" tIns="0" bIns="0" anchor="t">
            <a:noAutofit/>
          </a:bodyPr>
          <a:lstStyle/>
          <a:p>
            <a:pPr algn="l">
              <a:lnSpc>
                <a:spcPts val="1495"/>
              </a:lnSpc>
              <a:spcBef>
                <a:spcPts val="0"/>
              </a:spcBef>
              <a:spcAft>
                <a:spcPts val="0"/>
              </a:spcAft>
            </a:pPr>
            <a:r>
              <a:rPr sz="1150" b="1" i="0">
                <a:solidFill>
                  <a:srgbClr val="1E3A1E"/>
                </a:solidFill>
                <a:latin typeface="Apple SD Gothic Neo"/>
                <a:ea typeface="Apple SD Gothic Neo"/>
              </a:rPr>
              <a:t>카드 3 · 고통등급 A~E</a:t>
            </a:r>
          </a:p>
          <a:p>
            <a:pPr algn="l">
              <a:lnSpc>
                <a:spcPts val="1539"/>
              </a:lnSpc>
              <a:spcBef>
                <a:spcPts val="500"/>
              </a:spcBef>
              <a:spcAft>
                <a:spcPts val="0"/>
              </a:spcAft>
            </a:pPr>
            <a:r>
              <a:rPr sz="1100" b="0" i="0">
                <a:solidFill>
                  <a:srgbClr val="141413"/>
                </a:solidFill>
                <a:latin typeface="Apple SD Gothic Neo"/>
                <a:ea typeface="Apple SD Gothic Neo"/>
              </a:rPr>
              <a:t>A(무척추/비생물) ~ C(약한 스트레스) ~ D(피할 수 없는 고통, 진통·마취 필수) ~ E(마취 시 결과가 망가지는 실험, 원칙적 불허)</a:t>
            </a:r>
          </a:p>
        </p:txBody>
      </p:sp>
      <p:sp>
        <p:nvSpPr>
          <p:cNvPr id="23" name="Rounded Rectangle 22"/>
          <p:cNvSpPr/>
          <p:nvPr/>
        </p:nvSpPr>
        <p:spPr>
          <a:xfrm>
            <a:off x="7311360" y="2131568"/>
            <a:ext cx="2138416" cy="3084957"/>
          </a:xfrm>
          <a:prstGeom prst="roundRect">
            <a:avLst>
              <a:gd name="adj" fmla="val 7696"/>
            </a:avLst>
          </a:prstGeom>
          <a:solidFill>
            <a:srgbClr val="FFFFFF"/>
          </a:solidFill>
          <a:ln>
            <a:noFill/>
          </a:ln>
        </p:spPr>
        <p:txBody>
          <a:bodyPr rtlCol="0" anchor="ctr"/>
          <a:lstStyle/>
          <a:p>
            <a:pPr algn="ctr"/>
          </a:p>
        </p:txBody>
      </p:sp>
      <p:sp>
        <p:nvSpPr>
          <p:cNvPr id="24" name="Rounded Rectangle 23"/>
          <p:cNvSpPr/>
          <p:nvPr/>
        </p:nvSpPr>
        <p:spPr>
          <a:xfrm>
            <a:off x="7475952" y="2296160"/>
            <a:ext cx="384048" cy="64008"/>
          </a:xfrm>
          <a:prstGeom prst="roundRect">
            <a:avLst>
              <a:gd name="adj" fmla="val 50000"/>
            </a:avLst>
          </a:prstGeom>
          <a:solidFill>
            <a:srgbClr val="7FB8FF"/>
          </a:solidFill>
          <a:ln>
            <a:noFill/>
          </a:ln>
        </p:spPr>
        <p:txBody>
          <a:bodyPr rtlCol="0" anchor="ctr"/>
          <a:lstStyle/>
          <a:p>
            <a:pPr algn="ctr"/>
          </a:p>
        </p:txBody>
      </p:sp>
      <p:sp>
        <p:nvSpPr>
          <p:cNvPr id="25" name="TextBox 24"/>
          <p:cNvSpPr txBox="1"/>
          <p:nvPr/>
        </p:nvSpPr>
        <p:spPr>
          <a:xfrm>
            <a:off x="7475952" y="2460752"/>
            <a:ext cx="1809232" cy="2627757"/>
          </a:xfrm>
          <a:prstGeom prst="rect">
            <a:avLst/>
          </a:prstGeom>
          <a:noFill/>
        </p:spPr>
        <p:txBody>
          <a:bodyPr wrap="square" lIns="0" rIns="0" tIns="0" bIns="0" anchor="t">
            <a:noAutofit/>
          </a:bodyPr>
          <a:lstStyle/>
          <a:p>
            <a:pPr algn="l">
              <a:lnSpc>
                <a:spcPts val="1495"/>
              </a:lnSpc>
              <a:spcBef>
                <a:spcPts val="0"/>
              </a:spcBef>
              <a:spcAft>
                <a:spcPts val="0"/>
              </a:spcAft>
            </a:pPr>
            <a:r>
              <a:rPr sz="1150" b="1" i="0">
                <a:solidFill>
                  <a:srgbClr val="1E3A1E"/>
                </a:solidFill>
                <a:latin typeface="Apple SD Gothic Neo"/>
                <a:ea typeface="Apple SD Gothic Neo"/>
              </a:rPr>
              <a:t>카드 4 · 인도적 종료시점</a:t>
            </a:r>
          </a:p>
          <a:p>
            <a:pPr algn="l">
              <a:lnSpc>
                <a:spcPts val="1539"/>
              </a:lnSpc>
              <a:spcBef>
                <a:spcPts val="500"/>
              </a:spcBef>
              <a:spcAft>
                <a:spcPts val="0"/>
              </a:spcAft>
            </a:pPr>
            <a:r>
              <a:rPr sz="1100" b="0" i="0">
                <a:solidFill>
                  <a:srgbClr val="141413"/>
                </a:solidFill>
                <a:latin typeface="Apple SD Gothic Neo"/>
                <a:ea typeface="Apple SD Gothic Neo"/>
              </a:rPr>
              <a:t>정상 체중 20% 이상 감소, 종양이 체중의 10% 초과, 보행 불능 등 미리 정한 기준에 닿으면 실험을 즉시 종료하고 고통을 덜어 주는 기준</a:t>
            </a:r>
          </a:p>
        </p:txBody>
      </p:sp>
      <p:sp>
        <p:nvSpPr>
          <p:cNvPr id="26" name="Rounded Rectangle 25"/>
          <p:cNvSpPr/>
          <p:nvPr/>
        </p:nvSpPr>
        <p:spPr>
          <a:xfrm>
            <a:off x="9596079" y="2131568"/>
            <a:ext cx="2138416" cy="3084957"/>
          </a:xfrm>
          <a:prstGeom prst="roundRect">
            <a:avLst>
              <a:gd name="adj" fmla="val 7696"/>
            </a:avLst>
          </a:prstGeom>
          <a:solidFill>
            <a:srgbClr val="FFFFFF"/>
          </a:solidFill>
          <a:ln>
            <a:noFill/>
          </a:ln>
        </p:spPr>
        <p:txBody>
          <a:bodyPr rtlCol="0" anchor="ctr"/>
          <a:lstStyle/>
          <a:p>
            <a:pPr algn="ctr"/>
          </a:p>
        </p:txBody>
      </p:sp>
      <p:sp>
        <p:nvSpPr>
          <p:cNvPr id="27" name="Rounded Rectangle 26"/>
          <p:cNvSpPr/>
          <p:nvPr/>
        </p:nvSpPr>
        <p:spPr>
          <a:xfrm>
            <a:off x="9760671" y="2296160"/>
            <a:ext cx="384048" cy="64008"/>
          </a:xfrm>
          <a:prstGeom prst="roundRect">
            <a:avLst>
              <a:gd name="adj" fmla="val 50000"/>
            </a:avLst>
          </a:prstGeom>
          <a:solidFill>
            <a:srgbClr val="B79CFF"/>
          </a:solidFill>
          <a:ln>
            <a:noFill/>
          </a:ln>
        </p:spPr>
        <p:txBody>
          <a:bodyPr rtlCol="0" anchor="ctr"/>
          <a:lstStyle/>
          <a:p>
            <a:pPr algn="ctr"/>
          </a:p>
        </p:txBody>
      </p:sp>
      <p:sp>
        <p:nvSpPr>
          <p:cNvPr id="28" name="TextBox 27"/>
          <p:cNvSpPr txBox="1"/>
          <p:nvPr/>
        </p:nvSpPr>
        <p:spPr>
          <a:xfrm>
            <a:off x="9760671" y="2460752"/>
            <a:ext cx="1809232" cy="2627757"/>
          </a:xfrm>
          <a:prstGeom prst="rect">
            <a:avLst/>
          </a:prstGeom>
          <a:noFill/>
        </p:spPr>
        <p:txBody>
          <a:bodyPr wrap="square" lIns="0" rIns="0" tIns="0" bIns="0" anchor="t">
            <a:noAutofit/>
          </a:bodyPr>
          <a:lstStyle/>
          <a:p>
            <a:pPr algn="l">
              <a:lnSpc>
                <a:spcPts val="1495"/>
              </a:lnSpc>
              <a:spcBef>
                <a:spcPts val="0"/>
              </a:spcBef>
              <a:spcAft>
                <a:spcPts val="0"/>
              </a:spcAft>
            </a:pPr>
            <a:r>
              <a:rPr sz="1150" b="1" i="0">
                <a:solidFill>
                  <a:srgbClr val="1E3A1E"/>
                </a:solidFill>
                <a:latin typeface="Apple SD Gothic Neo"/>
                <a:ea typeface="Apple SD Gothic Neo"/>
              </a:rPr>
              <a:t>카드 5 · 실제 통계와 비임상 현대화 흐름</a:t>
            </a:r>
          </a:p>
          <a:p>
            <a:pPr algn="l">
              <a:lnSpc>
                <a:spcPts val="1539"/>
              </a:lnSpc>
              <a:spcBef>
                <a:spcPts val="500"/>
              </a:spcBef>
              <a:spcAft>
                <a:spcPts val="0"/>
              </a:spcAft>
            </a:pPr>
            <a:r>
              <a:rPr sz="1100" b="0" i="0">
                <a:solidFill>
                  <a:srgbClr val="141413"/>
                </a:solidFill>
                <a:latin typeface="Apple SD Gothic Neo"/>
                <a:ea typeface="Apple SD Gothic Neo"/>
              </a:rPr>
              <a:t>국내 연간 실험동물 약 459만 마리(D·E 등급 80.1%), 동물 통과 약물의 90% 이상이 사람 임상에서 탈락하는 한계, FDA 현대화법 2.0의 비동물 대체 시험 인정 흐름</a:t>
            </a:r>
          </a:p>
        </p:txBody>
      </p:sp>
      <p:sp>
        <p:nvSpPr>
          <p:cNvPr id="29" name="Rounded Rectangle 28"/>
          <p:cNvSpPr/>
          <p:nvPr/>
        </p:nvSpPr>
        <p:spPr>
          <a:xfrm>
            <a:off x="457200" y="5417693"/>
            <a:ext cx="11277295" cy="1056259"/>
          </a:xfrm>
          <a:prstGeom prst="roundRect">
            <a:avLst>
              <a:gd name="adj" fmla="val 17313"/>
            </a:avLst>
          </a:prstGeom>
          <a:solidFill>
            <a:srgbClr val="1E3A1E"/>
          </a:solidFill>
          <a:ln>
            <a:noFill/>
          </a:ln>
        </p:spPr>
        <p:txBody>
          <a:bodyPr rtlCol="0" anchor="ctr"/>
          <a:lstStyle/>
          <a:p>
            <a:pPr algn="ctr"/>
          </a:p>
        </p:txBody>
      </p:sp>
      <p:sp>
        <p:nvSpPr>
          <p:cNvPr id="30" name="TextBox 29"/>
          <p:cNvSpPr txBox="1"/>
          <p:nvPr/>
        </p:nvSpPr>
        <p:spPr>
          <a:xfrm>
            <a:off x="658368" y="5618861"/>
            <a:ext cx="10874959" cy="653923"/>
          </a:xfrm>
          <a:prstGeom prst="rect">
            <a:avLst/>
          </a:prstGeom>
          <a:noFill/>
        </p:spPr>
        <p:txBody>
          <a:bodyPr wrap="square" lIns="0" rIns="0" tIns="0" bIns="0" anchor="t">
            <a:noAutofit/>
          </a:bodyPr>
          <a:lstStyle/>
          <a:p>
            <a:pPr algn="l">
              <a:lnSpc>
                <a:spcPts val="1625"/>
              </a:lnSpc>
              <a:spcBef>
                <a:spcPts val="0"/>
              </a:spcBef>
              <a:spcAft>
                <a:spcPts val="0"/>
              </a:spcAft>
            </a:pPr>
            <a:r>
              <a:rPr sz="1250" b="1" i="0">
                <a:solidFill>
                  <a:srgbClr val="D4F94E"/>
                </a:solidFill>
                <a:latin typeface="Apple SD Gothic Neo"/>
                <a:ea typeface="Apple SD Gothic Neo"/>
              </a:rPr>
              <a:t>걸음 ② 동물실험계획서 작성 및 IACUC 심의 (규칙 + AI)</a:t>
            </a:r>
          </a:p>
          <a:p>
            <a:pPr algn="l">
              <a:lnSpc>
                <a:spcPts val="1562"/>
              </a:lnSpc>
              <a:spcBef>
                <a:spcPts val="400"/>
              </a:spcBef>
              <a:spcAft>
                <a:spcPts val="0"/>
              </a:spcAft>
            </a:pPr>
            <a:r>
              <a:rPr sz="1100" b="0" i="0">
                <a:solidFill>
                  <a:srgbClr val="FAF9F5"/>
                </a:solidFill>
                <a:latin typeface="Apple SD Gothic Neo"/>
                <a:ea typeface="Apple SD Gothic Neo"/>
              </a:rPr>
              <a:t>목적·필요성, 대체 시험 수행 여부, 마릿수 수준(적게·알맞게·많이)과 근거, 질환 모델의 고통등급(C/D)과 마취·진통·인도적 종료시점 숫자를 적어 제출하면 규칙 검사와 AI 윤리위원회가 승인 또는 보완을 판정합니다.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20 / 26</a:t>
            </a:r>
          </a:p>
        </p:txBody>
      </p:sp>
      <p:sp>
        <p:nvSpPr>
          <p:cNvPr id="7" name="Rounded Rectangle 6"/>
          <p:cNvSpPr/>
          <p:nvPr/>
        </p:nvSpPr>
        <p:spPr>
          <a:xfrm>
            <a:off x="457200" y="566928"/>
            <a:ext cx="3206471"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932151"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3 · 단계 3.2 전임상·동물실험 (2/2)</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동물을 줄이면 사람 시작 용량이 반으로 줄어드는 딜레마와 주력·백업 후보 확정</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대체 시험으로 희생 동물을 줄이고, 동물 무해용량(NOAEL)에서 사람 최대 안전 시작 용량(MRSD)을 직접 계산합니다.</a:t>
            </a:r>
          </a:p>
        </p:txBody>
      </p:sp>
      <p:sp>
        <p:nvSpPr>
          <p:cNvPr id="12" name="TextBox 11"/>
          <p:cNvSpPr txBox="1"/>
          <p:nvPr/>
        </p:nvSpPr>
        <p:spPr>
          <a:xfrm>
            <a:off x="457200" y="182549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걸음 ③ ~ ⑤ 핵심 구조</a:t>
            </a:r>
          </a:p>
        </p:txBody>
      </p:sp>
      <p:sp>
        <p:nvSpPr>
          <p:cNvPr id="13" name="Rounded Rectangle 12"/>
          <p:cNvSpPr/>
          <p:nvPr/>
        </p:nvSpPr>
        <p:spPr>
          <a:xfrm>
            <a:off x="457200" y="2064639"/>
            <a:ext cx="3200400" cy="2299208"/>
          </a:xfrm>
          <a:prstGeom prst="roundRect">
            <a:avLst>
              <a:gd name="adj" fmla="val 7954"/>
            </a:avLst>
          </a:prstGeom>
          <a:solidFill>
            <a:srgbClr val="FFFFFF"/>
          </a:solidFill>
          <a:ln>
            <a:noFill/>
          </a:ln>
        </p:spPr>
        <p:txBody>
          <a:bodyPr rtlCol="0" anchor="ctr"/>
          <a:lstStyle/>
          <a:p>
            <a:pPr algn="ctr"/>
          </a:p>
        </p:txBody>
      </p:sp>
      <p:sp>
        <p:nvSpPr>
          <p:cNvPr id="14" name="TextBox 13"/>
          <p:cNvSpPr txBox="1"/>
          <p:nvPr/>
        </p:nvSpPr>
        <p:spPr>
          <a:xfrm>
            <a:off x="658368" y="2265807"/>
            <a:ext cx="2798064" cy="1896872"/>
          </a:xfrm>
          <a:prstGeom prst="rect">
            <a:avLst/>
          </a:prstGeom>
          <a:noFill/>
        </p:spPr>
        <p:txBody>
          <a:bodyPr wrap="square" lIns="0" rIns="0" tIns="0" bIns="0" anchor="t">
            <a:noAutofit/>
          </a:bodyPr>
          <a:lstStyle/>
          <a:p>
            <a:pPr algn="l">
              <a:lnSpc>
                <a:spcPts val="1625"/>
              </a:lnSpc>
              <a:spcBef>
                <a:spcPts val="0"/>
              </a:spcBef>
              <a:spcAft>
                <a:spcPts val="0"/>
              </a:spcAft>
            </a:pPr>
            <a:r>
              <a:rPr sz="1250" b="1" i="0">
                <a:solidFill>
                  <a:srgbClr val="141413"/>
                </a:solidFill>
                <a:latin typeface="Apple SD Gothic Neo"/>
                <a:ea typeface="Apple SD Gothic Neo"/>
              </a:rPr>
              <a:t>걸음 ③ 대체 시험 먼저 (선택 · 동물 0마리)</a:t>
            </a:r>
          </a:p>
          <a:p>
            <a:pPr algn="l">
              <a:lnSpc>
                <a:spcPts val="1595"/>
              </a:lnSpc>
              <a:spcBef>
                <a:spcPts val="500"/>
              </a:spcBef>
              <a:spcAft>
                <a:spcPts val="0"/>
              </a:spcAft>
            </a:pPr>
            <a:r>
              <a:rPr sz="1100" b="0" i="0">
                <a:solidFill>
                  <a:srgbClr val="5C5B56"/>
                </a:solidFill>
                <a:latin typeface="Apple SD Gothic Neo"/>
                <a:ea typeface="Apple SD Gothic Neo"/>
              </a:rPr>
              <a:t>세포 hERG 패치클램프와 사람 간 오가노이드 독성 시험으로 위험 후보를 동물실험 전에 미리 빼낼 수 있습니다. 뺀 후보만큼 결과판에 '덜 쓴 동물 수'가 기록됩니다.</a:t>
            </a:r>
          </a:p>
        </p:txBody>
      </p:sp>
      <p:sp>
        <p:nvSpPr>
          <p:cNvPr id="15" name="Rounded Rectangle 14"/>
          <p:cNvSpPr/>
          <p:nvPr/>
        </p:nvSpPr>
        <p:spPr>
          <a:xfrm>
            <a:off x="3858768" y="2064639"/>
            <a:ext cx="7875727" cy="2299208"/>
          </a:xfrm>
          <a:prstGeom prst="roundRect">
            <a:avLst>
              <a:gd name="adj" fmla="val 7954"/>
            </a:avLst>
          </a:prstGeom>
          <a:solidFill>
            <a:srgbClr val="FFFFFF"/>
          </a:solidFill>
          <a:ln>
            <a:noFill/>
          </a:ln>
        </p:spPr>
        <p:txBody>
          <a:bodyPr rtlCol="0" anchor="ctr"/>
          <a:lstStyle/>
          <a:p>
            <a:pPr algn="ctr"/>
          </a:p>
        </p:txBody>
      </p:sp>
      <p:sp>
        <p:nvSpPr>
          <p:cNvPr id="16" name="TextBox 15"/>
          <p:cNvSpPr txBox="1"/>
          <p:nvPr/>
        </p:nvSpPr>
        <p:spPr>
          <a:xfrm>
            <a:off x="4059936" y="2247519"/>
            <a:ext cx="7473391" cy="468630"/>
          </a:xfrm>
          <a:prstGeom prst="rect">
            <a:avLst/>
          </a:prstGeom>
          <a:noFill/>
        </p:spPr>
        <p:txBody>
          <a:bodyPr wrap="square" lIns="0" rIns="0" tIns="0" bIns="0" anchor="t">
            <a:noAutofit/>
          </a:bodyPr>
          <a:lstStyle/>
          <a:p>
            <a:pPr algn="l">
              <a:lnSpc>
                <a:spcPts val="1625"/>
              </a:lnSpc>
              <a:spcBef>
                <a:spcPts val="0"/>
              </a:spcBef>
              <a:spcAft>
                <a:spcPts val="0"/>
              </a:spcAft>
            </a:pPr>
            <a:r>
              <a:rPr sz="1250" b="1" i="0">
                <a:solidFill>
                  <a:srgbClr val="141413"/>
                </a:solidFill>
                <a:latin typeface="Apple SD Gothic Neo"/>
                <a:ea typeface="Apple SD Gothic Neo"/>
              </a:rPr>
              <a:t>걸음 ④ 동물실험 묶음 실행과 '감소(Reduction) 원칙'의 숫자 체감</a:t>
            </a:r>
          </a:p>
          <a:p>
            <a:pPr algn="l">
              <a:lnSpc>
                <a:spcPts val="1448"/>
              </a:lnSpc>
              <a:spcBef>
                <a:spcPts val="400"/>
              </a:spcBef>
              <a:spcAft>
                <a:spcPts val="0"/>
              </a:spcAft>
            </a:pPr>
            <a:r>
              <a:rPr sz="1050" b="0" i="0">
                <a:solidFill>
                  <a:srgbClr val="5C5B56"/>
                </a:solidFill>
                <a:latin typeface="Apple SD Gothic Neo"/>
                <a:ea typeface="Apple SD Gothic Neo"/>
              </a:rPr>
              <a:t>특허 분자마다 약동학(PK) · 질환 모델 효력 · 28일 반복투여 독성(랫드·비글견 NOAEL) · 안전성약리를 수행합니다.</a:t>
            </a:r>
          </a:p>
        </p:txBody>
      </p:sp>
      <p:sp>
        <p:nvSpPr>
          <p:cNvPr id="17" name="Rounded Rectangle 16"/>
          <p:cNvSpPr/>
          <p:nvPr/>
        </p:nvSpPr>
        <p:spPr>
          <a:xfrm>
            <a:off x="4059936" y="2807589"/>
            <a:ext cx="1171717" cy="246888"/>
          </a:xfrm>
          <a:prstGeom prst="roundRect">
            <a:avLst>
              <a:gd name="adj" fmla="val 50000"/>
            </a:avLst>
          </a:prstGeom>
          <a:solidFill>
            <a:srgbClr val="E7E6DE"/>
          </a:solidFill>
          <a:ln>
            <a:noFill/>
          </a:ln>
        </p:spPr>
        <p:txBody>
          <a:bodyPr rtlCol="0" anchor="ctr"/>
          <a:lstStyle/>
          <a:p>
            <a:pPr algn="ctr"/>
          </a:p>
        </p:txBody>
      </p:sp>
      <p:sp>
        <p:nvSpPr>
          <p:cNvPr id="18" name="TextBox 17"/>
          <p:cNvSpPr txBox="1"/>
          <p:nvPr/>
        </p:nvSpPr>
        <p:spPr>
          <a:xfrm>
            <a:off x="4169664" y="2807589"/>
            <a:ext cx="997981" cy="246888"/>
          </a:xfrm>
          <a:prstGeom prst="rect">
            <a:avLst/>
          </a:prstGeom>
          <a:noFill/>
        </p:spPr>
        <p:txBody>
          <a:bodyPr wrap="square" lIns="0" rIns="0" tIns="0" bIns="0" anchor="ctr">
            <a:noAutofit/>
          </a:bodyPr>
          <a:lstStyle/>
          <a:p>
            <a:pPr algn="l">
              <a:lnSpc>
                <a:spcPts val="1235"/>
              </a:lnSpc>
              <a:spcBef>
                <a:spcPts val="0"/>
              </a:spcBef>
              <a:spcAft>
                <a:spcPts val="0"/>
              </a:spcAft>
            </a:pPr>
            <a:r>
              <a:rPr sz="950" b="1" i="0">
                <a:solidFill>
                  <a:srgbClr val="141413"/>
                </a:solidFill>
                <a:latin typeface="Apple SD Gothic Neo"/>
                <a:ea typeface="Apple SD Gothic Neo"/>
              </a:rPr>
              <a:t>마릿수 수준 딜레마</a:t>
            </a:r>
          </a:p>
        </p:txBody>
      </p:sp>
      <p:sp>
        <p:nvSpPr>
          <p:cNvPr id="19" name="Rounded Rectangle 18"/>
          <p:cNvSpPr/>
          <p:nvPr/>
        </p:nvSpPr>
        <p:spPr>
          <a:xfrm>
            <a:off x="4059936" y="3127629"/>
            <a:ext cx="7473391" cy="292608"/>
          </a:xfrm>
          <a:prstGeom prst="roundRect">
            <a:avLst>
              <a:gd name="adj" fmla="val 25000"/>
            </a:avLst>
          </a:prstGeom>
          <a:solidFill>
            <a:srgbClr val="FFD9D2"/>
          </a:solidFill>
          <a:ln>
            <a:noFill/>
          </a:ln>
        </p:spPr>
        <p:txBody>
          <a:bodyPr rtlCol="0" anchor="ctr"/>
          <a:lstStyle/>
          <a:p>
            <a:pPr algn="ctr"/>
          </a:p>
        </p:txBody>
      </p:sp>
      <p:sp>
        <p:nvSpPr>
          <p:cNvPr id="20" name="TextBox 19"/>
          <p:cNvSpPr txBox="1"/>
          <p:nvPr/>
        </p:nvSpPr>
        <p:spPr>
          <a:xfrm>
            <a:off x="4187952" y="3127629"/>
            <a:ext cx="1371600" cy="292608"/>
          </a:xfrm>
          <a:prstGeom prst="rect">
            <a:avLst/>
          </a:prstGeom>
          <a:noFill/>
        </p:spPr>
        <p:txBody>
          <a:bodyPr wrap="square" lIns="0" rIns="0" tIns="0" bIns="0" anchor="ctr">
            <a:noAutofit/>
          </a:bodyPr>
          <a:lstStyle/>
          <a:p>
            <a:pPr algn="l">
              <a:lnSpc>
                <a:spcPts val="1365"/>
              </a:lnSpc>
              <a:spcBef>
                <a:spcPts val="0"/>
              </a:spcBef>
              <a:spcAft>
                <a:spcPts val="0"/>
              </a:spcAft>
            </a:pPr>
            <a:r>
              <a:rPr sz="1050" b="1" i="0">
                <a:solidFill>
                  <a:srgbClr val="9E2F14"/>
                </a:solidFill>
                <a:latin typeface="Apple SD Gothic Neo"/>
                <a:ea typeface="Apple SD Gothic Neo"/>
              </a:rPr>
              <a:t>많이 (141마리)</a:t>
            </a:r>
          </a:p>
        </p:txBody>
      </p:sp>
      <p:sp>
        <p:nvSpPr>
          <p:cNvPr id="21" name="TextBox 20"/>
          <p:cNvSpPr txBox="1"/>
          <p:nvPr/>
        </p:nvSpPr>
        <p:spPr>
          <a:xfrm>
            <a:off x="5614416" y="3127629"/>
            <a:ext cx="5827471" cy="292608"/>
          </a:xfrm>
          <a:prstGeom prst="rect">
            <a:avLst/>
          </a:prstGeom>
          <a:noFill/>
        </p:spPr>
        <p:txBody>
          <a:bodyPr wrap="square" lIns="0" rIns="0" tIns="0" bIns="0" anchor="ctr">
            <a:noAutofit/>
          </a:bodyPr>
          <a:lstStyle/>
          <a:p>
            <a:pPr algn="l">
              <a:lnSpc>
                <a:spcPts val="1417"/>
              </a:lnSpc>
              <a:spcBef>
                <a:spcPts val="0"/>
              </a:spcBef>
              <a:spcAft>
                <a:spcPts val="0"/>
              </a:spcAft>
            </a:pPr>
            <a:r>
              <a:rPr sz="1050" b="0" i="0">
                <a:solidFill>
                  <a:srgbClr val="141413"/>
                </a:solidFill>
                <a:latin typeface="Apple SD Gothic Neo"/>
                <a:ea typeface="Apple SD Gothic Neo"/>
              </a:rPr>
              <a:t>추가로 얻는 안전 정보가 없어 계획서 심의에서 '근거 없는 과다'로 보완 요구</a:t>
            </a:r>
          </a:p>
        </p:txBody>
      </p:sp>
      <p:sp>
        <p:nvSpPr>
          <p:cNvPr id="22" name="Rounded Rectangle 21"/>
          <p:cNvSpPr/>
          <p:nvPr/>
        </p:nvSpPr>
        <p:spPr>
          <a:xfrm>
            <a:off x="4059936" y="3475101"/>
            <a:ext cx="7473391" cy="292608"/>
          </a:xfrm>
          <a:prstGeom prst="roundRect">
            <a:avLst>
              <a:gd name="adj" fmla="val 25000"/>
            </a:avLst>
          </a:prstGeom>
          <a:solidFill>
            <a:srgbClr val="E3F9A0"/>
          </a:solidFill>
          <a:ln>
            <a:noFill/>
          </a:ln>
        </p:spPr>
        <p:txBody>
          <a:bodyPr rtlCol="0" anchor="ctr"/>
          <a:lstStyle/>
          <a:p>
            <a:pPr algn="ctr"/>
          </a:p>
        </p:txBody>
      </p:sp>
      <p:sp>
        <p:nvSpPr>
          <p:cNvPr id="23" name="TextBox 22"/>
          <p:cNvSpPr txBox="1"/>
          <p:nvPr/>
        </p:nvSpPr>
        <p:spPr>
          <a:xfrm>
            <a:off x="4187952" y="3475101"/>
            <a:ext cx="1371600" cy="292608"/>
          </a:xfrm>
          <a:prstGeom prst="rect">
            <a:avLst/>
          </a:prstGeom>
          <a:noFill/>
        </p:spPr>
        <p:txBody>
          <a:bodyPr wrap="square" lIns="0" rIns="0" tIns="0" bIns="0" anchor="ctr">
            <a:noAutofit/>
          </a:bodyPr>
          <a:lstStyle/>
          <a:p>
            <a:pPr algn="l">
              <a:lnSpc>
                <a:spcPts val="1365"/>
              </a:lnSpc>
              <a:spcBef>
                <a:spcPts val="0"/>
              </a:spcBef>
              <a:spcAft>
                <a:spcPts val="0"/>
              </a:spcAft>
            </a:pPr>
            <a:r>
              <a:rPr sz="1050" b="1" i="0">
                <a:solidFill>
                  <a:srgbClr val="1E3A1E"/>
                </a:solidFill>
                <a:latin typeface="Apple SD Gothic Neo"/>
                <a:ea typeface="Apple SD Gothic Neo"/>
              </a:rPr>
              <a:t>알맞게 (82마리)</a:t>
            </a:r>
          </a:p>
        </p:txBody>
      </p:sp>
      <p:sp>
        <p:nvSpPr>
          <p:cNvPr id="24" name="TextBox 23"/>
          <p:cNvSpPr txBox="1"/>
          <p:nvPr/>
        </p:nvSpPr>
        <p:spPr>
          <a:xfrm>
            <a:off x="5614416" y="3475101"/>
            <a:ext cx="5827471" cy="292608"/>
          </a:xfrm>
          <a:prstGeom prst="rect">
            <a:avLst/>
          </a:prstGeom>
          <a:noFill/>
        </p:spPr>
        <p:txBody>
          <a:bodyPr wrap="square" lIns="0" rIns="0" tIns="0" bIns="0" anchor="ctr">
            <a:noAutofit/>
          </a:bodyPr>
          <a:lstStyle/>
          <a:p>
            <a:pPr algn="l">
              <a:lnSpc>
                <a:spcPts val="1417"/>
              </a:lnSpc>
              <a:spcBef>
                <a:spcPts val="0"/>
              </a:spcBef>
              <a:spcAft>
                <a:spcPts val="0"/>
              </a:spcAft>
            </a:pPr>
            <a:r>
              <a:rPr sz="1050" b="1" i="0">
                <a:solidFill>
                  <a:srgbClr val="141413"/>
                </a:solidFill>
                <a:latin typeface="Apple SD Gothic Neo"/>
                <a:ea typeface="Apple SD Gothic Neo"/>
              </a:rPr>
              <a:t>표준 안전계수 10 적용</a:t>
            </a:r>
          </a:p>
        </p:txBody>
      </p:sp>
      <p:sp>
        <p:nvSpPr>
          <p:cNvPr id="25" name="Rounded Rectangle 24"/>
          <p:cNvSpPr/>
          <p:nvPr/>
        </p:nvSpPr>
        <p:spPr>
          <a:xfrm>
            <a:off x="4059936" y="3822573"/>
            <a:ext cx="7473391" cy="469773"/>
          </a:xfrm>
          <a:prstGeom prst="roundRect">
            <a:avLst>
              <a:gd name="adj" fmla="val 15571"/>
            </a:avLst>
          </a:prstGeom>
          <a:solidFill>
            <a:srgbClr val="FFE7B8"/>
          </a:solidFill>
          <a:ln>
            <a:noFill/>
          </a:ln>
        </p:spPr>
        <p:txBody>
          <a:bodyPr rtlCol="0" anchor="ctr"/>
          <a:lstStyle/>
          <a:p>
            <a:pPr algn="ctr"/>
          </a:p>
        </p:txBody>
      </p:sp>
      <p:sp>
        <p:nvSpPr>
          <p:cNvPr id="26" name="TextBox 25"/>
          <p:cNvSpPr txBox="1"/>
          <p:nvPr/>
        </p:nvSpPr>
        <p:spPr>
          <a:xfrm>
            <a:off x="4187952" y="3822573"/>
            <a:ext cx="1371600" cy="469773"/>
          </a:xfrm>
          <a:prstGeom prst="rect">
            <a:avLst/>
          </a:prstGeom>
          <a:noFill/>
        </p:spPr>
        <p:txBody>
          <a:bodyPr wrap="square" lIns="0" rIns="0" tIns="0" bIns="0" anchor="ctr">
            <a:noAutofit/>
          </a:bodyPr>
          <a:lstStyle/>
          <a:p>
            <a:pPr algn="l">
              <a:lnSpc>
                <a:spcPts val="1365"/>
              </a:lnSpc>
              <a:spcBef>
                <a:spcPts val="0"/>
              </a:spcBef>
              <a:spcAft>
                <a:spcPts val="0"/>
              </a:spcAft>
            </a:pPr>
            <a:r>
              <a:rPr sz="1050" b="1" i="0">
                <a:solidFill>
                  <a:srgbClr val="7A4F00"/>
                </a:solidFill>
                <a:latin typeface="Apple SD Gothic Neo"/>
                <a:ea typeface="Apple SD Gothic Neo"/>
              </a:rPr>
              <a:t>적게 (46마리)</a:t>
            </a:r>
          </a:p>
        </p:txBody>
      </p:sp>
      <p:sp>
        <p:nvSpPr>
          <p:cNvPr id="27" name="TextBox 26"/>
          <p:cNvSpPr txBox="1"/>
          <p:nvPr/>
        </p:nvSpPr>
        <p:spPr>
          <a:xfrm>
            <a:off x="5614416" y="3822573"/>
            <a:ext cx="5827471" cy="469773"/>
          </a:xfrm>
          <a:prstGeom prst="rect">
            <a:avLst/>
          </a:prstGeom>
          <a:noFill/>
        </p:spPr>
        <p:txBody>
          <a:bodyPr wrap="square" lIns="0" rIns="0" tIns="0" bIns="0" anchor="ctr">
            <a:noAutofit/>
          </a:bodyPr>
          <a:lstStyle/>
          <a:p>
            <a:pPr algn="l">
              <a:lnSpc>
                <a:spcPts val="1417"/>
              </a:lnSpc>
              <a:spcBef>
                <a:spcPts val="0"/>
              </a:spcBef>
              <a:spcAft>
                <a:spcPts val="0"/>
              </a:spcAft>
            </a:pPr>
            <a:r>
              <a:rPr sz="1050" b="0" i="0">
                <a:solidFill>
                  <a:srgbClr val="141413"/>
                </a:solidFill>
                <a:latin typeface="Apple SD Gothic Neo"/>
                <a:ea typeface="Apple SD Gothic Neo"/>
              </a:rPr>
              <a:t>자료 불확실성 때문에 FDA 지침에 따라 안전계수가 10 → 20으로 상승 → 사람에게 줄 수 있는 최대 안전 시작 용량(MRSD)이 절반으로 줄어들어 3.3에서 고용량을 쓸 수 없게 됨</a:t>
            </a:r>
          </a:p>
        </p:txBody>
      </p:sp>
      <p:sp>
        <p:nvSpPr>
          <p:cNvPr id="28" name="Rounded Rectangle 27"/>
          <p:cNvSpPr/>
          <p:nvPr/>
        </p:nvSpPr>
        <p:spPr>
          <a:xfrm>
            <a:off x="457200" y="4528439"/>
            <a:ext cx="11277295" cy="962406"/>
          </a:xfrm>
          <a:prstGeom prst="roundRect">
            <a:avLst>
              <a:gd name="adj" fmla="val 19002"/>
            </a:avLst>
          </a:prstGeom>
          <a:solidFill>
            <a:srgbClr val="1E3A1E"/>
          </a:solidFill>
          <a:ln>
            <a:noFill/>
          </a:ln>
        </p:spPr>
        <p:txBody>
          <a:bodyPr rtlCol="0" anchor="ctr"/>
          <a:lstStyle/>
          <a:p>
            <a:pPr algn="ctr"/>
          </a:p>
        </p:txBody>
      </p:sp>
      <p:sp>
        <p:nvSpPr>
          <p:cNvPr id="29" name="TextBox 28"/>
          <p:cNvSpPr txBox="1"/>
          <p:nvPr/>
        </p:nvSpPr>
        <p:spPr>
          <a:xfrm>
            <a:off x="685800" y="4528439"/>
            <a:ext cx="2377440" cy="962406"/>
          </a:xfrm>
          <a:prstGeom prst="rect">
            <a:avLst/>
          </a:prstGeom>
          <a:noFill/>
        </p:spPr>
        <p:txBody>
          <a:bodyPr wrap="square" lIns="0" rIns="0" tIns="0" bIns="0" anchor="ctr">
            <a:noAutofit/>
          </a:bodyPr>
          <a:lstStyle/>
          <a:p>
            <a:pPr algn="l">
              <a:lnSpc>
                <a:spcPts val="1495"/>
              </a:lnSpc>
              <a:spcBef>
                <a:spcPts val="0"/>
              </a:spcBef>
              <a:spcAft>
                <a:spcPts val="0"/>
              </a:spcAft>
            </a:pPr>
            <a:r>
              <a:rPr sz="1150" b="1" i="0">
                <a:solidFill>
                  <a:srgbClr val="D4F94E"/>
                </a:solidFill>
                <a:latin typeface="Apple SD Gothic Neo"/>
                <a:ea typeface="Apple SD Gothic Neo"/>
              </a:rPr>
              <a:t>NOAEL → HED → MRSD 학생 직접 계산 (FDA 2005 지침 공식)</a:t>
            </a:r>
          </a:p>
        </p:txBody>
      </p:sp>
      <p:sp>
        <p:nvSpPr>
          <p:cNvPr id="30" name="Rounded Rectangle 29"/>
          <p:cNvSpPr/>
          <p:nvPr/>
        </p:nvSpPr>
        <p:spPr>
          <a:xfrm>
            <a:off x="3108960" y="4693031"/>
            <a:ext cx="2555138" cy="633222"/>
          </a:xfrm>
          <a:prstGeom prst="roundRect">
            <a:avLst>
              <a:gd name="adj" fmla="val 20216"/>
            </a:avLst>
          </a:prstGeom>
          <a:solidFill>
            <a:srgbClr val="FFFFFF"/>
          </a:solidFill>
          <a:ln>
            <a:noFill/>
          </a:ln>
        </p:spPr>
        <p:txBody>
          <a:bodyPr rtlCol="0" anchor="ctr"/>
          <a:lstStyle/>
          <a:p>
            <a:pPr algn="ctr"/>
          </a:p>
        </p:txBody>
      </p:sp>
      <p:sp>
        <p:nvSpPr>
          <p:cNvPr id="31" name="TextBox 30"/>
          <p:cNvSpPr txBox="1"/>
          <p:nvPr/>
        </p:nvSpPr>
        <p:spPr>
          <a:xfrm>
            <a:off x="3236976" y="4821047"/>
            <a:ext cx="2299106" cy="377190"/>
          </a:xfrm>
          <a:prstGeom prst="rect">
            <a:avLst/>
          </a:prstGeom>
          <a:noFill/>
        </p:spPr>
        <p:txBody>
          <a:bodyPr wrap="square" lIns="0" rIns="0" tIns="0" bIns="0" anchor="ctr">
            <a:noAutofit/>
          </a:bodyPr>
          <a:lstStyle/>
          <a:p>
            <a:pPr algn="ctr">
              <a:lnSpc>
                <a:spcPts val="1485"/>
              </a:lnSpc>
              <a:spcBef>
                <a:spcPts val="0"/>
              </a:spcBef>
              <a:spcAft>
                <a:spcPts val="0"/>
              </a:spcAft>
            </a:pPr>
            <a:r>
              <a:rPr sz="1100" b="0" i="0">
                <a:solidFill>
                  <a:srgbClr val="141413"/>
                </a:solidFill>
                <a:latin typeface="Apple SD Gothic Neo"/>
                <a:ea typeface="Apple SD Gothic Neo"/>
              </a:rPr>
              <a:t>인간 등가용량 HED(mg/kg) = 동물 NOAEL ÷ 환산 계수(랫드 6.2 · 개 1.8)</a:t>
            </a:r>
          </a:p>
        </p:txBody>
      </p:sp>
      <p:sp>
        <p:nvSpPr>
          <p:cNvPr id="32" name="Chevron 31"/>
          <p:cNvSpPr/>
          <p:nvPr/>
        </p:nvSpPr>
        <p:spPr>
          <a:xfrm>
            <a:off x="5773826" y="4872482"/>
            <a:ext cx="146304" cy="274320"/>
          </a:xfrm>
          <a:prstGeom prst="chevron">
            <a:avLst/>
          </a:prstGeom>
          <a:solidFill>
            <a:srgbClr val="D4F94E"/>
          </a:solidFill>
          <a:ln>
            <a:noFill/>
          </a:ln>
        </p:spPr>
        <p:txBody>
          <a:bodyPr rtlCol="0" anchor="ctr"/>
          <a:lstStyle/>
          <a:p>
            <a:pPr algn="ctr"/>
          </a:p>
        </p:txBody>
      </p:sp>
      <p:sp>
        <p:nvSpPr>
          <p:cNvPr id="33" name="Rounded Rectangle 32"/>
          <p:cNvSpPr/>
          <p:nvPr/>
        </p:nvSpPr>
        <p:spPr>
          <a:xfrm>
            <a:off x="6029858" y="4693031"/>
            <a:ext cx="2555138" cy="633222"/>
          </a:xfrm>
          <a:prstGeom prst="roundRect">
            <a:avLst>
              <a:gd name="adj" fmla="val 20216"/>
            </a:avLst>
          </a:prstGeom>
          <a:solidFill>
            <a:srgbClr val="FFFFFF"/>
          </a:solidFill>
          <a:ln>
            <a:noFill/>
          </a:ln>
        </p:spPr>
        <p:txBody>
          <a:bodyPr rtlCol="0" anchor="ctr"/>
          <a:lstStyle/>
          <a:p>
            <a:pPr algn="ctr"/>
          </a:p>
        </p:txBody>
      </p:sp>
      <p:sp>
        <p:nvSpPr>
          <p:cNvPr id="34" name="TextBox 33"/>
          <p:cNvSpPr txBox="1"/>
          <p:nvPr/>
        </p:nvSpPr>
        <p:spPr>
          <a:xfrm>
            <a:off x="6157874" y="4821047"/>
            <a:ext cx="2299106" cy="377190"/>
          </a:xfrm>
          <a:prstGeom prst="rect">
            <a:avLst/>
          </a:prstGeom>
          <a:noFill/>
        </p:spPr>
        <p:txBody>
          <a:bodyPr wrap="square" lIns="0" rIns="0" tIns="0" bIns="0" anchor="ctr">
            <a:noAutofit/>
          </a:bodyPr>
          <a:lstStyle/>
          <a:p>
            <a:pPr algn="ctr">
              <a:lnSpc>
                <a:spcPts val="1485"/>
              </a:lnSpc>
              <a:spcBef>
                <a:spcPts val="0"/>
              </a:spcBef>
              <a:spcAft>
                <a:spcPts val="0"/>
              </a:spcAft>
            </a:pPr>
            <a:r>
              <a:rPr sz="1100" b="0" i="0">
                <a:solidFill>
                  <a:srgbClr val="141413"/>
                </a:solidFill>
                <a:latin typeface="Apple SD Gothic Neo"/>
                <a:ea typeface="Apple SD Gothic Neo"/>
              </a:rPr>
              <a:t>더 민감한 종의 HED 선택</a:t>
            </a:r>
          </a:p>
        </p:txBody>
      </p:sp>
      <p:sp>
        <p:nvSpPr>
          <p:cNvPr id="35" name="Chevron 34"/>
          <p:cNvSpPr/>
          <p:nvPr/>
        </p:nvSpPr>
        <p:spPr>
          <a:xfrm>
            <a:off x="8694725" y="4872482"/>
            <a:ext cx="146304" cy="274320"/>
          </a:xfrm>
          <a:prstGeom prst="chevron">
            <a:avLst/>
          </a:prstGeom>
          <a:solidFill>
            <a:srgbClr val="D4F94E"/>
          </a:solidFill>
          <a:ln>
            <a:noFill/>
          </a:ln>
        </p:spPr>
        <p:txBody>
          <a:bodyPr rtlCol="0" anchor="ctr"/>
          <a:lstStyle/>
          <a:p>
            <a:pPr algn="ctr"/>
          </a:p>
        </p:txBody>
      </p:sp>
      <p:sp>
        <p:nvSpPr>
          <p:cNvPr id="36" name="Rounded Rectangle 35"/>
          <p:cNvSpPr/>
          <p:nvPr/>
        </p:nvSpPr>
        <p:spPr>
          <a:xfrm>
            <a:off x="8950757" y="4693031"/>
            <a:ext cx="2555138" cy="633222"/>
          </a:xfrm>
          <a:prstGeom prst="roundRect">
            <a:avLst>
              <a:gd name="adj" fmla="val 20216"/>
            </a:avLst>
          </a:prstGeom>
          <a:solidFill>
            <a:srgbClr val="D4F94E"/>
          </a:solidFill>
          <a:ln>
            <a:noFill/>
          </a:ln>
        </p:spPr>
        <p:txBody>
          <a:bodyPr rtlCol="0" anchor="ctr"/>
          <a:lstStyle/>
          <a:p>
            <a:pPr algn="ctr"/>
          </a:p>
        </p:txBody>
      </p:sp>
      <p:sp>
        <p:nvSpPr>
          <p:cNvPr id="37" name="TextBox 36"/>
          <p:cNvSpPr txBox="1"/>
          <p:nvPr/>
        </p:nvSpPr>
        <p:spPr>
          <a:xfrm>
            <a:off x="9078773" y="4821047"/>
            <a:ext cx="2299106" cy="377190"/>
          </a:xfrm>
          <a:prstGeom prst="rect">
            <a:avLst/>
          </a:prstGeom>
          <a:noFill/>
        </p:spPr>
        <p:txBody>
          <a:bodyPr wrap="square" lIns="0" rIns="0" tIns="0" bIns="0" anchor="ctr">
            <a:noAutofit/>
          </a:bodyPr>
          <a:lstStyle/>
          <a:p>
            <a:pPr algn="ctr">
              <a:lnSpc>
                <a:spcPts val="1485"/>
              </a:lnSpc>
              <a:spcBef>
                <a:spcPts val="0"/>
              </a:spcBef>
              <a:spcAft>
                <a:spcPts val="0"/>
              </a:spcAft>
            </a:pPr>
            <a:r>
              <a:rPr sz="1100" b="1" i="0">
                <a:solidFill>
                  <a:srgbClr val="141413"/>
                </a:solidFill>
                <a:latin typeface="Apple SD Gothic Neo"/>
                <a:ea typeface="Apple SD Gothic Neo"/>
              </a:rPr>
              <a:t>MRSD(mg) = (HED ÷ 안전계수) × 성인 60 kg</a:t>
            </a:r>
          </a:p>
        </p:txBody>
      </p:sp>
      <p:sp>
        <p:nvSpPr>
          <p:cNvPr id="38" name="Rounded Rectangle 37"/>
          <p:cNvSpPr/>
          <p:nvPr/>
        </p:nvSpPr>
        <p:spPr>
          <a:xfrm>
            <a:off x="457200" y="5655437"/>
            <a:ext cx="11277295" cy="818515"/>
          </a:xfrm>
          <a:prstGeom prst="roundRect">
            <a:avLst>
              <a:gd name="adj" fmla="val 22342"/>
            </a:avLst>
          </a:prstGeom>
          <a:solidFill>
            <a:srgbClr val="FFFFFF"/>
          </a:solidFill>
          <a:ln>
            <a:noFill/>
          </a:ln>
        </p:spPr>
        <p:txBody>
          <a:bodyPr rtlCol="0" anchor="ctr"/>
          <a:lstStyle/>
          <a:p>
            <a:pPr algn="ctr"/>
          </a:p>
        </p:txBody>
      </p:sp>
      <p:sp>
        <p:nvSpPr>
          <p:cNvPr id="39" name="TextBox 38"/>
          <p:cNvSpPr txBox="1"/>
          <p:nvPr/>
        </p:nvSpPr>
        <p:spPr>
          <a:xfrm>
            <a:off x="640080" y="5838317"/>
            <a:ext cx="10911535" cy="452755"/>
          </a:xfrm>
          <a:prstGeom prst="rect">
            <a:avLst/>
          </a:prstGeom>
          <a:noFill/>
        </p:spPr>
        <p:txBody>
          <a:bodyPr wrap="square" lIns="0" rIns="0" tIns="0" bIns="0" anchor="t">
            <a:noAutofit/>
          </a:bodyPr>
          <a:lstStyle/>
          <a:p>
            <a:pPr algn="l">
              <a:lnSpc>
                <a:spcPts val="1625"/>
              </a:lnSpc>
              <a:spcBef>
                <a:spcPts val="0"/>
              </a:spcBef>
              <a:spcAft>
                <a:spcPts val="0"/>
              </a:spcAft>
            </a:pPr>
            <a:r>
              <a:rPr sz="1250" b="1" i="0">
                <a:solidFill>
                  <a:srgbClr val="141413"/>
                </a:solidFill>
                <a:latin typeface="Apple SD Gothic Neo"/>
                <a:ea typeface="Apple SD Gothic Neo"/>
              </a:rPr>
              <a:t>걸음 ⑤ 한 번 더 고르기 (주력 1 + 백업 0~1 지정)</a:t>
            </a:r>
          </a:p>
          <a:p>
            <a:pPr algn="l">
              <a:lnSpc>
                <a:spcPts val="1539"/>
              </a:lnSpc>
              <a:spcBef>
                <a:spcPts val="400"/>
              </a:spcBef>
              <a:spcAft>
                <a:spcPts val="0"/>
              </a:spcAft>
            </a:pPr>
            <a:r>
              <a:rPr sz="1100" b="0" i="0">
                <a:solidFill>
                  <a:srgbClr val="5C5B56"/>
                </a:solidFill>
                <a:latin typeface="Apple SD Gothic Neo"/>
                <a:ea typeface="Apple SD Gothic Neo"/>
              </a:rPr>
              <a:t>전임상 결과판(생체이용률 F%, 효력 %, 종별 NOAEL, 주요 독성 소견, 제형별 MRSD)을 비교해 임상에 투입할 주력 리드 1개와 백업 후보 1개를 근거 칩과 함께 최종 지정합니다.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21 / 26</a:t>
            </a:r>
          </a:p>
        </p:txBody>
      </p:sp>
      <p:sp>
        <p:nvSpPr>
          <p:cNvPr id="7" name="Rounded Rectangle 6"/>
          <p:cNvSpPr/>
          <p:nvPr/>
        </p:nvSpPr>
        <p:spPr>
          <a:xfrm>
            <a:off x="457200" y="566928"/>
            <a:ext cx="2669821"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395501"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3 · 단계 3.3 제형·IND 신청</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"사람에게 처음 시험해 봐도 될까요?" — 6종 도구로 설계해 내는 IND 신청서</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알약·주사·패치 중 어떤 제형으로, 몇 mg부터(≤ MRSD), 누구에게 투여하고 무엇을 잴지 설계해 식약처·FDA 심사를 받습니다.</a:t>
            </a:r>
          </a:p>
        </p:txBody>
      </p:sp>
      <p:sp>
        <p:nvSpPr>
          <p:cNvPr id="12" name="TextBox 11"/>
          <p:cNvSpPr txBox="1"/>
          <p:nvPr/>
        </p:nvSpPr>
        <p:spPr>
          <a:xfrm>
            <a:off x="457200" y="1825498"/>
            <a:ext cx="6446520"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내 작업대 도구 6종 (시안 6.02 ~ 6.07)</a:t>
            </a:r>
          </a:p>
        </p:txBody>
      </p:sp>
      <p:sp>
        <p:nvSpPr>
          <p:cNvPr id="13" name="Rounded Rectangle 12"/>
          <p:cNvSpPr/>
          <p:nvPr/>
        </p:nvSpPr>
        <p:spPr>
          <a:xfrm>
            <a:off x="457200" y="2064639"/>
            <a:ext cx="3140964" cy="2122360"/>
          </a:xfrm>
          <a:prstGeom prst="roundRect">
            <a:avLst>
              <a:gd name="adj" fmla="val 7755"/>
            </a:avLst>
          </a:prstGeom>
          <a:solidFill>
            <a:srgbClr val="FFFFFF"/>
          </a:solidFill>
          <a:ln>
            <a:noFill/>
          </a:ln>
        </p:spPr>
        <p:txBody>
          <a:bodyPr rtlCol="0" anchor="ctr"/>
          <a:lstStyle/>
          <a:p>
            <a:pPr algn="ctr"/>
          </a:p>
        </p:txBody>
      </p:sp>
      <p:sp>
        <p:nvSpPr>
          <p:cNvPr id="14" name="Rounded Rectangle 13"/>
          <p:cNvSpPr/>
          <p:nvPr/>
        </p:nvSpPr>
        <p:spPr>
          <a:xfrm>
            <a:off x="640080" y="2265807"/>
            <a:ext cx="64008" cy="274320"/>
          </a:xfrm>
          <a:prstGeom prst="roundRect">
            <a:avLst>
              <a:gd name="adj" fmla="val 42857"/>
            </a:avLst>
          </a:prstGeom>
          <a:solidFill>
            <a:srgbClr val="D4F94E"/>
          </a:solidFill>
          <a:ln>
            <a:noFill/>
          </a:ln>
        </p:spPr>
        <p:txBody>
          <a:bodyPr rtlCol="0" anchor="ctr"/>
          <a:lstStyle/>
          <a:p>
            <a:pPr algn="ctr"/>
          </a:p>
        </p:txBody>
      </p:sp>
      <p:sp>
        <p:nvSpPr>
          <p:cNvPr id="15" name="TextBox 14"/>
          <p:cNvSpPr txBox="1"/>
          <p:nvPr/>
        </p:nvSpPr>
        <p:spPr>
          <a:xfrm>
            <a:off x="804672" y="2229231"/>
            <a:ext cx="2628900" cy="396240"/>
          </a:xfrm>
          <a:prstGeom prst="rect">
            <a:avLst/>
          </a:prstGeom>
          <a:noFill/>
        </p:spPr>
        <p:txBody>
          <a:bodyPr wrap="square" lIns="0" rIns="0" tIns="0" bIns="0" anchor="ctr">
            <a:noAutofit/>
          </a:bodyPr>
          <a:lstStyle/>
          <a:p>
            <a:pPr algn="l">
              <a:lnSpc>
                <a:spcPts val="1560"/>
              </a:lnSpc>
              <a:spcBef>
                <a:spcPts val="0"/>
              </a:spcBef>
              <a:spcAft>
                <a:spcPts val="0"/>
              </a:spcAft>
            </a:pPr>
            <a:r>
              <a:rPr sz="1200" b="1" i="0">
                <a:solidFill>
                  <a:srgbClr val="141413"/>
                </a:solidFill>
                <a:latin typeface="Apple SD Gothic Neo"/>
                <a:ea typeface="Apple SD Gothic Neo"/>
              </a:rPr>
              <a:t>what-if 실험실 (6.05)</a:t>
            </a:r>
          </a:p>
        </p:txBody>
      </p:sp>
      <p:sp>
        <p:nvSpPr>
          <p:cNvPr id="16" name="TextBox 15"/>
          <p:cNvSpPr txBox="1"/>
          <p:nvPr/>
        </p:nvSpPr>
        <p:spPr>
          <a:xfrm>
            <a:off x="640080" y="2735199"/>
            <a:ext cx="2775204" cy="1342073"/>
          </a:xfrm>
          <a:prstGeom prst="rect">
            <a:avLst/>
          </a:prstGeom>
          <a:noFill/>
        </p:spPr>
        <p:txBody>
          <a:bodyPr wrap="square" lIns="0" rIns="0" tIns="0" bIns="0" anchor="t">
            <a:noAutofit/>
          </a:bodyPr>
          <a:lstStyle/>
          <a:p>
            <a:pPr algn="l">
              <a:lnSpc>
                <a:spcPts val="1595"/>
              </a:lnSpc>
              <a:spcBef>
                <a:spcPts val="0"/>
              </a:spcBef>
              <a:spcAft>
                <a:spcPts val="0"/>
              </a:spcAft>
            </a:pPr>
            <a:r>
              <a:rPr sz="1100" b="0" i="0">
                <a:solidFill>
                  <a:srgbClr val="5C5B56"/>
                </a:solidFill>
                <a:latin typeface="Apple SD Gothic Neo"/>
                <a:ea typeface="Apple SD Gothic Neo"/>
              </a:rPr>
              <a:t>제형(경구·정맥·경피) · 용량(10·50·100 mg) · 후보(주력/백업) · 환자군을 바꿔 보며 예상 효능(E)·안전(S)과 그 제형의 MRSD 한계선을 확인합니다.</a:t>
            </a:r>
          </a:p>
        </p:txBody>
      </p:sp>
      <p:sp>
        <p:nvSpPr>
          <p:cNvPr id="17" name="Rounded Rectangle 16"/>
          <p:cNvSpPr/>
          <p:nvPr/>
        </p:nvSpPr>
        <p:spPr>
          <a:xfrm>
            <a:off x="3762756" y="2064639"/>
            <a:ext cx="3140964" cy="2122360"/>
          </a:xfrm>
          <a:prstGeom prst="roundRect">
            <a:avLst>
              <a:gd name="adj" fmla="val 7755"/>
            </a:avLst>
          </a:prstGeom>
          <a:solidFill>
            <a:srgbClr val="FFFFFF"/>
          </a:solidFill>
          <a:ln>
            <a:noFill/>
          </a:ln>
        </p:spPr>
        <p:txBody>
          <a:bodyPr rtlCol="0" anchor="ctr"/>
          <a:lstStyle/>
          <a:p>
            <a:pPr algn="ctr"/>
          </a:p>
        </p:txBody>
      </p:sp>
      <p:sp>
        <p:nvSpPr>
          <p:cNvPr id="18" name="Rounded Rectangle 17"/>
          <p:cNvSpPr/>
          <p:nvPr/>
        </p:nvSpPr>
        <p:spPr>
          <a:xfrm>
            <a:off x="3945636" y="2265807"/>
            <a:ext cx="64008" cy="274320"/>
          </a:xfrm>
          <a:prstGeom prst="roundRect">
            <a:avLst>
              <a:gd name="adj" fmla="val 42857"/>
            </a:avLst>
          </a:prstGeom>
          <a:solidFill>
            <a:srgbClr val="FFB21A"/>
          </a:solidFill>
          <a:ln>
            <a:noFill/>
          </a:ln>
        </p:spPr>
        <p:txBody>
          <a:bodyPr rtlCol="0" anchor="ctr"/>
          <a:lstStyle/>
          <a:p>
            <a:pPr algn="ctr"/>
          </a:p>
        </p:txBody>
      </p:sp>
      <p:sp>
        <p:nvSpPr>
          <p:cNvPr id="19" name="TextBox 18"/>
          <p:cNvSpPr txBox="1"/>
          <p:nvPr/>
        </p:nvSpPr>
        <p:spPr>
          <a:xfrm>
            <a:off x="4110228" y="2229231"/>
            <a:ext cx="2628900" cy="396240"/>
          </a:xfrm>
          <a:prstGeom prst="rect">
            <a:avLst/>
          </a:prstGeom>
          <a:noFill/>
        </p:spPr>
        <p:txBody>
          <a:bodyPr wrap="square" lIns="0" rIns="0" tIns="0" bIns="0" anchor="ctr">
            <a:noAutofit/>
          </a:bodyPr>
          <a:lstStyle/>
          <a:p>
            <a:pPr algn="l">
              <a:lnSpc>
                <a:spcPts val="1560"/>
              </a:lnSpc>
              <a:spcBef>
                <a:spcPts val="0"/>
              </a:spcBef>
              <a:spcAft>
                <a:spcPts val="0"/>
              </a:spcAft>
            </a:pPr>
            <a:r>
              <a:rPr sz="1200" b="1" i="0">
                <a:solidFill>
                  <a:srgbClr val="141413"/>
                </a:solidFill>
                <a:latin typeface="Apple SD Gothic Neo"/>
                <a:ea typeface="Apple SD Gothic Neo"/>
              </a:rPr>
              <a:t>효능·안전 시소 (6.04)</a:t>
            </a:r>
          </a:p>
        </p:txBody>
      </p:sp>
      <p:sp>
        <p:nvSpPr>
          <p:cNvPr id="20" name="TextBox 19"/>
          <p:cNvSpPr txBox="1"/>
          <p:nvPr/>
        </p:nvSpPr>
        <p:spPr>
          <a:xfrm>
            <a:off x="3945636" y="2735199"/>
            <a:ext cx="2775204" cy="1342073"/>
          </a:xfrm>
          <a:prstGeom prst="rect">
            <a:avLst/>
          </a:prstGeom>
          <a:noFill/>
        </p:spPr>
        <p:txBody>
          <a:bodyPr wrap="square" lIns="0" rIns="0" tIns="0" bIns="0" anchor="t">
            <a:noAutofit/>
          </a:bodyPr>
          <a:lstStyle/>
          <a:p>
            <a:pPr algn="l">
              <a:lnSpc>
                <a:spcPts val="1595"/>
              </a:lnSpc>
              <a:spcBef>
                <a:spcPts val="0"/>
              </a:spcBef>
              <a:spcAft>
                <a:spcPts val="0"/>
              </a:spcAft>
            </a:pPr>
            <a:r>
              <a:rPr sz="1100" b="0" i="0">
                <a:solidFill>
                  <a:srgbClr val="5C5B56"/>
                </a:solidFill>
                <a:latin typeface="Apple SD Gothic Neo"/>
                <a:ea typeface="Apple SD Gothic Neo"/>
              </a:rPr>
              <a:t>용량을 올리면 효능 E는 오르고 안전 S는 내려가는 맞바꿈(Trade-off) 관계를 보여 줍니다.</a:t>
            </a:r>
          </a:p>
        </p:txBody>
      </p:sp>
      <p:sp>
        <p:nvSpPr>
          <p:cNvPr id="21" name="Rounded Rectangle 20"/>
          <p:cNvSpPr/>
          <p:nvPr/>
        </p:nvSpPr>
        <p:spPr>
          <a:xfrm>
            <a:off x="457200" y="4351592"/>
            <a:ext cx="3140964" cy="2122360"/>
          </a:xfrm>
          <a:prstGeom prst="roundRect">
            <a:avLst>
              <a:gd name="adj" fmla="val 7755"/>
            </a:avLst>
          </a:prstGeom>
          <a:solidFill>
            <a:srgbClr val="FFFFFF"/>
          </a:solidFill>
          <a:ln>
            <a:noFill/>
          </a:ln>
        </p:spPr>
        <p:txBody>
          <a:bodyPr rtlCol="0" anchor="ctr"/>
          <a:lstStyle/>
          <a:p>
            <a:pPr algn="ctr"/>
          </a:p>
        </p:txBody>
      </p:sp>
      <p:sp>
        <p:nvSpPr>
          <p:cNvPr id="22" name="Rounded Rectangle 21"/>
          <p:cNvSpPr/>
          <p:nvPr/>
        </p:nvSpPr>
        <p:spPr>
          <a:xfrm>
            <a:off x="640080" y="4552760"/>
            <a:ext cx="64008" cy="274320"/>
          </a:xfrm>
          <a:prstGeom prst="roundRect">
            <a:avLst>
              <a:gd name="adj" fmla="val 42857"/>
            </a:avLst>
          </a:prstGeom>
          <a:solidFill>
            <a:srgbClr val="7FB8FF"/>
          </a:solidFill>
          <a:ln>
            <a:noFill/>
          </a:ln>
        </p:spPr>
        <p:txBody>
          <a:bodyPr rtlCol="0" anchor="ctr"/>
          <a:lstStyle/>
          <a:p>
            <a:pPr algn="ctr"/>
          </a:p>
        </p:txBody>
      </p:sp>
      <p:sp>
        <p:nvSpPr>
          <p:cNvPr id="23" name="TextBox 22"/>
          <p:cNvSpPr txBox="1"/>
          <p:nvPr/>
        </p:nvSpPr>
        <p:spPr>
          <a:xfrm>
            <a:off x="804672" y="4516184"/>
            <a:ext cx="2628900" cy="396240"/>
          </a:xfrm>
          <a:prstGeom prst="rect">
            <a:avLst/>
          </a:prstGeom>
          <a:noFill/>
        </p:spPr>
        <p:txBody>
          <a:bodyPr wrap="square" lIns="0" rIns="0" tIns="0" bIns="0" anchor="ctr">
            <a:noAutofit/>
          </a:bodyPr>
          <a:lstStyle/>
          <a:p>
            <a:pPr algn="l">
              <a:lnSpc>
                <a:spcPts val="1560"/>
              </a:lnSpc>
              <a:spcBef>
                <a:spcPts val="0"/>
              </a:spcBef>
              <a:spcAft>
                <a:spcPts val="0"/>
              </a:spcAft>
            </a:pPr>
            <a:r>
              <a:rPr sz="1200" b="1" i="0">
                <a:solidFill>
                  <a:srgbClr val="141413"/>
                </a:solidFill>
                <a:latin typeface="Apple SD Gothic Neo"/>
                <a:ea typeface="Apple SD Gothic Neo"/>
              </a:rPr>
              <a:t>피크 곡선 (6.06) &amp; 용량-반응 3장 (6.07)</a:t>
            </a:r>
          </a:p>
        </p:txBody>
      </p:sp>
      <p:sp>
        <p:nvSpPr>
          <p:cNvPr id="24" name="TextBox 23"/>
          <p:cNvSpPr txBox="1"/>
          <p:nvPr/>
        </p:nvSpPr>
        <p:spPr>
          <a:xfrm>
            <a:off x="640080" y="5022152"/>
            <a:ext cx="2775204" cy="1342073"/>
          </a:xfrm>
          <a:prstGeom prst="rect">
            <a:avLst/>
          </a:prstGeom>
          <a:noFill/>
        </p:spPr>
        <p:txBody>
          <a:bodyPr wrap="square" lIns="0" rIns="0" tIns="0" bIns="0" anchor="t">
            <a:noAutofit/>
          </a:bodyPr>
          <a:lstStyle/>
          <a:p>
            <a:pPr algn="l">
              <a:lnSpc>
                <a:spcPts val="1595"/>
              </a:lnSpc>
              <a:spcBef>
                <a:spcPts val="0"/>
              </a:spcBef>
              <a:spcAft>
                <a:spcPts val="0"/>
              </a:spcAft>
            </a:pPr>
            <a:r>
              <a:rPr sz="1100" b="0" i="0">
                <a:solidFill>
                  <a:srgbClr val="5C5B56"/>
                </a:solidFill>
                <a:latin typeface="Apple SD Gothic Neo"/>
                <a:ea typeface="Apple SD Gothic Neo"/>
              </a:rPr>
              <a:t>정맥 주사(피크 ×1.25)·경구(×1.0)·경피 패치(×0.75)별 혈중 농도 꼭대기와 E·S 교차점을 비교합니다.</a:t>
            </a:r>
          </a:p>
        </p:txBody>
      </p:sp>
      <p:sp>
        <p:nvSpPr>
          <p:cNvPr id="25" name="Rounded Rectangle 24"/>
          <p:cNvSpPr/>
          <p:nvPr/>
        </p:nvSpPr>
        <p:spPr>
          <a:xfrm>
            <a:off x="3762756" y="4351592"/>
            <a:ext cx="3140964" cy="2122360"/>
          </a:xfrm>
          <a:prstGeom prst="roundRect">
            <a:avLst>
              <a:gd name="adj" fmla="val 7755"/>
            </a:avLst>
          </a:prstGeom>
          <a:solidFill>
            <a:srgbClr val="FFFFFF"/>
          </a:solidFill>
          <a:ln>
            <a:noFill/>
          </a:ln>
        </p:spPr>
        <p:txBody>
          <a:bodyPr rtlCol="0" anchor="ctr"/>
          <a:lstStyle/>
          <a:p>
            <a:pPr algn="ctr"/>
          </a:p>
        </p:txBody>
      </p:sp>
      <p:sp>
        <p:nvSpPr>
          <p:cNvPr id="26" name="Rounded Rectangle 25"/>
          <p:cNvSpPr/>
          <p:nvPr/>
        </p:nvSpPr>
        <p:spPr>
          <a:xfrm>
            <a:off x="3945636" y="4552760"/>
            <a:ext cx="64008" cy="274320"/>
          </a:xfrm>
          <a:prstGeom prst="roundRect">
            <a:avLst>
              <a:gd name="adj" fmla="val 42857"/>
            </a:avLst>
          </a:prstGeom>
          <a:solidFill>
            <a:srgbClr val="B79CFF"/>
          </a:solidFill>
          <a:ln>
            <a:noFill/>
          </a:ln>
        </p:spPr>
        <p:txBody>
          <a:bodyPr rtlCol="0" anchor="ctr"/>
          <a:lstStyle/>
          <a:p>
            <a:pPr algn="ctr"/>
          </a:p>
        </p:txBody>
      </p:sp>
      <p:sp>
        <p:nvSpPr>
          <p:cNvPr id="27" name="TextBox 26"/>
          <p:cNvSpPr txBox="1"/>
          <p:nvPr/>
        </p:nvSpPr>
        <p:spPr>
          <a:xfrm>
            <a:off x="4110228" y="4516184"/>
            <a:ext cx="2628900" cy="396240"/>
          </a:xfrm>
          <a:prstGeom prst="rect">
            <a:avLst/>
          </a:prstGeom>
          <a:noFill/>
        </p:spPr>
        <p:txBody>
          <a:bodyPr wrap="square" lIns="0" rIns="0" tIns="0" bIns="0" anchor="ctr">
            <a:noAutofit/>
          </a:bodyPr>
          <a:lstStyle/>
          <a:p>
            <a:pPr algn="l">
              <a:lnSpc>
                <a:spcPts val="1560"/>
              </a:lnSpc>
              <a:spcBef>
                <a:spcPts val="0"/>
              </a:spcBef>
              <a:spcAft>
                <a:spcPts val="0"/>
              </a:spcAft>
            </a:pPr>
            <a:r>
              <a:rPr sz="1200" b="1" i="0">
                <a:solidFill>
                  <a:srgbClr val="141413"/>
                </a:solidFill>
                <a:latin typeface="Apple SD Gothic Neo"/>
                <a:ea typeface="Apple SD Gothic Neo"/>
              </a:rPr>
              <a:t>E–S 평면 (6.02) &amp; 공식 폭포 (6.03)</a:t>
            </a:r>
          </a:p>
        </p:txBody>
      </p:sp>
      <p:sp>
        <p:nvSpPr>
          <p:cNvPr id="28" name="TextBox 27"/>
          <p:cNvSpPr txBox="1"/>
          <p:nvPr/>
        </p:nvSpPr>
        <p:spPr>
          <a:xfrm>
            <a:off x="3945636" y="5022152"/>
            <a:ext cx="2775204" cy="1342073"/>
          </a:xfrm>
          <a:prstGeom prst="rect">
            <a:avLst/>
          </a:prstGeom>
          <a:noFill/>
        </p:spPr>
        <p:txBody>
          <a:bodyPr wrap="square" lIns="0" rIns="0" tIns="0" bIns="0" anchor="t">
            <a:noAutofit/>
          </a:bodyPr>
          <a:lstStyle/>
          <a:p>
            <a:pPr algn="l">
              <a:lnSpc>
                <a:spcPts val="1595"/>
              </a:lnSpc>
              <a:spcBef>
                <a:spcPts val="0"/>
              </a:spcBef>
              <a:spcAft>
                <a:spcPts val="0"/>
              </a:spcAft>
            </a:pPr>
            <a:r>
              <a:rPr sz="1100" b="0" i="0">
                <a:solidFill>
                  <a:srgbClr val="5C5B56"/>
                </a:solidFill>
                <a:latin typeface="Apple SD Gothic Neo"/>
                <a:ea typeface="Apple SD Gothic Neo"/>
              </a:rPr>
              <a:t>9가지 제형·용량 조합 점 중 IND 안전 기준선(S ≥ 35)을 넘는 점을 확정하고, 어느 위험 요소가 점수를 깎았는지 확인합니다.</a:t>
            </a:r>
          </a:p>
        </p:txBody>
      </p:sp>
      <p:sp>
        <p:nvSpPr>
          <p:cNvPr id="29" name="TextBox 28"/>
          <p:cNvSpPr txBox="1"/>
          <p:nvPr/>
        </p:nvSpPr>
        <p:spPr>
          <a:xfrm>
            <a:off x="7132320" y="1825498"/>
            <a:ext cx="460217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임상시험 계획 승인 신청서 7개 칸과 심사</a:t>
            </a:r>
          </a:p>
        </p:txBody>
      </p:sp>
      <p:sp>
        <p:nvSpPr>
          <p:cNvPr id="30" name="Rounded Rectangle 29"/>
          <p:cNvSpPr/>
          <p:nvPr/>
        </p:nvSpPr>
        <p:spPr>
          <a:xfrm>
            <a:off x="7132320" y="2064639"/>
            <a:ext cx="4602175" cy="3078226"/>
          </a:xfrm>
          <a:prstGeom prst="roundRect">
            <a:avLst>
              <a:gd name="adj" fmla="val 5346"/>
            </a:avLst>
          </a:prstGeom>
          <a:solidFill>
            <a:srgbClr val="FFFFFF"/>
          </a:solidFill>
          <a:ln>
            <a:noFill/>
          </a:ln>
        </p:spPr>
        <p:txBody>
          <a:bodyPr rtlCol="0" anchor="ctr"/>
          <a:lstStyle/>
          <a:p>
            <a:pPr algn="ctr"/>
          </a:p>
        </p:txBody>
      </p:sp>
      <p:sp>
        <p:nvSpPr>
          <p:cNvPr id="31" name="TextBox 30"/>
          <p:cNvSpPr txBox="1"/>
          <p:nvPr/>
        </p:nvSpPr>
        <p:spPr>
          <a:xfrm>
            <a:off x="7315200" y="2201799"/>
            <a:ext cx="4236415" cy="237744"/>
          </a:xfrm>
          <a:prstGeom prst="rect">
            <a:avLst/>
          </a:prstGeom>
          <a:noFill/>
        </p:spPr>
        <p:txBody>
          <a:bodyPr wrap="square" lIns="0" rIns="0" tIns="0" bIns="0" anchor="ctr">
            <a:noAutofit/>
          </a:bodyPr>
          <a:lstStyle/>
          <a:p>
            <a:pPr algn="l">
              <a:lnSpc>
                <a:spcPts val="1386"/>
              </a:lnSpc>
              <a:spcBef>
                <a:spcPts val="0"/>
              </a:spcBef>
              <a:spcAft>
                <a:spcPts val="0"/>
              </a:spcAft>
            </a:pPr>
            <a:r>
              <a:rPr sz="1050" b="0" i="0">
                <a:solidFill>
                  <a:srgbClr val="141413"/>
                </a:solidFill>
                <a:latin typeface="Apple SD Gothic Neo"/>
                <a:ea typeface="Apple SD Gothic Neo"/>
              </a:rPr>
              <a:t>① 표지</a:t>
            </a:r>
          </a:p>
        </p:txBody>
      </p:sp>
      <p:sp>
        <p:nvSpPr>
          <p:cNvPr id="32" name="Rectangle 31"/>
          <p:cNvSpPr/>
          <p:nvPr/>
        </p:nvSpPr>
        <p:spPr>
          <a:xfrm>
            <a:off x="7315200" y="2534518"/>
            <a:ext cx="4236415" cy="7315"/>
          </a:xfrm>
          <a:prstGeom prst="rect">
            <a:avLst/>
          </a:prstGeom>
          <a:solidFill>
            <a:srgbClr val="DDDBD2"/>
          </a:solidFill>
          <a:ln>
            <a:noFill/>
          </a:ln>
        </p:spPr>
        <p:txBody>
          <a:bodyPr rtlCol="0" anchor="ctr"/>
          <a:lstStyle/>
          <a:p>
            <a:pPr algn="ctr"/>
          </a:p>
        </p:txBody>
      </p:sp>
      <p:sp>
        <p:nvSpPr>
          <p:cNvPr id="33" name="TextBox 32"/>
          <p:cNvSpPr txBox="1"/>
          <p:nvPr/>
        </p:nvSpPr>
        <p:spPr>
          <a:xfrm>
            <a:off x="7315200" y="2629493"/>
            <a:ext cx="4236415" cy="237744"/>
          </a:xfrm>
          <a:prstGeom prst="rect">
            <a:avLst/>
          </a:prstGeom>
          <a:noFill/>
        </p:spPr>
        <p:txBody>
          <a:bodyPr wrap="square" lIns="0" rIns="0" tIns="0" bIns="0" anchor="ctr">
            <a:noAutofit/>
          </a:bodyPr>
          <a:lstStyle/>
          <a:p>
            <a:pPr algn="l">
              <a:lnSpc>
                <a:spcPts val="1386"/>
              </a:lnSpc>
              <a:spcBef>
                <a:spcPts val="0"/>
              </a:spcBef>
              <a:spcAft>
                <a:spcPts val="0"/>
              </a:spcAft>
            </a:pPr>
            <a:r>
              <a:rPr sz="1050" b="0" i="0">
                <a:solidFill>
                  <a:srgbClr val="141413"/>
                </a:solidFill>
                <a:latin typeface="Apple SD Gothic Neo"/>
                <a:ea typeface="Apple SD Gothic Neo"/>
              </a:rPr>
              <a:t>② 개발 계획</a:t>
            </a:r>
          </a:p>
        </p:txBody>
      </p:sp>
      <p:sp>
        <p:nvSpPr>
          <p:cNvPr id="34" name="Rectangle 33"/>
          <p:cNvSpPr/>
          <p:nvPr/>
        </p:nvSpPr>
        <p:spPr>
          <a:xfrm>
            <a:off x="7315200" y="2962212"/>
            <a:ext cx="4236415" cy="7315"/>
          </a:xfrm>
          <a:prstGeom prst="rect">
            <a:avLst/>
          </a:prstGeom>
          <a:solidFill>
            <a:srgbClr val="DDDBD2"/>
          </a:solidFill>
          <a:ln>
            <a:noFill/>
          </a:ln>
        </p:spPr>
        <p:txBody>
          <a:bodyPr rtlCol="0" anchor="ctr"/>
          <a:lstStyle/>
          <a:p>
            <a:pPr algn="ctr"/>
          </a:p>
        </p:txBody>
      </p:sp>
      <p:sp>
        <p:nvSpPr>
          <p:cNvPr id="35" name="TextBox 34"/>
          <p:cNvSpPr txBox="1"/>
          <p:nvPr/>
        </p:nvSpPr>
        <p:spPr>
          <a:xfrm>
            <a:off x="7315200" y="3057186"/>
            <a:ext cx="4236415" cy="237744"/>
          </a:xfrm>
          <a:prstGeom prst="rect">
            <a:avLst/>
          </a:prstGeom>
          <a:noFill/>
        </p:spPr>
        <p:txBody>
          <a:bodyPr wrap="square" lIns="0" rIns="0" tIns="0" bIns="0" anchor="ctr">
            <a:noAutofit/>
          </a:bodyPr>
          <a:lstStyle/>
          <a:p>
            <a:pPr algn="l">
              <a:lnSpc>
                <a:spcPts val="1386"/>
              </a:lnSpc>
              <a:spcBef>
                <a:spcPts val="0"/>
              </a:spcBef>
              <a:spcAft>
                <a:spcPts val="0"/>
              </a:spcAft>
            </a:pPr>
            <a:r>
              <a:rPr sz="1050" b="0" i="0">
                <a:solidFill>
                  <a:srgbClr val="141413"/>
                </a:solidFill>
                <a:latin typeface="Apple SD Gothic Neo"/>
                <a:ea typeface="Apple SD Gothic Neo"/>
              </a:rPr>
              <a:t>③ 임상시험용 의약품(제형 근거)</a:t>
            </a:r>
          </a:p>
        </p:txBody>
      </p:sp>
      <p:sp>
        <p:nvSpPr>
          <p:cNvPr id="36" name="Rectangle 35"/>
          <p:cNvSpPr/>
          <p:nvPr/>
        </p:nvSpPr>
        <p:spPr>
          <a:xfrm>
            <a:off x="7315200" y="3389905"/>
            <a:ext cx="4236415" cy="7315"/>
          </a:xfrm>
          <a:prstGeom prst="rect">
            <a:avLst/>
          </a:prstGeom>
          <a:solidFill>
            <a:srgbClr val="DDDBD2"/>
          </a:solidFill>
          <a:ln>
            <a:noFill/>
          </a:ln>
        </p:spPr>
        <p:txBody>
          <a:bodyPr rtlCol="0" anchor="ctr"/>
          <a:lstStyle/>
          <a:p>
            <a:pPr algn="ctr"/>
          </a:p>
        </p:txBody>
      </p:sp>
      <p:sp>
        <p:nvSpPr>
          <p:cNvPr id="37" name="TextBox 36"/>
          <p:cNvSpPr txBox="1"/>
          <p:nvPr/>
        </p:nvSpPr>
        <p:spPr>
          <a:xfrm>
            <a:off x="7315200" y="3484880"/>
            <a:ext cx="4236415" cy="237744"/>
          </a:xfrm>
          <a:prstGeom prst="rect">
            <a:avLst/>
          </a:prstGeom>
          <a:noFill/>
        </p:spPr>
        <p:txBody>
          <a:bodyPr wrap="square" lIns="0" rIns="0" tIns="0" bIns="0" anchor="ctr">
            <a:noAutofit/>
          </a:bodyPr>
          <a:lstStyle/>
          <a:p>
            <a:pPr algn="l">
              <a:lnSpc>
                <a:spcPts val="1386"/>
              </a:lnSpc>
              <a:spcBef>
                <a:spcPts val="0"/>
              </a:spcBef>
              <a:spcAft>
                <a:spcPts val="0"/>
              </a:spcAft>
            </a:pPr>
            <a:r>
              <a:rPr sz="1050" b="0" i="0">
                <a:solidFill>
                  <a:srgbClr val="141413"/>
                </a:solidFill>
                <a:latin typeface="Apple SD Gothic Neo"/>
                <a:ea typeface="Apple SD Gothic Neo"/>
              </a:rPr>
              <a:t>④ 비임상 시험 요약(NOAEL·HED·MRSD 해석)</a:t>
            </a:r>
          </a:p>
        </p:txBody>
      </p:sp>
      <p:sp>
        <p:nvSpPr>
          <p:cNvPr id="38" name="Rectangle 37"/>
          <p:cNvSpPr/>
          <p:nvPr/>
        </p:nvSpPr>
        <p:spPr>
          <a:xfrm>
            <a:off x="7315200" y="3817599"/>
            <a:ext cx="4236415" cy="7315"/>
          </a:xfrm>
          <a:prstGeom prst="rect">
            <a:avLst/>
          </a:prstGeom>
          <a:solidFill>
            <a:srgbClr val="DDDBD2"/>
          </a:solidFill>
          <a:ln>
            <a:noFill/>
          </a:ln>
        </p:spPr>
        <p:txBody>
          <a:bodyPr rtlCol="0" anchor="ctr"/>
          <a:lstStyle/>
          <a:p>
            <a:pPr algn="ctr"/>
          </a:p>
        </p:txBody>
      </p:sp>
      <p:sp>
        <p:nvSpPr>
          <p:cNvPr id="39" name="TextBox 38"/>
          <p:cNvSpPr txBox="1"/>
          <p:nvPr/>
        </p:nvSpPr>
        <p:spPr>
          <a:xfrm>
            <a:off x="7315200" y="3912574"/>
            <a:ext cx="4236415" cy="237744"/>
          </a:xfrm>
          <a:prstGeom prst="rect">
            <a:avLst/>
          </a:prstGeom>
          <a:noFill/>
        </p:spPr>
        <p:txBody>
          <a:bodyPr wrap="square" lIns="0" rIns="0" tIns="0" bIns="0" anchor="ctr">
            <a:noAutofit/>
          </a:bodyPr>
          <a:lstStyle/>
          <a:p>
            <a:pPr algn="l">
              <a:lnSpc>
                <a:spcPts val="1386"/>
              </a:lnSpc>
              <a:spcBef>
                <a:spcPts val="0"/>
              </a:spcBef>
              <a:spcAft>
                <a:spcPts val="0"/>
              </a:spcAft>
            </a:pPr>
            <a:r>
              <a:rPr sz="1050" b="0" i="0">
                <a:solidFill>
                  <a:srgbClr val="141413"/>
                </a:solidFill>
                <a:latin typeface="Apple SD Gothic Neo"/>
                <a:ea typeface="Apple SD Gothic Neo"/>
              </a:rPr>
              <a:t>⑤ 1상 계획서(시작 용량 ≤ MRSD · 대상 · 1차 평가지표 · 중단 기준)</a:t>
            </a:r>
          </a:p>
        </p:txBody>
      </p:sp>
      <p:sp>
        <p:nvSpPr>
          <p:cNvPr id="40" name="Rectangle 39"/>
          <p:cNvSpPr/>
          <p:nvPr/>
        </p:nvSpPr>
        <p:spPr>
          <a:xfrm>
            <a:off x="7315200" y="4245293"/>
            <a:ext cx="4236415" cy="7315"/>
          </a:xfrm>
          <a:prstGeom prst="rect">
            <a:avLst/>
          </a:prstGeom>
          <a:solidFill>
            <a:srgbClr val="DDDBD2"/>
          </a:solidFill>
          <a:ln>
            <a:noFill/>
          </a:ln>
        </p:spPr>
        <p:txBody>
          <a:bodyPr rtlCol="0" anchor="ctr"/>
          <a:lstStyle/>
          <a:p>
            <a:pPr algn="ctr"/>
          </a:p>
        </p:txBody>
      </p:sp>
      <p:sp>
        <p:nvSpPr>
          <p:cNvPr id="41" name="TextBox 40"/>
          <p:cNvSpPr txBox="1"/>
          <p:nvPr/>
        </p:nvSpPr>
        <p:spPr>
          <a:xfrm>
            <a:off x="7315200" y="4340267"/>
            <a:ext cx="4236415" cy="237744"/>
          </a:xfrm>
          <a:prstGeom prst="rect">
            <a:avLst/>
          </a:prstGeom>
          <a:noFill/>
        </p:spPr>
        <p:txBody>
          <a:bodyPr wrap="square" lIns="0" rIns="0" tIns="0" bIns="0" anchor="ctr">
            <a:noAutofit/>
          </a:bodyPr>
          <a:lstStyle/>
          <a:p>
            <a:pPr algn="l">
              <a:lnSpc>
                <a:spcPts val="1386"/>
              </a:lnSpc>
              <a:spcBef>
                <a:spcPts val="0"/>
              </a:spcBef>
              <a:spcAft>
                <a:spcPts val="0"/>
              </a:spcAft>
            </a:pPr>
            <a:r>
              <a:rPr sz="1050" b="0" i="0">
                <a:solidFill>
                  <a:srgbClr val="141413"/>
                </a:solidFill>
                <a:latin typeface="Apple SD Gothic Neo"/>
                <a:ea typeface="Apple SD Gothic Neo"/>
              </a:rPr>
              <a:t>⑥ 위험 관리 및 피험자 보호(심전도 QT·간 수치 감시 계획, IRB 동의서 핵심)</a:t>
            </a:r>
          </a:p>
        </p:txBody>
      </p:sp>
      <p:sp>
        <p:nvSpPr>
          <p:cNvPr id="42" name="Rectangle 41"/>
          <p:cNvSpPr/>
          <p:nvPr/>
        </p:nvSpPr>
        <p:spPr>
          <a:xfrm>
            <a:off x="7315200" y="4672986"/>
            <a:ext cx="4236415" cy="7315"/>
          </a:xfrm>
          <a:prstGeom prst="rect">
            <a:avLst/>
          </a:prstGeom>
          <a:solidFill>
            <a:srgbClr val="DDDBD2"/>
          </a:solidFill>
          <a:ln>
            <a:noFill/>
          </a:ln>
        </p:spPr>
        <p:txBody>
          <a:bodyPr rtlCol="0" anchor="ctr"/>
          <a:lstStyle/>
          <a:p>
            <a:pPr algn="ctr"/>
          </a:p>
        </p:txBody>
      </p:sp>
      <p:sp>
        <p:nvSpPr>
          <p:cNvPr id="43" name="TextBox 42"/>
          <p:cNvSpPr txBox="1"/>
          <p:nvPr/>
        </p:nvSpPr>
        <p:spPr>
          <a:xfrm>
            <a:off x="7315200" y="4767961"/>
            <a:ext cx="4236415" cy="237744"/>
          </a:xfrm>
          <a:prstGeom prst="rect">
            <a:avLst/>
          </a:prstGeom>
          <a:noFill/>
        </p:spPr>
        <p:txBody>
          <a:bodyPr wrap="square" lIns="0" rIns="0" tIns="0" bIns="0" anchor="ctr">
            <a:noAutofit/>
          </a:bodyPr>
          <a:lstStyle/>
          <a:p>
            <a:pPr algn="l">
              <a:lnSpc>
                <a:spcPts val="1386"/>
              </a:lnSpc>
              <a:spcBef>
                <a:spcPts val="0"/>
              </a:spcBef>
              <a:spcAft>
                <a:spcPts val="0"/>
              </a:spcAft>
            </a:pPr>
            <a:r>
              <a:rPr sz="1050" b="0" i="0">
                <a:solidFill>
                  <a:srgbClr val="141413"/>
                </a:solidFill>
                <a:latin typeface="Apple SD Gothic Neo"/>
                <a:ea typeface="Apple SD Gothic Neo"/>
              </a:rPr>
              <a:t>⑦ 서약</a:t>
            </a:r>
          </a:p>
        </p:txBody>
      </p:sp>
      <p:sp>
        <p:nvSpPr>
          <p:cNvPr id="44" name="Rounded Rectangle 43"/>
          <p:cNvSpPr/>
          <p:nvPr/>
        </p:nvSpPr>
        <p:spPr>
          <a:xfrm>
            <a:off x="7132320" y="5307457"/>
            <a:ext cx="4602175" cy="1166495"/>
          </a:xfrm>
          <a:prstGeom prst="roundRect">
            <a:avLst>
              <a:gd name="adj" fmla="val 14109"/>
            </a:avLst>
          </a:prstGeom>
          <a:solidFill>
            <a:srgbClr val="1E3A1E"/>
          </a:solidFill>
          <a:ln>
            <a:noFill/>
          </a:ln>
        </p:spPr>
        <p:txBody>
          <a:bodyPr rtlCol="0" anchor="ctr"/>
          <a:lstStyle/>
          <a:p>
            <a:pPr algn="ctr"/>
          </a:p>
        </p:txBody>
      </p:sp>
      <p:sp>
        <p:nvSpPr>
          <p:cNvPr id="45" name="TextBox 44"/>
          <p:cNvSpPr txBox="1"/>
          <p:nvPr/>
        </p:nvSpPr>
        <p:spPr>
          <a:xfrm>
            <a:off x="7315200" y="5490337"/>
            <a:ext cx="4236415" cy="800735"/>
          </a:xfrm>
          <a:prstGeom prst="rect">
            <a:avLst/>
          </a:prstGeom>
          <a:noFill/>
        </p:spPr>
        <p:txBody>
          <a:bodyPr wrap="square" lIns="0" rIns="0" tIns="0" bIns="0" anchor="t">
            <a:noAutofit/>
          </a:bodyPr>
          <a:lstStyle/>
          <a:p>
            <a:pPr algn="l">
              <a:lnSpc>
                <a:spcPts val="1495"/>
              </a:lnSpc>
              <a:spcBef>
                <a:spcPts val="0"/>
              </a:spcBef>
              <a:spcAft>
                <a:spcPts val="0"/>
              </a:spcAft>
            </a:pPr>
            <a:r>
              <a:rPr sz="1150" b="1" i="0">
                <a:solidFill>
                  <a:srgbClr val="D4F94E"/>
                </a:solidFill>
                <a:latin typeface="Apple SD Gothic Neo"/>
                <a:ea typeface="Apple SD Gothic Neo"/>
              </a:rPr>
              <a:t>심사 보장 규칙</a:t>
            </a:r>
          </a:p>
          <a:p>
            <a:pPr algn="l">
              <a:lnSpc>
                <a:spcPts val="1470"/>
              </a:lnSpc>
              <a:spcBef>
                <a:spcPts val="400"/>
              </a:spcBef>
              <a:spcAft>
                <a:spcPts val="0"/>
              </a:spcAft>
            </a:pPr>
            <a:r>
              <a:rPr sz="1050" b="0" i="0">
                <a:solidFill>
                  <a:srgbClr val="FAF9F5"/>
                </a:solidFill>
                <a:latin typeface="Apple SD Gothic Neo"/>
                <a:ea typeface="Apple SD Gothic Neo"/>
              </a:rPr>
              <a:t>3.2에서 구한 제형별 MRSD 이하로 시작 용량을 잡고 비임상 소견에 맞는 감시 계획을 적어 서류 심사를 통과하면, IND 안전 기준(S ≥ 35)을 반드시 충족해 승인됩니다.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22 / 26</a:t>
            </a:r>
          </a:p>
        </p:txBody>
      </p:sp>
      <p:sp>
        <p:nvSpPr>
          <p:cNvPr id="7" name="Rounded Rectangle 6"/>
          <p:cNvSpPr/>
          <p:nvPr/>
        </p:nvSpPr>
        <p:spPr>
          <a:xfrm>
            <a:off x="457200" y="566928"/>
            <a:ext cx="3419008"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3144688"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3 · 단계 4.1 ~ 4.2 임상 및 최종 허가</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1상 안전성부터 3상 대규모 확증까지 — 실패해도 백업 후보와 대안으로 재도전</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IND 승인은 출발 허락일 뿐입니다. 더 높아진 1·2·3상 기준을 넘고, 임상 보류(CRL) 시 미리 준비한 대안으로 다시 일어섭니다.</a:t>
            </a:r>
          </a:p>
        </p:txBody>
      </p:sp>
      <p:sp>
        <p:nvSpPr>
          <p:cNvPr id="12" name="TextBox 11"/>
          <p:cNvSpPr txBox="1"/>
          <p:nvPr/>
        </p:nvSpPr>
        <p:spPr>
          <a:xfrm>
            <a:off x="457200" y="182549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4.1 임상 1 · 2 · 3상 세 관문</a:t>
            </a:r>
          </a:p>
        </p:txBody>
      </p:sp>
      <p:sp>
        <p:nvSpPr>
          <p:cNvPr id="13" name="Rounded Rectangle 12"/>
          <p:cNvSpPr/>
          <p:nvPr/>
        </p:nvSpPr>
        <p:spPr>
          <a:xfrm>
            <a:off x="457200" y="2668143"/>
            <a:ext cx="2613584" cy="1805305"/>
          </a:xfrm>
          <a:prstGeom prst="roundRect">
            <a:avLst>
              <a:gd name="adj" fmla="val 9117"/>
            </a:avLst>
          </a:prstGeom>
          <a:solidFill>
            <a:srgbClr val="FFFFFF"/>
          </a:solidFill>
          <a:ln>
            <a:noFill/>
          </a:ln>
        </p:spPr>
        <p:txBody>
          <a:bodyPr rtlCol="0" anchor="ctr"/>
          <a:lstStyle/>
          <a:p>
            <a:pPr algn="ctr"/>
          </a:p>
        </p:txBody>
      </p:sp>
      <p:sp>
        <p:nvSpPr>
          <p:cNvPr id="14" name="TextBox 13"/>
          <p:cNvSpPr txBox="1"/>
          <p:nvPr/>
        </p:nvSpPr>
        <p:spPr>
          <a:xfrm>
            <a:off x="640080" y="2851023"/>
            <a:ext cx="2247824" cy="1439545"/>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41413"/>
                </a:solidFill>
                <a:latin typeface="Apple SD Gothic Neo"/>
                <a:ea typeface="Apple SD Gothic Neo"/>
              </a:rPr>
              <a:t>임상 1상 ($0.300M · 90일)</a:t>
            </a:r>
          </a:p>
          <a:p>
            <a:pPr algn="l">
              <a:lnSpc>
                <a:spcPts val="1562"/>
              </a:lnSpc>
              <a:spcBef>
                <a:spcPts val="500"/>
              </a:spcBef>
              <a:spcAft>
                <a:spcPts val="0"/>
              </a:spcAft>
            </a:pPr>
            <a:r>
              <a:rPr sz="1100" b="0" i="0">
                <a:solidFill>
                  <a:srgbClr val="5C5B56"/>
                </a:solidFill>
                <a:latin typeface="Apple SD Gothic Neo"/>
                <a:ea typeface="Apple SD Gothic Neo"/>
              </a:rPr>
              <a:t>소수 대상 안전성(S ≥ 50) 집중 검증 — IND 기준(S ≥ 35)보다 높은 안전성 요구</a:t>
            </a:r>
          </a:p>
        </p:txBody>
      </p:sp>
      <p:sp>
        <p:nvSpPr>
          <p:cNvPr id="15" name="Rounded Rectangle 14"/>
          <p:cNvSpPr/>
          <p:nvPr/>
        </p:nvSpPr>
        <p:spPr>
          <a:xfrm>
            <a:off x="640080" y="4199128"/>
            <a:ext cx="749275" cy="73152"/>
          </a:xfrm>
          <a:prstGeom prst="roundRect">
            <a:avLst>
              <a:gd name="adj" fmla="val 50000"/>
            </a:avLst>
          </a:prstGeom>
          <a:solidFill>
            <a:srgbClr val="D4F94E"/>
          </a:solidFill>
          <a:ln>
            <a:noFill/>
          </a:ln>
        </p:spPr>
        <p:txBody>
          <a:bodyPr rtlCol="0" anchor="ctr"/>
          <a:lstStyle/>
          <a:p>
            <a:pPr algn="ctr"/>
          </a:p>
        </p:txBody>
      </p:sp>
      <p:sp>
        <p:nvSpPr>
          <p:cNvPr id="16" name="Chevron 15"/>
          <p:cNvSpPr/>
          <p:nvPr/>
        </p:nvSpPr>
        <p:spPr>
          <a:xfrm>
            <a:off x="3134792" y="3833368"/>
            <a:ext cx="146304" cy="292608"/>
          </a:xfrm>
          <a:prstGeom prst="chevron">
            <a:avLst/>
          </a:prstGeom>
          <a:solidFill>
            <a:srgbClr val="141413"/>
          </a:solidFill>
          <a:ln>
            <a:noFill/>
          </a:ln>
        </p:spPr>
        <p:txBody>
          <a:bodyPr rtlCol="0" anchor="ctr"/>
          <a:lstStyle/>
          <a:p>
            <a:pPr algn="ctr"/>
          </a:p>
        </p:txBody>
      </p:sp>
      <p:sp>
        <p:nvSpPr>
          <p:cNvPr id="17" name="Rounded Rectangle 16"/>
          <p:cNvSpPr/>
          <p:nvPr/>
        </p:nvSpPr>
        <p:spPr>
          <a:xfrm>
            <a:off x="3345104" y="2466975"/>
            <a:ext cx="2613584" cy="2006473"/>
          </a:xfrm>
          <a:prstGeom prst="roundRect">
            <a:avLst>
              <a:gd name="adj" fmla="val 8203"/>
            </a:avLst>
          </a:prstGeom>
          <a:solidFill>
            <a:srgbClr val="FFFFFF"/>
          </a:solidFill>
          <a:ln>
            <a:noFill/>
          </a:ln>
        </p:spPr>
        <p:txBody>
          <a:bodyPr rtlCol="0" anchor="ctr"/>
          <a:lstStyle/>
          <a:p>
            <a:pPr algn="ctr"/>
          </a:p>
        </p:txBody>
      </p:sp>
      <p:sp>
        <p:nvSpPr>
          <p:cNvPr id="18" name="TextBox 17"/>
          <p:cNvSpPr txBox="1"/>
          <p:nvPr/>
        </p:nvSpPr>
        <p:spPr>
          <a:xfrm>
            <a:off x="3527984" y="2649855"/>
            <a:ext cx="2247824" cy="1640713"/>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41413"/>
                </a:solidFill>
                <a:latin typeface="Apple SD Gothic Neo"/>
                <a:ea typeface="Apple SD Gothic Neo"/>
              </a:rPr>
              <a:t>임상 2상 ($0.600M · 180일)</a:t>
            </a:r>
          </a:p>
          <a:p>
            <a:pPr algn="l">
              <a:lnSpc>
                <a:spcPts val="1562"/>
              </a:lnSpc>
              <a:spcBef>
                <a:spcPts val="500"/>
              </a:spcBef>
              <a:spcAft>
                <a:spcPts val="0"/>
              </a:spcAft>
            </a:pPr>
            <a:r>
              <a:rPr sz="1100" b="0" i="0">
                <a:solidFill>
                  <a:srgbClr val="5C5B56"/>
                </a:solidFill>
                <a:latin typeface="Apple SD Gothic Neo"/>
                <a:ea typeface="Apple SD Gothic Neo"/>
              </a:rPr>
              <a:t>환자군 대상 효능(E)과 안전성 검증 — 질환별 1차 평가지표 달성 확인</a:t>
            </a:r>
          </a:p>
        </p:txBody>
      </p:sp>
      <p:sp>
        <p:nvSpPr>
          <p:cNvPr id="19" name="Rounded Rectangle 18"/>
          <p:cNvSpPr/>
          <p:nvPr/>
        </p:nvSpPr>
        <p:spPr>
          <a:xfrm>
            <a:off x="3527984" y="4199128"/>
            <a:ext cx="1498549" cy="73152"/>
          </a:xfrm>
          <a:prstGeom prst="roundRect">
            <a:avLst>
              <a:gd name="adj" fmla="val 50000"/>
            </a:avLst>
          </a:prstGeom>
          <a:solidFill>
            <a:srgbClr val="A8D545"/>
          </a:solidFill>
          <a:ln>
            <a:noFill/>
          </a:ln>
        </p:spPr>
        <p:txBody>
          <a:bodyPr rtlCol="0" anchor="ctr"/>
          <a:lstStyle/>
          <a:p>
            <a:pPr algn="ctr"/>
          </a:p>
        </p:txBody>
      </p:sp>
      <p:sp>
        <p:nvSpPr>
          <p:cNvPr id="20" name="Chevron 19"/>
          <p:cNvSpPr/>
          <p:nvPr/>
        </p:nvSpPr>
        <p:spPr>
          <a:xfrm>
            <a:off x="6022696" y="3833368"/>
            <a:ext cx="146304" cy="292608"/>
          </a:xfrm>
          <a:prstGeom prst="chevron">
            <a:avLst/>
          </a:prstGeom>
          <a:solidFill>
            <a:srgbClr val="141413"/>
          </a:solidFill>
          <a:ln>
            <a:noFill/>
          </a:ln>
        </p:spPr>
        <p:txBody>
          <a:bodyPr rtlCol="0" anchor="ctr"/>
          <a:lstStyle/>
          <a:p>
            <a:pPr algn="ctr"/>
          </a:p>
        </p:txBody>
      </p:sp>
      <p:sp>
        <p:nvSpPr>
          <p:cNvPr id="21" name="Rounded Rectangle 20"/>
          <p:cNvSpPr/>
          <p:nvPr/>
        </p:nvSpPr>
        <p:spPr>
          <a:xfrm>
            <a:off x="6233008" y="2265807"/>
            <a:ext cx="2613584" cy="2207641"/>
          </a:xfrm>
          <a:prstGeom prst="roundRect">
            <a:avLst>
              <a:gd name="adj" fmla="val 7455"/>
            </a:avLst>
          </a:prstGeom>
          <a:solidFill>
            <a:srgbClr val="FFFFFF"/>
          </a:solidFill>
          <a:ln>
            <a:noFill/>
          </a:ln>
        </p:spPr>
        <p:txBody>
          <a:bodyPr rtlCol="0" anchor="ctr"/>
          <a:lstStyle/>
          <a:p>
            <a:pPr algn="ctr"/>
          </a:p>
        </p:txBody>
      </p:sp>
      <p:sp>
        <p:nvSpPr>
          <p:cNvPr id="22" name="TextBox 21"/>
          <p:cNvSpPr txBox="1"/>
          <p:nvPr/>
        </p:nvSpPr>
        <p:spPr>
          <a:xfrm>
            <a:off x="6415888" y="2448687"/>
            <a:ext cx="2247824" cy="1841881"/>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41413"/>
                </a:solidFill>
                <a:latin typeface="Apple SD Gothic Neo"/>
                <a:ea typeface="Apple SD Gothic Neo"/>
              </a:rPr>
              <a:t>임상 3상 ($1.200M · 360일)</a:t>
            </a:r>
          </a:p>
          <a:p>
            <a:pPr algn="l">
              <a:lnSpc>
                <a:spcPts val="1562"/>
              </a:lnSpc>
              <a:spcBef>
                <a:spcPts val="500"/>
              </a:spcBef>
              <a:spcAft>
                <a:spcPts val="0"/>
              </a:spcAft>
            </a:pPr>
            <a:r>
              <a:rPr sz="1100" b="0" i="0">
                <a:solidFill>
                  <a:srgbClr val="5C5B56"/>
                </a:solidFill>
                <a:latin typeface="Apple SD Gothic Neo"/>
                <a:ea typeface="Apple SD Gothic Neo"/>
              </a:rPr>
              <a:t>대규모 환자군 대상 효능·안전성 최종 확증</a:t>
            </a:r>
          </a:p>
        </p:txBody>
      </p:sp>
      <p:sp>
        <p:nvSpPr>
          <p:cNvPr id="23" name="Rounded Rectangle 22"/>
          <p:cNvSpPr/>
          <p:nvPr/>
        </p:nvSpPr>
        <p:spPr>
          <a:xfrm>
            <a:off x="6415888" y="4199128"/>
            <a:ext cx="2247824" cy="73152"/>
          </a:xfrm>
          <a:prstGeom prst="roundRect">
            <a:avLst>
              <a:gd name="adj" fmla="val 50000"/>
            </a:avLst>
          </a:prstGeom>
          <a:solidFill>
            <a:srgbClr val="5C8A35"/>
          </a:solidFill>
          <a:ln>
            <a:noFill/>
          </a:ln>
        </p:spPr>
        <p:txBody>
          <a:bodyPr rtlCol="0" anchor="ctr"/>
          <a:lstStyle/>
          <a:p>
            <a:pPr algn="ctr"/>
          </a:p>
        </p:txBody>
      </p:sp>
      <p:sp>
        <p:nvSpPr>
          <p:cNvPr id="24" name="Chevron 23"/>
          <p:cNvSpPr/>
          <p:nvPr/>
        </p:nvSpPr>
        <p:spPr>
          <a:xfrm>
            <a:off x="8910599" y="3833368"/>
            <a:ext cx="146304" cy="292608"/>
          </a:xfrm>
          <a:prstGeom prst="chevron">
            <a:avLst/>
          </a:prstGeom>
          <a:solidFill>
            <a:srgbClr val="141413"/>
          </a:solidFill>
          <a:ln>
            <a:noFill/>
          </a:ln>
        </p:spPr>
        <p:txBody>
          <a:bodyPr rtlCol="0" anchor="ctr"/>
          <a:lstStyle/>
          <a:p>
            <a:pPr algn="ctr"/>
          </a:p>
        </p:txBody>
      </p:sp>
      <p:sp>
        <p:nvSpPr>
          <p:cNvPr id="25" name="Rounded Rectangle 24"/>
          <p:cNvSpPr/>
          <p:nvPr/>
        </p:nvSpPr>
        <p:spPr>
          <a:xfrm>
            <a:off x="9120911" y="2064639"/>
            <a:ext cx="2613584" cy="2408809"/>
          </a:xfrm>
          <a:prstGeom prst="roundRect">
            <a:avLst>
              <a:gd name="adj" fmla="val 6832"/>
            </a:avLst>
          </a:prstGeom>
          <a:solidFill>
            <a:srgbClr val="D4F94E"/>
          </a:solidFill>
          <a:ln>
            <a:noFill/>
          </a:ln>
        </p:spPr>
        <p:txBody>
          <a:bodyPr rtlCol="0" anchor="ctr"/>
          <a:lstStyle/>
          <a:p>
            <a:pPr algn="ctr"/>
          </a:p>
        </p:txBody>
      </p:sp>
      <p:sp>
        <p:nvSpPr>
          <p:cNvPr id="26" name="TextBox 25"/>
          <p:cNvSpPr txBox="1"/>
          <p:nvPr/>
        </p:nvSpPr>
        <p:spPr>
          <a:xfrm>
            <a:off x="9303791" y="2247519"/>
            <a:ext cx="2247824" cy="2043049"/>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E3A1E"/>
                </a:solidFill>
                <a:latin typeface="Apple SD Gothic Neo"/>
                <a:ea typeface="Apple SD Gothic Neo"/>
              </a:rPr>
              <a:t>4.2 최종 허가 ($0.100M · 60일)</a:t>
            </a:r>
          </a:p>
          <a:p>
            <a:pPr algn="l">
              <a:lnSpc>
                <a:spcPts val="1562"/>
              </a:lnSpc>
              <a:spcBef>
                <a:spcPts val="500"/>
              </a:spcBef>
              <a:spcAft>
                <a:spcPts val="0"/>
              </a:spcAft>
            </a:pPr>
            <a:r>
              <a:rPr sz="1100" b="0" i="0">
                <a:solidFill>
                  <a:srgbClr val="141413"/>
                </a:solidFill>
                <a:latin typeface="Apple SD Gothic Neo"/>
                <a:ea typeface="Apple SD Gothic Neo"/>
              </a:rPr>
              <a:t>최종 신약 브랜드 이름(예: 다온콕스)과 포장 설계 → 식약처·FDA 최종 허가 도장 → 학급 전광판 허가 공시 및 사옥 Tier 3 승격</a:t>
            </a:r>
          </a:p>
        </p:txBody>
      </p:sp>
      <p:sp>
        <p:nvSpPr>
          <p:cNvPr id="27" name="Rounded Rectangle 26"/>
          <p:cNvSpPr/>
          <p:nvPr/>
        </p:nvSpPr>
        <p:spPr>
          <a:xfrm>
            <a:off x="457200" y="4674616"/>
            <a:ext cx="11277295" cy="1799336"/>
          </a:xfrm>
          <a:prstGeom prst="roundRect">
            <a:avLst>
              <a:gd name="adj" fmla="val 10163"/>
            </a:avLst>
          </a:prstGeom>
          <a:solidFill>
            <a:srgbClr val="FBEDE8"/>
          </a:solidFill>
          <a:ln w="9525">
            <a:solidFill>
              <a:srgbClr val="E9B4A5"/>
            </a:solidFill>
          </a:ln>
        </p:spPr>
        <p:txBody>
          <a:bodyPr rtlCol="0" anchor="ctr"/>
          <a:lstStyle/>
          <a:p>
            <a:pPr algn="ctr"/>
          </a:p>
        </p:txBody>
      </p:sp>
      <p:sp>
        <p:nvSpPr>
          <p:cNvPr id="28" name="TextBox 27"/>
          <p:cNvSpPr txBox="1"/>
          <p:nvPr/>
        </p:nvSpPr>
        <p:spPr>
          <a:xfrm>
            <a:off x="658368" y="4820920"/>
            <a:ext cx="10874959" cy="310896"/>
          </a:xfrm>
          <a:prstGeom prst="rect">
            <a:avLst/>
          </a:prstGeom>
          <a:noFill/>
        </p:spPr>
        <p:txBody>
          <a:bodyPr wrap="square" lIns="0" rIns="0" tIns="0" bIns="0" anchor="ctr">
            <a:noAutofit/>
          </a:bodyPr>
          <a:lstStyle/>
          <a:p>
            <a:pPr algn="l">
              <a:lnSpc>
                <a:spcPts val="1625"/>
              </a:lnSpc>
              <a:spcBef>
                <a:spcPts val="0"/>
              </a:spcBef>
              <a:spcAft>
                <a:spcPts val="0"/>
              </a:spcAft>
            </a:pPr>
            <a:r>
              <a:rPr sz="1250" b="1" i="0">
                <a:solidFill>
                  <a:srgbClr val="9E2F14"/>
                </a:solidFill>
                <a:latin typeface="Apple SD Gothic Neo"/>
                <a:ea typeface="Apple SD Gothic Neo"/>
              </a:rPr>
              <a:t>임상 보류(Clinical Hold) 시 3가지 재도전 경로</a:t>
            </a:r>
          </a:p>
        </p:txBody>
      </p:sp>
      <p:sp>
        <p:nvSpPr>
          <p:cNvPr id="29" name="Rounded Rectangle 28"/>
          <p:cNvSpPr/>
          <p:nvPr/>
        </p:nvSpPr>
        <p:spPr>
          <a:xfrm>
            <a:off x="658368" y="5241544"/>
            <a:ext cx="3527450" cy="1049528"/>
          </a:xfrm>
          <a:prstGeom prst="roundRect">
            <a:avLst>
              <a:gd name="adj" fmla="val 13939"/>
            </a:avLst>
          </a:prstGeom>
          <a:solidFill>
            <a:srgbClr val="FFFFFF"/>
          </a:solidFill>
          <a:ln>
            <a:noFill/>
          </a:ln>
        </p:spPr>
        <p:txBody>
          <a:bodyPr rtlCol="0" anchor="ctr"/>
          <a:lstStyle/>
          <a:p>
            <a:pPr algn="ctr"/>
          </a:p>
        </p:txBody>
      </p:sp>
      <p:sp>
        <p:nvSpPr>
          <p:cNvPr id="30" name="Rounded Rectangle 29"/>
          <p:cNvSpPr/>
          <p:nvPr/>
        </p:nvSpPr>
        <p:spPr>
          <a:xfrm>
            <a:off x="822960" y="5387848"/>
            <a:ext cx="584963" cy="256032"/>
          </a:xfrm>
          <a:prstGeom prst="roundRect">
            <a:avLst>
              <a:gd name="adj" fmla="val 50000"/>
            </a:avLst>
          </a:prstGeom>
          <a:solidFill>
            <a:srgbClr val="141413"/>
          </a:solidFill>
          <a:ln>
            <a:noFill/>
          </a:ln>
        </p:spPr>
        <p:txBody>
          <a:bodyPr rtlCol="0" anchor="ctr"/>
          <a:lstStyle/>
          <a:p>
            <a:pPr algn="ctr"/>
          </a:p>
        </p:txBody>
      </p:sp>
      <p:sp>
        <p:nvSpPr>
          <p:cNvPr id="31" name="TextBox 30"/>
          <p:cNvSpPr txBox="1"/>
          <p:nvPr/>
        </p:nvSpPr>
        <p:spPr>
          <a:xfrm>
            <a:off x="932688" y="5387848"/>
            <a:ext cx="411227" cy="256032"/>
          </a:xfrm>
          <a:prstGeom prst="rect">
            <a:avLst/>
          </a:prstGeom>
          <a:noFill/>
        </p:spPr>
        <p:txBody>
          <a:bodyPr wrap="square" lIns="0" rIns="0" tIns="0" bIns="0" anchor="ctr">
            <a:noAutofit/>
          </a:bodyPr>
          <a:lstStyle/>
          <a:p>
            <a:pPr algn="l">
              <a:lnSpc>
                <a:spcPts val="1235"/>
              </a:lnSpc>
              <a:spcBef>
                <a:spcPts val="0"/>
              </a:spcBef>
              <a:spcAft>
                <a:spcPts val="0"/>
              </a:spcAft>
            </a:pPr>
            <a:r>
              <a:rPr sz="950" b="1" i="0">
                <a:solidFill>
                  <a:srgbClr val="FFB21A"/>
                </a:solidFill>
                <a:latin typeface="Apple SD Gothic Neo"/>
                <a:ea typeface="Apple SD Gothic Neo"/>
              </a:rPr>
              <a:t>경로 ①</a:t>
            </a:r>
          </a:p>
        </p:txBody>
      </p:sp>
      <p:sp>
        <p:nvSpPr>
          <p:cNvPr id="32" name="TextBox 31"/>
          <p:cNvSpPr txBox="1"/>
          <p:nvPr/>
        </p:nvSpPr>
        <p:spPr>
          <a:xfrm>
            <a:off x="822960" y="5735320"/>
            <a:ext cx="3198266" cy="446024"/>
          </a:xfrm>
          <a:prstGeom prst="rect">
            <a:avLst/>
          </a:prstGeom>
          <a:noFill/>
        </p:spPr>
        <p:txBody>
          <a:bodyPr wrap="square" lIns="0" rIns="0" tIns="0" bIns="0" anchor="t">
            <a:noAutofit/>
          </a:bodyPr>
          <a:lstStyle/>
          <a:p>
            <a:pPr algn="l">
              <a:lnSpc>
                <a:spcPts val="1539"/>
              </a:lnSpc>
              <a:spcBef>
                <a:spcPts val="0"/>
              </a:spcBef>
              <a:spcAft>
                <a:spcPts val="0"/>
              </a:spcAft>
            </a:pPr>
            <a:r>
              <a:rPr sz="1100" b="0" i="0">
                <a:solidFill>
                  <a:srgbClr val="141413"/>
                </a:solidFill>
                <a:latin typeface="Apple SD Gothic Neo"/>
                <a:ea typeface="Apple SD Gothic Neo"/>
              </a:rPr>
              <a:t>같은 프로토콜로 원인 분석 후 재도전 (실패 바운티로 연구비 일부 환급)</a:t>
            </a:r>
          </a:p>
        </p:txBody>
      </p:sp>
      <p:sp>
        <p:nvSpPr>
          <p:cNvPr id="33" name="Rounded Rectangle 32"/>
          <p:cNvSpPr/>
          <p:nvPr/>
        </p:nvSpPr>
        <p:spPr>
          <a:xfrm>
            <a:off x="4332122" y="5241544"/>
            <a:ext cx="3527450" cy="1049528"/>
          </a:xfrm>
          <a:prstGeom prst="roundRect">
            <a:avLst>
              <a:gd name="adj" fmla="val 13939"/>
            </a:avLst>
          </a:prstGeom>
          <a:solidFill>
            <a:srgbClr val="FFFFFF"/>
          </a:solidFill>
          <a:ln>
            <a:noFill/>
          </a:ln>
        </p:spPr>
        <p:txBody>
          <a:bodyPr rtlCol="0" anchor="ctr"/>
          <a:lstStyle/>
          <a:p>
            <a:pPr algn="ctr"/>
          </a:p>
        </p:txBody>
      </p:sp>
      <p:sp>
        <p:nvSpPr>
          <p:cNvPr id="34" name="Rounded Rectangle 33"/>
          <p:cNvSpPr/>
          <p:nvPr/>
        </p:nvSpPr>
        <p:spPr>
          <a:xfrm>
            <a:off x="4496714" y="5387848"/>
            <a:ext cx="584963" cy="256032"/>
          </a:xfrm>
          <a:prstGeom prst="roundRect">
            <a:avLst>
              <a:gd name="adj" fmla="val 50000"/>
            </a:avLst>
          </a:prstGeom>
          <a:solidFill>
            <a:srgbClr val="141413"/>
          </a:solidFill>
          <a:ln>
            <a:noFill/>
          </a:ln>
        </p:spPr>
        <p:txBody>
          <a:bodyPr rtlCol="0" anchor="ctr"/>
          <a:lstStyle/>
          <a:p>
            <a:pPr algn="ctr"/>
          </a:p>
        </p:txBody>
      </p:sp>
      <p:sp>
        <p:nvSpPr>
          <p:cNvPr id="35" name="TextBox 34"/>
          <p:cNvSpPr txBox="1"/>
          <p:nvPr/>
        </p:nvSpPr>
        <p:spPr>
          <a:xfrm>
            <a:off x="4606442" y="5387848"/>
            <a:ext cx="411227" cy="256032"/>
          </a:xfrm>
          <a:prstGeom prst="rect">
            <a:avLst/>
          </a:prstGeom>
          <a:noFill/>
        </p:spPr>
        <p:txBody>
          <a:bodyPr wrap="square" lIns="0" rIns="0" tIns="0" bIns="0" anchor="ctr">
            <a:noAutofit/>
          </a:bodyPr>
          <a:lstStyle/>
          <a:p>
            <a:pPr algn="l">
              <a:lnSpc>
                <a:spcPts val="1235"/>
              </a:lnSpc>
              <a:spcBef>
                <a:spcPts val="0"/>
              </a:spcBef>
              <a:spcAft>
                <a:spcPts val="0"/>
              </a:spcAft>
            </a:pPr>
            <a:r>
              <a:rPr sz="950" b="1" i="0">
                <a:solidFill>
                  <a:srgbClr val="FFB21A"/>
                </a:solidFill>
                <a:latin typeface="Apple SD Gothic Neo"/>
                <a:ea typeface="Apple SD Gothic Neo"/>
              </a:rPr>
              <a:t>경로 ②</a:t>
            </a:r>
          </a:p>
        </p:txBody>
      </p:sp>
      <p:sp>
        <p:nvSpPr>
          <p:cNvPr id="36" name="TextBox 35"/>
          <p:cNvSpPr txBox="1"/>
          <p:nvPr/>
        </p:nvSpPr>
        <p:spPr>
          <a:xfrm>
            <a:off x="4496714" y="5735320"/>
            <a:ext cx="3198266" cy="446024"/>
          </a:xfrm>
          <a:prstGeom prst="rect">
            <a:avLst/>
          </a:prstGeom>
          <a:noFill/>
        </p:spPr>
        <p:txBody>
          <a:bodyPr wrap="square" lIns="0" rIns="0" tIns="0" bIns="0" anchor="t">
            <a:noAutofit/>
          </a:bodyPr>
          <a:lstStyle/>
          <a:p>
            <a:pPr algn="l">
              <a:lnSpc>
                <a:spcPts val="1539"/>
              </a:lnSpc>
              <a:spcBef>
                <a:spcPts val="0"/>
              </a:spcBef>
              <a:spcAft>
                <a:spcPts val="0"/>
              </a:spcAft>
            </a:pPr>
            <a:r>
              <a:rPr sz="1100" b="0" i="0">
                <a:solidFill>
                  <a:srgbClr val="141413"/>
                </a:solidFill>
                <a:latin typeface="Apple SD Gothic Neo"/>
                <a:ea typeface="Apple SD Gothic Neo"/>
              </a:rPr>
              <a:t>3.3으로 돌아가 용량 낮추기(안전 부족 시) 또는 제형 변경(경피 패치로 피크 낮추기 등)</a:t>
            </a:r>
          </a:p>
        </p:txBody>
      </p:sp>
      <p:sp>
        <p:nvSpPr>
          <p:cNvPr id="37" name="Rounded Rectangle 36"/>
          <p:cNvSpPr/>
          <p:nvPr/>
        </p:nvSpPr>
        <p:spPr>
          <a:xfrm>
            <a:off x="8005877" y="5241544"/>
            <a:ext cx="3527450" cy="1049528"/>
          </a:xfrm>
          <a:prstGeom prst="roundRect">
            <a:avLst>
              <a:gd name="adj" fmla="val 13939"/>
            </a:avLst>
          </a:prstGeom>
          <a:solidFill>
            <a:srgbClr val="FFFFFF"/>
          </a:solidFill>
          <a:ln>
            <a:noFill/>
          </a:ln>
        </p:spPr>
        <p:txBody>
          <a:bodyPr rtlCol="0" anchor="ctr"/>
          <a:lstStyle/>
          <a:p>
            <a:pPr algn="ctr"/>
          </a:p>
        </p:txBody>
      </p:sp>
      <p:sp>
        <p:nvSpPr>
          <p:cNvPr id="38" name="Rounded Rectangle 37"/>
          <p:cNvSpPr/>
          <p:nvPr/>
        </p:nvSpPr>
        <p:spPr>
          <a:xfrm>
            <a:off x="8170469" y="5387848"/>
            <a:ext cx="584963" cy="256032"/>
          </a:xfrm>
          <a:prstGeom prst="roundRect">
            <a:avLst>
              <a:gd name="adj" fmla="val 50000"/>
            </a:avLst>
          </a:prstGeom>
          <a:solidFill>
            <a:srgbClr val="141413"/>
          </a:solidFill>
          <a:ln>
            <a:noFill/>
          </a:ln>
        </p:spPr>
        <p:txBody>
          <a:bodyPr rtlCol="0" anchor="ctr"/>
          <a:lstStyle/>
          <a:p>
            <a:pPr algn="ctr"/>
          </a:p>
        </p:txBody>
      </p:sp>
      <p:sp>
        <p:nvSpPr>
          <p:cNvPr id="39" name="TextBox 38"/>
          <p:cNvSpPr txBox="1"/>
          <p:nvPr/>
        </p:nvSpPr>
        <p:spPr>
          <a:xfrm>
            <a:off x="8280197" y="5387848"/>
            <a:ext cx="411227" cy="256032"/>
          </a:xfrm>
          <a:prstGeom prst="rect">
            <a:avLst/>
          </a:prstGeom>
          <a:noFill/>
        </p:spPr>
        <p:txBody>
          <a:bodyPr wrap="square" lIns="0" rIns="0" tIns="0" bIns="0" anchor="ctr">
            <a:noAutofit/>
          </a:bodyPr>
          <a:lstStyle/>
          <a:p>
            <a:pPr algn="l">
              <a:lnSpc>
                <a:spcPts val="1235"/>
              </a:lnSpc>
              <a:spcBef>
                <a:spcPts val="0"/>
              </a:spcBef>
              <a:spcAft>
                <a:spcPts val="0"/>
              </a:spcAft>
            </a:pPr>
            <a:r>
              <a:rPr sz="950" b="1" i="0">
                <a:solidFill>
                  <a:srgbClr val="FFB21A"/>
                </a:solidFill>
                <a:latin typeface="Apple SD Gothic Neo"/>
                <a:ea typeface="Apple SD Gothic Neo"/>
              </a:rPr>
              <a:t>경로 ③</a:t>
            </a:r>
          </a:p>
        </p:txBody>
      </p:sp>
      <p:sp>
        <p:nvSpPr>
          <p:cNvPr id="40" name="TextBox 39"/>
          <p:cNvSpPr txBox="1"/>
          <p:nvPr/>
        </p:nvSpPr>
        <p:spPr>
          <a:xfrm>
            <a:off x="8170469" y="5735320"/>
            <a:ext cx="3198266" cy="446024"/>
          </a:xfrm>
          <a:prstGeom prst="rect">
            <a:avLst/>
          </a:prstGeom>
          <a:noFill/>
        </p:spPr>
        <p:txBody>
          <a:bodyPr wrap="square" lIns="0" rIns="0" tIns="0" bIns="0" anchor="t">
            <a:noAutofit/>
          </a:bodyPr>
          <a:lstStyle/>
          <a:p>
            <a:pPr algn="l">
              <a:lnSpc>
                <a:spcPts val="1539"/>
              </a:lnSpc>
              <a:spcBef>
                <a:spcPts val="0"/>
              </a:spcBef>
              <a:spcAft>
                <a:spcPts val="0"/>
              </a:spcAft>
            </a:pPr>
            <a:r>
              <a:rPr sz="1100" b="0" i="0">
                <a:solidFill>
                  <a:srgbClr val="141413"/>
                </a:solidFill>
                <a:latin typeface="Apple SD Gothic Neo"/>
                <a:ea typeface="Apple SD Gothic Neo"/>
              </a:rPr>
              <a:t>3.2에서 확보해 둔 백업 특허 후보로 주력 교체 후 새 IND 진입</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23 / 26</a:t>
            </a:r>
          </a:p>
        </p:txBody>
      </p:sp>
      <p:sp>
        <p:nvSpPr>
          <p:cNvPr id="7" name="Rounded Rectangle 6"/>
          <p:cNvSpPr/>
          <p:nvPr/>
        </p:nvSpPr>
        <p:spPr>
          <a:xfrm>
            <a:off x="457200" y="566928"/>
            <a:ext cx="2873150"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598830"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4 · 경제 · AI 안전 · 수업 운영</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예산이 바닥나 손을 놓는 모둠이 없도록 설계한 4중 학습 연구비 구조</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시간이 흐른다고 돈을 깎는 유지비를 없애고, 모둠원이 참여하고 기록할수록 연구비가 충전되는 양수 보상 체계를 씁니다.</a:t>
            </a:r>
          </a:p>
        </p:txBody>
      </p:sp>
      <p:sp>
        <p:nvSpPr>
          <p:cNvPr id="12" name="Rounded Rectangle 11"/>
          <p:cNvSpPr/>
          <p:nvPr/>
        </p:nvSpPr>
        <p:spPr>
          <a:xfrm>
            <a:off x="457200" y="1825498"/>
            <a:ext cx="5955758" cy="329184"/>
          </a:xfrm>
          <a:prstGeom prst="roundRect">
            <a:avLst>
              <a:gd name="adj" fmla="val 50000"/>
            </a:avLst>
          </a:prstGeom>
          <a:solidFill>
            <a:srgbClr val="141413"/>
          </a:solidFill>
          <a:ln>
            <a:noFill/>
          </a:ln>
        </p:spPr>
        <p:txBody>
          <a:bodyPr rtlCol="0" anchor="ctr"/>
          <a:lstStyle/>
          <a:p>
            <a:pPr algn="ctr"/>
          </a:p>
        </p:txBody>
      </p:sp>
      <p:sp>
        <p:nvSpPr>
          <p:cNvPr id="13" name="TextBox 12"/>
          <p:cNvSpPr txBox="1"/>
          <p:nvPr/>
        </p:nvSpPr>
        <p:spPr>
          <a:xfrm>
            <a:off x="685800" y="1825498"/>
            <a:ext cx="5681438" cy="329184"/>
          </a:xfrm>
          <a:prstGeom prst="rect">
            <a:avLst/>
          </a:prstGeom>
          <a:noFill/>
        </p:spPr>
        <p:txBody>
          <a:bodyPr wrap="square" lIns="0" rIns="0" tIns="0" bIns="0" anchor="ctr">
            <a:noAutofit/>
          </a:bodyPr>
          <a:lstStyle/>
          <a:p>
            <a:pPr algn="l">
              <a:lnSpc>
                <a:spcPts val="1365"/>
              </a:lnSpc>
              <a:spcBef>
                <a:spcPts val="0"/>
              </a:spcBef>
              <a:spcAft>
                <a:spcPts val="0"/>
              </a:spcAft>
            </a:pPr>
            <a:r>
              <a:rPr sz="1050" b="1" i="0" spc="50">
                <a:solidFill>
                  <a:srgbClr val="FFB21A"/>
                </a:solidFill>
                <a:latin typeface="Menlo"/>
                <a:ea typeface="Apple SD Gothic Neo"/>
              </a:rPr>
              <a:t>4중 연구비 조달 체계 (초기 자금 10,000,000 크리스타 = $2.000M 상당 출발)</a:t>
            </a:r>
          </a:p>
        </p:txBody>
      </p:sp>
      <p:sp>
        <p:nvSpPr>
          <p:cNvPr id="14" name="Rounded Rectangle 13"/>
          <p:cNvSpPr/>
          <p:nvPr/>
        </p:nvSpPr>
        <p:spPr>
          <a:xfrm>
            <a:off x="457200" y="2337562"/>
            <a:ext cx="5524348" cy="1953895"/>
          </a:xfrm>
          <a:prstGeom prst="roundRect">
            <a:avLst>
              <a:gd name="adj" fmla="val 9359"/>
            </a:avLst>
          </a:prstGeom>
          <a:solidFill>
            <a:srgbClr val="FFFFFF"/>
          </a:solidFill>
          <a:ln>
            <a:noFill/>
          </a:ln>
        </p:spPr>
        <p:txBody>
          <a:bodyPr rtlCol="0" anchor="ctr"/>
          <a:lstStyle/>
          <a:p>
            <a:pPr algn="ctr"/>
          </a:p>
        </p:txBody>
      </p:sp>
      <p:sp>
        <p:nvSpPr>
          <p:cNvPr id="15" name="Rectangle 14"/>
          <p:cNvSpPr/>
          <p:nvPr/>
        </p:nvSpPr>
        <p:spPr>
          <a:xfrm>
            <a:off x="457200" y="2566162"/>
            <a:ext cx="73152" cy="1496695"/>
          </a:xfrm>
          <a:prstGeom prst="rect">
            <a:avLst/>
          </a:prstGeom>
          <a:solidFill>
            <a:srgbClr val="D4F94E"/>
          </a:solidFill>
          <a:ln>
            <a:noFill/>
          </a:ln>
        </p:spPr>
        <p:txBody>
          <a:bodyPr rtlCol="0" anchor="ctr"/>
          <a:lstStyle/>
          <a:p>
            <a:pPr algn="ctr"/>
          </a:p>
        </p:txBody>
      </p:sp>
      <p:sp>
        <p:nvSpPr>
          <p:cNvPr id="16" name="TextBox 15"/>
          <p:cNvSpPr txBox="1"/>
          <p:nvPr/>
        </p:nvSpPr>
        <p:spPr>
          <a:xfrm>
            <a:off x="685800" y="2502154"/>
            <a:ext cx="5067148" cy="384048"/>
          </a:xfrm>
          <a:prstGeom prst="rect">
            <a:avLst/>
          </a:prstGeom>
          <a:noFill/>
        </p:spPr>
        <p:txBody>
          <a:bodyPr wrap="square" lIns="0" rIns="0" tIns="0" bIns="0" anchor="ctr">
            <a:noAutofit/>
          </a:bodyPr>
          <a:lstStyle/>
          <a:p>
            <a:pPr algn="l">
              <a:lnSpc>
                <a:spcPts val="1690"/>
              </a:lnSpc>
              <a:spcBef>
                <a:spcPts val="0"/>
              </a:spcBef>
              <a:spcAft>
                <a:spcPts val="0"/>
              </a:spcAft>
            </a:pPr>
            <a:r>
              <a:rPr sz="1300" b="1" i="0">
                <a:solidFill>
                  <a:srgbClr val="141413"/>
                </a:solidFill>
                <a:latin typeface="Apple SD Gothic Neo"/>
                <a:ea typeface="Apple SD Gothic Neo"/>
              </a:rPr>
              <a:t>1. 참여 가동률 연동 기초 연구비 (10분 주기 자동 충전)</a:t>
            </a:r>
          </a:p>
        </p:txBody>
      </p:sp>
      <p:sp>
        <p:nvSpPr>
          <p:cNvPr id="17" name="TextBox 16"/>
          <p:cNvSpPr txBox="1"/>
          <p:nvPr/>
        </p:nvSpPr>
        <p:spPr>
          <a:xfrm>
            <a:off x="685800" y="2941066"/>
            <a:ext cx="5067148" cy="1222375"/>
          </a:xfrm>
          <a:prstGeom prst="rect">
            <a:avLst/>
          </a:prstGeom>
          <a:noFill/>
        </p:spPr>
        <p:txBody>
          <a:bodyPr wrap="square" lIns="0" rIns="0" tIns="0" bIns="0" anchor="t">
            <a:noAutofit/>
          </a:bodyPr>
          <a:lstStyle/>
          <a:p>
            <a:pPr algn="l">
              <a:lnSpc>
                <a:spcPts val="1739"/>
              </a:lnSpc>
              <a:spcBef>
                <a:spcPts val="0"/>
              </a:spcBef>
              <a:spcAft>
                <a:spcPts val="0"/>
              </a:spcAft>
            </a:pPr>
            <a:r>
              <a:rPr sz="1200" b="0" i="0">
                <a:solidFill>
                  <a:srgbClr val="5C5B56"/>
                </a:solidFill>
                <a:latin typeface="Apple SD Gothic Neo"/>
                <a:ea typeface="Apple SD Gothic Neo"/>
              </a:rPr>
              <a:t>모둠원들이 현재 단계에서 활동 중이면 현실 시간 10분마다 기초 연구비가 배율(×1.0 ~ ×2.5)로 실시간 충전됩니다. 4명 전원이 가동하면 그 단계 잔여 기초 연구비가 즉시 정산되어 50분 단기 수업과 100분 블록 수업 모두에 맞습니다.</a:t>
            </a:r>
          </a:p>
        </p:txBody>
      </p:sp>
      <p:sp>
        <p:nvSpPr>
          <p:cNvPr id="18" name="Rounded Rectangle 17"/>
          <p:cNvSpPr/>
          <p:nvPr/>
        </p:nvSpPr>
        <p:spPr>
          <a:xfrm>
            <a:off x="6210148" y="2337562"/>
            <a:ext cx="5524348" cy="1953895"/>
          </a:xfrm>
          <a:prstGeom prst="roundRect">
            <a:avLst>
              <a:gd name="adj" fmla="val 9359"/>
            </a:avLst>
          </a:prstGeom>
          <a:solidFill>
            <a:srgbClr val="FFFFFF"/>
          </a:solidFill>
          <a:ln>
            <a:noFill/>
          </a:ln>
        </p:spPr>
        <p:txBody>
          <a:bodyPr rtlCol="0" anchor="ctr"/>
          <a:lstStyle/>
          <a:p>
            <a:pPr algn="ctr"/>
          </a:p>
        </p:txBody>
      </p:sp>
      <p:sp>
        <p:nvSpPr>
          <p:cNvPr id="19" name="Rectangle 18"/>
          <p:cNvSpPr/>
          <p:nvPr/>
        </p:nvSpPr>
        <p:spPr>
          <a:xfrm>
            <a:off x="6210148" y="2566162"/>
            <a:ext cx="73152" cy="1496695"/>
          </a:xfrm>
          <a:prstGeom prst="rect">
            <a:avLst/>
          </a:prstGeom>
          <a:solidFill>
            <a:srgbClr val="FFB21A"/>
          </a:solidFill>
          <a:ln>
            <a:noFill/>
          </a:ln>
        </p:spPr>
        <p:txBody>
          <a:bodyPr rtlCol="0" anchor="ctr"/>
          <a:lstStyle/>
          <a:p>
            <a:pPr algn="ctr"/>
          </a:p>
        </p:txBody>
      </p:sp>
      <p:sp>
        <p:nvSpPr>
          <p:cNvPr id="20" name="TextBox 19"/>
          <p:cNvSpPr txBox="1"/>
          <p:nvPr/>
        </p:nvSpPr>
        <p:spPr>
          <a:xfrm>
            <a:off x="6438748" y="2502154"/>
            <a:ext cx="5067148" cy="384048"/>
          </a:xfrm>
          <a:prstGeom prst="rect">
            <a:avLst/>
          </a:prstGeom>
          <a:noFill/>
        </p:spPr>
        <p:txBody>
          <a:bodyPr wrap="square" lIns="0" rIns="0" tIns="0" bIns="0" anchor="ctr">
            <a:noAutofit/>
          </a:bodyPr>
          <a:lstStyle/>
          <a:p>
            <a:pPr algn="l">
              <a:lnSpc>
                <a:spcPts val="1690"/>
              </a:lnSpc>
              <a:spcBef>
                <a:spcPts val="0"/>
              </a:spcBef>
              <a:spcAft>
                <a:spcPts val="0"/>
              </a:spcAft>
            </a:pPr>
            <a:r>
              <a:rPr sz="1300" b="1" i="0">
                <a:solidFill>
                  <a:srgbClr val="141413"/>
                </a:solidFill>
                <a:latin typeface="Apple SD Gothic Neo"/>
                <a:ea typeface="Apple SD Gothic Neo"/>
              </a:rPr>
              <a:t>2. 연구 노트 3칸 분담 보상 (단계당 최대 240,000 크리스타)</a:t>
            </a:r>
          </a:p>
        </p:txBody>
      </p:sp>
      <p:sp>
        <p:nvSpPr>
          <p:cNvPr id="21" name="TextBox 20"/>
          <p:cNvSpPr txBox="1"/>
          <p:nvPr/>
        </p:nvSpPr>
        <p:spPr>
          <a:xfrm>
            <a:off x="6438748" y="2941066"/>
            <a:ext cx="5067148" cy="1222375"/>
          </a:xfrm>
          <a:prstGeom prst="rect">
            <a:avLst/>
          </a:prstGeom>
          <a:noFill/>
        </p:spPr>
        <p:txBody>
          <a:bodyPr wrap="square" lIns="0" rIns="0" tIns="0" bIns="0" anchor="t">
            <a:noAutofit/>
          </a:bodyPr>
          <a:lstStyle/>
          <a:p>
            <a:pPr algn="l">
              <a:lnSpc>
                <a:spcPts val="1739"/>
              </a:lnSpc>
              <a:spcBef>
                <a:spcPts val="0"/>
              </a:spcBef>
              <a:spcAft>
                <a:spcPts val="0"/>
              </a:spcAft>
            </a:pPr>
            <a:r>
              <a:rPr sz="1200" b="0" i="0">
                <a:solidFill>
                  <a:srgbClr val="5C5B56"/>
                </a:solidFill>
                <a:latin typeface="Apple SD Gothic Neo"/>
                <a:ea typeface="Apple SD Gothic Neo"/>
              </a:rPr>
              <a:t>단계마다 ① 왜 골랐나 · ② 무엇을 모르나 · ③ 실패하면 무엇을 바꾸나 3칸을 작성해 평가받으면 연구비를 지급합니다. 3명이 한 칸씩 나눠 쓰면 ×1.2 분담 보너스가 붙으며, 채점을 받지 않아도 다음 단계 진행은 절대 막지 않습니다.</a:t>
            </a:r>
          </a:p>
        </p:txBody>
      </p:sp>
      <p:sp>
        <p:nvSpPr>
          <p:cNvPr id="22" name="Rounded Rectangle 21"/>
          <p:cNvSpPr/>
          <p:nvPr/>
        </p:nvSpPr>
        <p:spPr>
          <a:xfrm>
            <a:off x="457200" y="4520057"/>
            <a:ext cx="5524348" cy="1953895"/>
          </a:xfrm>
          <a:prstGeom prst="roundRect">
            <a:avLst>
              <a:gd name="adj" fmla="val 9359"/>
            </a:avLst>
          </a:prstGeom>
          <a:solidFill>
            <a:srgbClr val="FFFFFF"/>
          </a:solidFill>
          <a:ln>
            <a:noFill/>
          </a:ln>
        </p:spPr>
        <p:txBody>
          <a:bodyPr rtlCol="0" anchor="ctr"/>
          <a:lstStyle/>
          <a:p>
            <a:pPr algn="ctr"/>
          </a:p>
        </p:txBody>
      </p:sp>
      <p:sp>
        <p:nvSpPr>
          <p:cNvPr id="23" name="Rectangle 22"/>
          <p:cNvSpPr/>
          <p:nvPr/>
        </p:nvSpPr>
        <p:spPr>
          <a:xfrm>
            <a:off x="457200" y="4748657"/>
            <a:ext cx="73152" cy="1496695"/>
          </a:xfrm>
          <a:prstGeom prst="rect">
            <a:avLst/>
          </a:prstGeom>
          <a:solidFill>
            <a:srgbClr val="7FB8FF"/>
          </a:solidFill>
          <a:ln>
            <a:noFill/>
          </a:ln>
        </p:spPr>
        <p:txBody>
          <a:bodyPr rtlCol="0" anchor="ctr"/>
          <a:lstStyle/>
          <a:p>
            <a:pPr algn="ctr"/>
          </a:p>
        </p:txBody>
      </p:sp>
      <p:sp>
        <p:nvSpPr>
          <p:cNvPr id="24" name="TextBox 23"/>
          <p:cNvSpPr txBox="1"/>
          <p:nvPr/>
        </p:nvSpPr>
        <p:spPr>
          <a:xfrm>
            <a:off x="685800" y="4684649"/>
            <a:ext cx="5067148" cy="384048"/>
          </a:xfrm>
          <a:prstGeom prst="rect">
            <a:avLst/>
          </a:prstGeom>
          <a:noFill/>
        </p:spPr>
        <p:txBody>
          <a:bodyPr wrap="square" lIns="0" rIns="0" tIns="0" bIns="0" anchor="ctr">
            <a:noAutofit/>
          </a:bodyPr>
          <a:lstStyle/>
          <a:p>
            <a:pPr algn="l">
              <a:lnSpc>
                <a:spcPts val="1690"/>
              </a:lnSpc>
              <a:spcBef>
                <a:spcPts val="0"/>
              </a:spcBef>
              <a:spcAft>
                <a:spcPts val="0"/>
              </a:spcAft>
            </a:pPr>
            <a:r>
              <a:rPr sz="1300" b="1" i="0">
                <a:solidFill>
                  <a:srgbClr val="141413"/>
                </a:solidFill>
                <a:latin typeface="Apple SD Gothic Neo"/>
                <a:ea typeface="Apple SD Gothic Neo"/>
              </a:rPr>
              <a:t>3. 단계별 개념 · 중급 · 심화(서술형) 3단 문항</a:t>
            </a:r>
          </a:p>
        </p:txBody>
      </p:sp>
      <p:sp>
        <p:nvSpPr>
          <p:cNvPr id="25" name="TextBox 24"/>
          <p:cNvSpPr txBox="1"/>
          <p:nvPr/>
        </p:nvSpPr>
        <p:spPr>
          <a:xfrm>
            <a:off x="685800" y="5123561"/>
            <a:ext cx="5067148" cy="1222375"/>
          </a:xfrm>
          <a:prstGeom prst="rect">
            <a:avLst/>
          </a:prstGeom>
          <a:noFill/>
        </p:spPr>
        <p:txBody>
          <a:bodyPr wrap="square" lIns="0" rIns="0" tIns="0" bIns="0" anchor="t">
            <a:noAutofit/>
          </a:bodyPr>
          <a:lstStyle/>
          <a:p>
            <a:pPr algn="l">
              <a:lnSpc>
                <a:spcPts val="1739"/>
              </a:lnSpc>
              <a:spcBef>
                <a:spcPts val="0"/>
              </a:spcBef>
              <a:spcAft>
                <a:spcPts val="0"/>
              </a:spcAft>
            </a:pPr>
            <a:r>
              <a:rPr sz="1200" b="0" i="0">
                <a:solidFill>
                  <a:srgbClr val="5C5B56"/>
                </a:solidFill>
                <a:latin typeface="Apple SD Gothic Neo"/>
                <a:ea typeface="Apple SD Gothic Neo"/>
              </a:rPr>
              <a:t>추가 연구비가 필요한 모둠은 단계별 학습 문항을 풀어 연구비를 확보합니다.</a:t>
            </a:r>
          </a:p>
        </p:txBody>
      </p:sp>
      <p:sp>
        <p:nvSpPr>
          <p:cNvPr id="26" name="Rounded Rectangle 25"/>
          <p:cNvSpPr/>
          <p:nvPr/>
        </p:nvSpPr>
        <p:spPr>
          <a:xfrm>
            <a:off x="6210148" y="4520057"/>
            <a:ext cx="5524348" cy="1953895"/>
          </a:xfrm>
          <a:prstGeom prst="roundRect">
            <a:avLst>
              <a:gd name="adj" fmla="val 9359"/>
            </a:avLst>
          </a:prstGeom>
          <a:solidFill>
            <a:srgbClr val="FFFFFF"/>
          </a:solidFill>
          <a:ln>
            <a:noFill/>
          </a:ln>
        </p:spPr>
        <p:txBody>
          <a:bodyPr rtlCol="0" anchor="ctr"/>
          <a:lstStyle/>
          <a:p>
            <a:pPr algn="ctr"/>
          </a:p>
        </p:txBody>
      </p:sp>
      <p:sp>
        <p:nvSpPr>
          <p:cNvPr id="27" name="Rectangle 26"/>
          <p:cNvSpPr/>
          <p:nvPr/>
        </p:nvSpPr>
        <p:spPr>
          <a:xfrm>
            <a:off x="6210148" y="4748657"/>
            <a:ext cx="73152" cy="1496695"/>
          </a:xfrm>
          <a:prstGeom prst="rect">
            <a:avLst/>
          </a:prstGeom>
          <a:solidFill>
            <a:srgbClr val="B79CFF"/>
          </a:solidFill>
          <a:ln>
            <a:noFill/>
          </a:ln>
        </p:spPr>
        <p:txBody>
          <a:bodyPr rtlCol="0" anchor="ctr"/>
          <a:lstStyle/>
          <a:p>
            <a:pPr algn="ctr"/>
          </a:p>
        </p:txBody>
      </p:sp>
      <p:sp>
        <p:nvSpPr>
          <p:cNvPr id="28" name="TextBox 27"/>
          <p:cNvSpPr txBox="1"/>
          <p:nvPr/>
        </p:nvSpPr>
        <p:spPr>
          <a:xfrm>
            <a:off x="6438748" y="4684649"/>
            <a:ext cx="5067148" cy="384048"/>
          </a:xfrm>
          <a:prstGeom prst="rect">
            <a:avLst/>
          </a:prstGeom>
          <a:noFill/>
        </p:spPr>
        <p:txBody>
          <a:bodyPr wrap="square" lIns="0" rIns="0" tIns="0" bIns="0" anchor="ctr">
            <a:noAutofit/>
          </a:bodyPr>
          <a:lstStyle/>
          <a:p>
            <a:pPr algn="l">
              <a:lnSpc>
                <a:spcPts val="1690"/>
              </a:lnSpc>
              <a:spcBef>
                <a:spcPts val="0"/>
              </a:spcBef>
              <a:spcAft>
                <a:spcPts val="0"/>
              </a:spcAft>
            </a:pPr>
            <a:r>
              <a:rPr sz="1300" b="1" i="0">
                <a:solidFill>
                  <a:srgbClr val="141413"/>
                </a:solidFill>
                <a:latin typeface="Apple SD Gothic Neo"/>
                <a:ea typeface="Apple SD Gothic Neo"/>
              </a:rPr>
              <a:t>4. 교사 승인 없이 즉시 입금되는 Series A / B 자동 투자 심사</a:t>
            </a:r>
          </a:p>
        </p:txBody>
      </p:sp>
      <p:sp>
        <p:nvSpPr>
          <p:cNvPr id="29" name="TextBox 28"/>
          <p:cNvSpPr txBox="1"/>
          <p:nvPr/>
        </p:nvSpPr>
        <p:spPr>
          <a:xfrm>
            <a:off x="6438748" y="5123561"/>
            <a:ext cx="5067148" cy="1222375"/>
          </a:xfrm>
          <a:prstGeom prst="rect">
            <a:avLst/>
          </a:prstGeom>
          <a:noFill/>
        </p:spPr>
        <p:txBody>
          <a:bodyPr wrap="square" lIns="0" rIns="0" tIns="0" bIns="0" anchor="t">
            <a:noAutofit/>
          </a:bodyPr>
          <a:lstStyle/>
          <a:p>
            <a:pPr algn="l">
              <a:lnSpc>
                <a:spcPts val="1739"/>
              </a:lnSpc>
              <a:spcBef>
                <a:spcPts val="0"/>
              </a:spcBef>
              <a:spcAft>
                <a:spcPts val="0"/>
              </a:spcAft>
            </a:pPr>
            <a:r>
              <a:rPr sz="1200" b="0" i="0">
                <a:solidFill>
                  <a:srgbClr val="5C5B56"/>
                </a:solidFill>
                <a:latin typeface="Apple SD Gothic Neo"/>
                <a:ea typeface="Apple SD Gothic Neo"/>
              </a:rPr>
              <a:t>2.2 완료 후 Series A(최대 1,500만 크리스타), 3.3 완료 후 Series B(최대 2,500만 크리스타)를 신청하면, 서버가 4인 병렬 발굴 데이터(정량 70점)와 연구 노트·투자 피치(정성 30점)를 즉시 종합 평가해 점수 비례(최소 30% 보장)로 입금합니다.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24 / 26</a:t>
            </a:r>
          </a:p>
        </p:txBody>
      </p:sp>
      <p:sp>
        <p:nvSpPr>
          <p:cNvPr id="7" name="Rounded Rectangle 6"/>
          <p:cNvSpPr/>
          <p:nvPr/>
        </p:nvSpPr>
        <p:spPr>
          <a:xfrm>
            <a:off x="457200" y="566928"/>
            <a:ext cx="2185164"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1910844"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4 · AI 심사 거버넌스</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'규칙 먼저, AI 다음' — 공정한 판정과 안전한 교실 운영을 위한 7가지 원칙</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점수 계산, 특허 선점, 연구비 입출금은 서버 코드만 결정하며, AI 심사관은 서류의 논리적 완결성만 점검합니다.</a:t>
            </a:r>
          </a:p>
        </p:txBody>
      </p:sp>
      <p:sp>
        <p:nvSpPr>
          <p:cNvPr id="12" name="TextBox 11"/>
          <p:cNvSpPr txBox="1"/>
          <p:nvPr/>
        </p:nvSpPr>
        <p:spPr>
          <a:xfrm>
            <a:off x="457200" y="182549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본문 7대 안전장치 표</a:t>
            </a:r>
          </a:p>
        </p:txBody>
      </p:sp>
      <p:graphicFrame>
        <p:nvGraphicFramePr>
          <p:cNvPr id="13" name="Table 12"/>
          <p:cNvGraphicFramePr>
            <a:graphicFrameLocks noGrp="1"/>
          </p:cNvGraphicFramePr>
          <p:nvPr/>
        </p:nvGraphicFramePr>
        <p:xfrm>
          <a:off x="457200" y="2046351"/>
          <a:ext cx="11277295" cy="4261739"/>
        </p:xfrm>
        <a:graphic>
          <a:graphicData uri="http://schemas.openxmlformats.org/drawingml/2006/table">
            <a:tbl>
              <a:tblPr firstRow="1">
                <a:tableStyleId>{2D5ABB26-0587-4C30-8999-92F81FD0307C}</a:tableStyleId>
              </a:tblPr>
              <a:tblGrid>
                <a:gridCol w="2606040"/>
                <a:gridCol w="8671255"/>
              </a:tblGrid>
              <a:tr h="467233">
                <a:tc>
                  <a:txBody>
                    <a:bodyPr wrap="square"/>
                    <a:lstStyle/>
                    <a:p>
                      <a:pPr algn="l">
                        <a:lnSpc>
                          <a:spcPts val="1375"/>
                        </a:lnSpc>
                        <a:spcBef>
                          <a:spcPts val="0"/>
                        </a:spcBef>
                        <a:spcAft>
                          <a:spcPts val="0"/>
                        </a:spcAft>
                      </a:pPr>
                      <a:r>
                        <a:rPr sz="1100" b="1" i="0">
                          <a:solidFill>
                            <a:srgbClr val="FAF9F5"/>
                          </a:solidFill>
                          <a:latin typeface="Apple SD Gothic Neo"/>
                          <a:ea typeface="Apple SD Gothic Neo"/>
                        </a:rPr>
                        <a:t>원칙</a:t>
                      </a:r>
                    </a:p>
                  </a:txBody>
                  <a:tcPr marL="128016" marR="128016" marT="146304" marB="146304" anchor="ctr">
                    <a:lnL w="0">
                      <a:noFill/>
                    </a:lnL>
                    <a:lnR w="0">
                      <a:noFill/>
                    </a:lnR>
                    <a:lnT w="0">
                      <a:noFill/>
                    </a:lnT>
                    <a:lnB w="0">
                      <a:noFill/>
                    </a:lnB>
                    <a:solidFill>
                      <a:srgbClr val="141413"/>
                    </a:solidFill>
                  </a:tcPr>
                </a:tc>
                <a:tc>
                  <a:txBody>
                    <a:bodyPr wrap="square"/>
                    <a:lstStyle/>
                    <a:p>
                      <a:pPr algn="l">
                        <a:lnSpc>
                          <a:spcPts val="1375"/>
                        </a:lnSpc>
                        <a:spcBef>
                          <a:spcPts val="0"/>
                        </a:spcBef>
                        <a:spcAft>
                          <a:spcPts val="0"/>
                        </a:spcAft>
                      </a:pPr>
                      <a:r>
                        <a:rPr sz="1100" b="1" i="0">
                          <a:solidFill>
                            <a:srgbClr val="FAF9F5"/>
                          </a:solidFill>
                          <a:latin typeface="Apple SD Gothic Neo"/>
                          <a:ea typeface="Apple SD Gothic Neo"/>
                        </a:rPr>
                        <a:t>구체적 작동 방식</a:t>
                      </a:r>
                    </a:p>
                  </a:txBody>
                  <a:tcPr marL="128016" marR="128016" marT="146304" marB="146304" anchor="ctr">
                    <a:lnL w="0">
                      <a:noFill/>
                    </a:lnL>
                    <a:lnR w="0">
                      <a:noFill/>
                    </a:lnR>
                    <a:lnT w="0">
                      <a:noFill/>
                    </a:lnT>
                    <a:lnB w="0">
                      <a:noFill/>
                    </a:lnB>
                    <a:solidFill>
                      <a:srgbClr val="141413"/>
                    </a:solidFill>
                  </a:tcPr>
                </a:tc>
              </a:tr>
              <a:tr h="641858">
                <a:tc>
                  <a:txBody>
                    <a:bodyPr wrap="square"/>
                    <a:lstStyle/>
                    <a:p>
                      <a:pPr algn="l">
                        <a:lnSpc>
                          <a:spcPts val="1375"/>
                        </a:lnSpc>
                        <a:spcBef>
                          <a:spcPts val="0"/>
                        </a:spcBef>
                        <a:spcAft>
                          <a:spcPts val="0"/>
                        </a:spcAft>
                      </a:pPr>
                      <a:r>
                        <a:rPr sz="1100" b="1" i="0">
                          <a:solidFill>
                            <a:srgbClr val="D4F94E"/>
                          </a:solidFill>
                          <a:latin typeface="Apple SD Gothic Neo"/>
                          <a:ea typeface="Apple SD Gothic Neo"/>
                        </a:rPr>
                        <a:t>1. 규칙 ∧ AI 이중 판정</a:t>
                      </a:r>
                    </a:p>
                  </a:txBody>
                  <a:tcPr marL="128016" marR="128016" marT="146304" marB="146304" anchor="ctr">
                    <a:lnL w="0">
                      <a:noFill/>
                    </a:lnL>
                    <a:lnR w="0">
                      <a:noFill/>
                    </a:lnR>
                    <a:lnT w="0">
                      <a:noFill/>
                    </a:lnT>
                    <a:lnB w="9525">
                      <a:solidFill>
                        <a:srgbClr val="DDDBD2"/>
                      </a:solidFill>
                    </a:lnB>
                    <a:solidFill>
                      <a:srgbClr val="1E3A1E"/>
                    </a:solidFill>
                  </a:tcPr>
                </a:tc>
                <a:tc>
                  <a:txBody>
                    <a:bodyPr wrap="square"/>
                    <a:lstStyle/>
                    <a:p>
                      <a:pPr algn="l">
                        <a:lnSpc>
                          <a:spcPts val="1375"/>
                        </a:lnSpc>
                        <a:spcBef>
                          <a:spcPts val="0"/>
                        </a:spcBef>
                        <a:spcAft>
                          <a:spcPts val="0"/>
                        </a:spcAft>
                      </a:pPr>
                      <a:r>
                        <a:rPr sz="1100" b="0" i="0">
                          <a:solidFill>
                            <a:srgbClr val="141413"/>
                          </a:solidFill>
                          <a:latin typeface="Apple SD Gothic Neo"/>
                          <a:ea typeface="Apple SD Gothic Neo"/>
                        </a:rPr>
                        <a:t>형식, 공지 물질 신규성, 학급 특허 중복, 마릿수 과다, 시작 용량 ≤ MRSD는 서버 규칙이 먼저 검사합니다. 규칙을 통과한 서류만 Claude Opus 5.5(effort medium)가 서술 모순을 봅니다.</a:t>
                      </a:r>
                    </a:p>
                  </a:txBody>
                  <a:tcPr marL="128016" marR="128016" marT="146304" marB="146304" anchor="ctr">
                    <a:lnL w="0">
                      <a:noFill/>
                    </a:lnL>
                    <a:lnR w="0">
                      <a:noFill/>
                    </a:lnR>
                    <a:lnT w="0">
                      <a:noFill/>
                    </a:lnT>
                    <a:lnB w="9525">
                      <a:solidFill>
                        <a:srgbClr val="E3E1D8"/>
                      </a:solidFill>
                    </a:lnB>
                    <a:solidFill>
                      <a:srgbClr val="FFFFFF"/>
                    </a:solidFill>
                  </a:tcPr>
                </a:tc>
              </a:tr>
              <a:tr h="467233">
                <a:tc>
                  <a:txBody>
                    <a:bodyPr wrap="square"/>
                    <a:lstStyle/>
                    <a:p>
                      <a:pPr algn="l">
                        <a:lnSpc>
                          <a:spcPts val="1375"/>
                        </a:lnSpc>
                        <a:spcBef>
                          <a:spcPts val="0"/>
                        </a:spcBef>
                        <a:spcAft>
                          <a:spcPts val="0"/>
                        </a:spcAft>
                      </a:pPr>
                      <a:r>
                        <a:rPr sz="1100" b="1" i="0">
                          <a:solidFill>
                            <a:srgbClr val="D4F94E"/>
                          </a:solidFill>
                          <a:latin typeface="Apple SD Gothic Neo"/>
                          <a:ea typeface="Apple SD Gothic Neo"/>
                        </a:rPr>
                        <a:t>2. 돈과 등재는 AI 불개입</a:t>
                      </a:r>
                    </a:p>
                  </a:txBody>
                  <a:tcPr marL="128016" marR="128016" marT="146304" marB="146304" anchor="ctr">
                    <a:lnL w="0">
                      <a:noFill/>
                    </a:lnL>
                    <a:lnR w="0">
                      <a:noFill/>
                    </a:lnR>
                    <a:lnT w="0">
                      <a:noFill/>
                    </a:lnT>
                    <a:lnB w="9525">
                      <a:solidFill>
                        <a:srgbClr val="DDDBD2"/>
                      </a:solidFill>
                    </a:lnB>
                    <a:solidFill>
                      <a:srgbClr val="1E3A1E"/>
                    </a:solidFill>
                  </a:tcPr>
                </a:tc>
                <a:tc>
                  <a:txBody>
                    <a:bodyPr wrap="square"/>
                    <a:lstStyle/>
                    <a:p>
                      <a:pPr algn="l">
                        <a:lnSpc>
                          <a:spcPts val="1375"/>
                        </a:lnSpc>
                        <a:spcBef>
                          <a:spcPts val="0"/>
                        </a:spcBef>
                        <a:spcAft>
                          <a:spcPts val="0"/>
                        </a:spcAft>
                      </a:pPr>
                      <a:r>
                        <a:rPr sz="1100" b="0" i="0">
                          <a:solidFill>
                            <a:srgbClr val="141413"/>
                          </a:solidFill>
                          <a:latin typeface="Apple SD Gothic Neo"/>
                          <a:ea typeface="Apple SD Gothic Neo"/>
                        </a:rPr>
                        <a:t>출원료 과금, 학급 특허 원장 등재, IND 최종 판정, 연구비 지급 트랜잭션은 AI가 건드리지 못합니다.</a:t>
                      </a:r>
                    </a:p>
                  </a:txBody>
                  <a:tcPr marL="128016" marR="128016" marT="146304" marB="146304" anchor="ctr">
                    <a:lnL w="0">
                      <a:noFill/>
                    </a:lnL>
                    <a:lnR w="0">
                      <a:noFill/>
                    </a:lnR>
                    <a:lnT w="0">
                      <a:noFill/>
                    </a:lnT>
                    <a:lnB w="9525">
                      <a:solidFill>
                        <a:srgbClr val="E3E1D8"/>
                      </a:solidFill>
                    </a:lnB>
                    <a:solidFill>
                      <a:srgbClr val="FFFFFF"/>
                    </a:solidFill>
                  </a:tcPr>
                </a:tc>
              </a:tr>
              <a:tr h="467233">
                <a:tc>
                  <a:txBody>
                    <a:bodyPr wrap="square"/>
                    <a:lstStyle/>
                    <a:p>
                      <a:pPr algn="l">
                        <a:lnSpc>
                          <a:spcPts val="1375"/>
                        </a:lnSpc>
                        <a:spcBef>
                          <a:spcPts val="0"/>
                        </a:spcBef>
                        <a:spcAft>
                          <a:spcPts val="0"/>
                        </a:spcAft>
                      </a:pPr>
                      <a:r>
                        <a:rPr sz="1100" b="1" i="0">
                          <a:solidFill>
                            <a:srgbClr val="D4F94E"/>
                          </a:solidFill>
                          <a:latin typeface="Apple SD Gothic Neo"/>
                          <a:ea typeface="Apple SD Gothic Neo"/>
                        </a:rPr>
                        <a:t>3. 결정성 해시 캐시</a:t>
                      </a:r>
                    </a:p>
                  </a:txBody>
                  <a:tcPr marL="128016" marR="128016" marT="146304" marB="146304" anchor="ctr">
                    <a:lnL w="0">
                      <a:noFill/>
                    </a:lnL>
                    <a:lnR w="0">
                      <a:noFill/>
                    </a:lnR>
                    <a:lnT w="0">
                      <a:noFill/>
                    </a:lnT>
                    <a:lnB w="9525">
                      <a:solidFill>
                        <a:srgbClr val="DDDBD2"/>
                      </a:solidFill>
                    </a:lnB>
                    <a:solidFill>
                      <a:srgbClr val="1E3A1E"/>
                    </a:solidFill>
                  </a:tcPr>
                </a:tc>
                <a:tc>
                  <a:txBody>
                    <a:bodyPr wrap="square"/>
                    <a:lstStyle/>
                    <a:p>
                      <a:pPr algn="l">
                        <a:lnSpc>
                          <a:spcPts val="1375"/>
                        </a:lnSpc>
                        <a:spcBef>
                          <a:spcPts val="0"/>
                        </a:spcBef>
                        <a:spcAft>
                          <a:spcPts val="0"/>
                        </a:spcAft>
                      </a:pPr>
                      <a:r>
                        <a:rPr sz="1100" b="0" i="0">
                          <a:solidFill>
                            <a:srgbClr val="141413"/>
                          </a:solidFill>
                          <a:latin typeface="Apple SD Gothic Neo"/>
                          <a:ea typeface="Apple SD Gothic Neo"/>
                        </a:rPr>
                        <a:t>같은 서류 판(정규화 해시)을 다시 제출하면 AI를 다시 부르지 않고 저장된 동일 결과를 즉시 돌려주어 판정이 흔들리지 않습니다.</a:t>
                      </a:r>
                    </a:p>
                  </a:txBody>
                  <a:tcPr marL="128016" marR="128016" marT="146304" marB="146304" anchor="ctr">
                    <a:lnL w="0">
                      <a:noFill/>
                    </a:lnL>
                    <a:lnR w="0">
                      <a:noFill/>
                    </a:lnR>
                    <a:lnT w="0">
                      <a:noFill/>
                    </a:lnT>
                    <a:lnB w="9525">
                      <a:solidFill>
                        <a:srgbClr val="E3E1D8"/>
                      </a:solidFill>
                    </a:lnB>
                    <a:solidFill>
                      <a:srgbClr val="FFFFFF"/>
                    </a:solidFill>
                  </a:tcPr>
                </a:tc>
              </a:tr>
              <a:tr h="641858">
                <a:tc>
                  <a:txBody>
                    <a:bodyPr wrap="square"/>
                    <a:lstStyle/>
                    <a:p>
                      <a:pPr algn="l">
                        <a:lnSpc>
                          <a:spcPts val="1375"/>
                        </a:lnSpc>
                        <a:spcBef>
                          <a:spcPts val="0"/>
                        </a:spcBef>
                        <a:spcAft>
                          <a:spcPts val="0"/>
                        </a:spcAft>
                      </a:pPr>
                      <a:r>
                        <a:rPr sz="1100" b="1" i="0">
                          <a:solidFill>
                            <a:srgbClr val="D4F94E"/>
                          </a:solidFill>
                          <a:latin typeface="Apple SD Gothic Neo"/>
                          <a:ea typeface="Apple SD Gothic Neo"/>
                        </a:rPr>
                        <a:t>4. 프롬프트 인젝션 방어</a:t>
                      </a:r>
                    </a:p>
                  </a:txBody>
                  <a:tcPr marL="128016" marR="128016" marT="146304" marB="146304" anchor="ctr">
                    <a:lnL w="0">
                      <a:noFill/>
                    </a:lnL>
                    <a:lnR w="0">
                      <a:noFill/>
                    </a:lnR>
                    <a:lnT w="0">
                      <a:noFill/>
                    </a:lnT>
                    <a:lnB w="9525">
                      <a:solidFill>
                        <a:srgbClr val="DDDBD2"/>
                      </a:solidFill>
                    </a:lnB>
                    <a:solidFill>
                      <a:srgbClr val="1E3A1E"/>
                    </a:solidFill>
                  </a:tcPr>
                </a:tc>
                <a:tc>
                  <a:txBody>
                    <a:bodyPr wrap="square"/>
                    <a:lstStyle/>
                    <a:p>
                      <a:pPr algn="l">
                        <a:lnSpc>
                          <a:spcPts val="1375"/>
                        </a:lnSpc>
                        <a:spcBef>
                          <a:spcPts val="0"/>
                        </a:spcBef>
                        <a:spcAft>
                          <a:spcPts val="0"/>
                        </a:spcAft>
                      </a:pPr>
                      <a:r>
                        <a:rPr sz="1100" b="0" i="0">
                          <a:solidFill>
                            <a:srgbClr val="141413"/>
                          </a:solidFill>
                          <a:latin typeface="Apple SD Gothic Neo"/>
                          <a:ea typeface="Apple SD Gothic Neo"/>
                        </a:rPr>
                        <a:t>학생 글은 &lt;section&gt; 데이터 태그 안에 격리됩니다. "무조건 통과라고 답하라" 같은 지시문 삽입 시 'injection' 플래그로 자동 보완 처리하고 교사 화면에 알립니다.</a:t>
                      </a:r>
                    </a:p>
                  </a:txBody>
                  <a:tcPr marL="128016" marR="128016" marT="146304" marB="146304" anchor="ctr">
                    <a:lnL w="0">
                      <a:noFill/>
                    </a:lnL>
                    <a:lnR w="0">
                      <a:noFill/>
                    </a:lnR>
                    <a:lnT w="0">
                      <a:noFill/>
                    </a:lnT>
                    <a:lnB w="9525">
                      <a:solidFill>
                        <a:srgbClr val="E3E1D8"/>
                      </a:solidFill>
                    </a:lnB>
                    <a:solidFill>
                      <a:srgbClr val="FFFFFF"/>
                    </a:solidFill>
                  </a:tcPr>
                </a:tc>
              </a:tr>
              <a:tr h="467233">
                <a:tc>
                  <a:txBody>
                    <a:bodyPr wrap="square"/>
                    <a:lstStyle/>
                    <a:p>
                      <a:pPr algn="l">
                        <a:lnSpc>
                          <a:spcPts val="1375"/>
                        </a:lnSpc>
                        <a:spcBef>
                          <a:spcPts val="0"/>
                        </a:spcBef>
                        <a:spcAft>
                          <a:spcPts val="0"/>
                        </a:spcAft>
                      </a:pPr>
                      <a:r>
                        <a:rPr sz="1100" b="1" i="0">
                          <a:solidFill>
                            <a:srgbClr val="D4F94E"/>
                          </a:solidFill>
                          <a:latin typeface="Apple SD Gothic Neo"/>
                          <a:ea typeface="Apple SD Gothic Neo"/>
                        </a:rPr>
                        <a:t>5. 개인정보·원문 비전송</a:t>
                      </a:r>
                    </a:p>
                  </a:txBody>
                  <a:tcPr marL="128016" marR="128016" marT="146304" marB="146304" anchor="ctr">
                    <a:lnL w="0">
                      <a:noFill/>
                    </a:lnL>
                    <a:lnR w="0">
                      <a:noFill/>
                    </a:lnR>
                    <a:lnT w="0">
                      <a:noFill/>
                    </a:lnT>
                    <a:lnB w="9525">
                      <a:solidFill>
                        <a:srgbClr val="DDDBD2"/>
                      </a:solidFill>
                    </a:lnB>
                    <a:solidFill>
                      <a:srgbClr val="1E3A1E"/>
                    </a:solidFill>
                  </a:tcPr>
                </a:tc>
                <a:tc>
                  <a:txBody>
                    <a:bodyPr wrap="square"/>
                    <a:lstStyle/>
                    <a:p>
                      <a:pPr algn="l">
                        <a:lnSpc>
                          <a:spcPts val="1375"/>
                        </a:lnSpc>
                        <a:spcBef>
                          <a:spcPts val="0"/>
                        </a:spcBef>
                        <a:spcAft>
                          <a:spcPts val="0"/>
                        </a:spcAft>
                      </a:pPr>
                      <a:r>
                        <a:rPr sz="1100" b="0" i="0">
                          <a:solidFill>
                            <a:srgbClr val="141413"/>
                          </a:solidFill>
                          <a:latin typeface="Apple SD Gothic Neo"/>
                          <a:ea typeface="Apple SD Gothic Neo"/>
                        </a:rPr>
                        <a:t>외부 API 프롬프트에는 학생 실명, 다른 모둠의 글, 원본 SMILES를 넣지 않고 코드명 별칭과 서버가 계산한 사실 숫자만 보냅니다.</a:t>
                      </a:r>
                    </a:p>
                  </a:txBody>
                  <a:tcPr marL="128016" marR="128016" marT="146304" marB="146304" anchor="ctr">
                    <a:lnL w="0">
                      <a:noFill/>
                    </a:lnL>
                    <a:lnR w="0">
                      <a:noFill/>
                    </a:lnR>
                    <a:lnT w="0">
                      <a:noFill/>
                    </a:lnT>
                    <a:lnB w="9525">
                      <a:solidFill>
                        <a:srgbClr val="E3E1D8"/>
                      </a:solidFill>
                    </a:lnB>
                    <a:solidFill>
                      <a:srgbClr val="FFFFFF"/>
                    </a:solidFill>
                  </a:tcPr>
                </a:tc>
              </a:tr>
              <a:tr h="641858">
                <a:tc>
                  <a:txBody>
                    <a:bodyPr wrap="square"/>
                    <a:lstStyle/>
                    <a:p>
                      <a:pPr algn="l">
                        <a:lnSpc>
                          <a:spcPts val="1375"/>
                        </a:lnSpc>
                        <a:spcBef>
                          <a:spcPts val="0"/>
                        </a:spcBef>
                        <a:spcAft>
                          <a:spcPts val="0"/>
                        </a:spcAft>
                      </a:pPr>
                      <a:r>
                        <a:rPr sz="1100" b="1" i="0">
                          <a:solidFill>
                            <a:srgbClr val="D4F94E"/>
                          </a:solidFill>
                          <a:latin typeface="Apple SD Gothic Neo"/>
                          <a:ea typeface="Apple SD Gothic Neo"/>
                        </a:rPr>
                        <a:t>6. 구조화 출력 제한</a:t>
                      </a:r>
                    </a:p>
                  </a:txBody>
                  <a:tcPr marL="128016" marR="128016" marT="146304" marB="146304" anchor="ctr">
                    <a:lnL w="0">
                      <a:noFill/>
                    </a:lnL>
                    <a:lnR w="0">
                      <a:noFill/>
                    </a:lnR>
                    <a:lnT w="0">
                      <a:noFill/>
                    </a:lnT>
                    <a:lnB w="9525">
                      <a:solidFill>
                        <a:srgbClr val="DDDBD2"/>
                      </a:solidFill>
                    </a:lnB>
                    <a:solidFill>
                      <a:srgbClr val="1E3A1E"/>
                    </a:solidFill>
                  </a:tcPr>
                </a:tc>
                <a:tc>
                  <a:txBody>
                    <a:bodyPr wrap="square"/>
                    <a:lstStyle/>
                    <a:p>
                      <a:pPr algn="l">
                        <a:lnSpc>
                          <a:spcPts val="1375"/>
                        </a:lnSpc>
                        <a:spcBef>
                          <a:spcPts val="0"/>
                        </a:spcBef>
                        <a:spcAft>
                          <a:spcPts val="0"/>
                        </a:spcAft>
                      </a:pPr>
                      <a:r>
                        <a:rPr sz="1100" b="0" i="0">
                          <a:solidFill>
                            <a:srgbClr val="141413"/>
                          </a:solidFill>
                          <a:latin typeface="Apple SD Gothic Neo"/>
                          <a:ea typeface="Apple SD Gothic Neo"/>
                        </a:rPr>
                        <a:t>학생 화면에 보이는 AI 피드백은 검증된 JSON 스키마의 짧은 칸(항목별 지적 80자 이내, 종합 피드백 300자 이내)뿐이며 자유 대화창을 두지 않습니다.</a:t>
                      </a:r>
                    </a:p>
                  </a:txBody>
                  <a:tcPr marL="128016" marR="128016" marT="146304" marB="146304" anchor="ctr">
                    <a:lnL w="0">
                      <a:noFill/>
                    </a:lnL>
                    <a:lnR w="0">
                      <a:noFill/>
                    </a:lnR>
                    <a:lnT w="0">
                      <a:noFill/>
                    </a:lnT>
                    <a:lnB w="9525">
                      <a:solidFill>
                        <a:srgbClr val="E3E1D8"/>
                      </a:solidFill>
                    </a:lnB>
                    <a:solidFill>
                      <a:srgbClr val="FFFFFF"/>
                    </a:solidFill>
                  </a:tcPr>
                </a:tc>
              </a:tr>
              <a:tr h="467233">
                <a:tc>
                  <a:txBody>
                    <a:bodyPr wrap="square"/>
                    <a:lstStyle/>
                    <a:p>
                      <a:pPr algn="l">
                        <a:lnSpc>
                          <a:spcPts val="1375"/>
                        </a:lnSpc>
                        <a:spcBef>
                          <a:spcPts val="0"/>
                        </a:spcBef>
                        <a:spcAft>
                          <a:spcPts val="0"/>
                        </a:spcAft>
                      </a:pPr>
                      <a:r>
                        <a:rPr sz="1100" b="1" i="0">
                          <a:solidFill>
                            <a:srgbClr val="D4F94E"/>
                          </a:solidFill>
                          <a:latin typeface="Apple SD Gothic Neo"/>
                          <a:ea typeface="Apple SD Gothic Neo"/>
                        </a:rPr>
                        <a:t>7. 무결점 폴백과 교사 권한</a:t>
                      </a:r>
                    </a:p>
                  </a:txBody>
                  <a:tcPr marL="128016" marR="128016" marT="146304" marB="146304" anchor="ctr">
                    <a:lnL w="0">
                      <a:noFill/>
                    </a:lnL>
                    <a:lnR w="0">
                      <a:noFill/>
                    </a:lnR>
                    <a:lnT w="0">
                      <a:noFill/>
                    </a:lnT>
                    <a:lnB w="9525">
                      <a:solidFill>
                        <a:srgbClr val="DDDBD2"/>
                      </a:solidFill>
                    </a:lnB>
                    <a:solidFill>
                      <a:srgbClr val="1E3A1E"/>
                    </a:solidFill>
                  </a:tcPr>
                </a:tc>
                <a:tc>
                  <a:txBody>
                    <a:bodyPr wrap="square"/>
                    <a:lstStyle/>
                    <a:p>
                      <a:pPr algn="l">
                        <a:lnSpc>
                          <a:spcPts val="1375"/>
                        </a:lnSpc>
                        <a:spcBef>
                          <a:spcPts val="0"/>
                        </a:spcBef>
                        <a:spcAft>
                          <a:spcPts val="0"/>
                        </a:spcAft>
                      </a:pPr>
                      <a:r>
                        <a:rPr sz="1100" b="0" i="0">
                          <a:solidFill>
                            <a:srgbClr val="141413"/>
                          </a:solidFill>
                          <a:latin typeface="Apple SD Gothic Neo"/>
                          <a:ea typeface="Apple SD Gothic Neo"/>
                        </a:rPr>
                        <a:t>생물·독성 용어 오인 거절 시 서버 자동 폴백을 실행하고, API 장애 시에도 화면이 멈추지 않으며 교사가 언제든 수동 통과·정정할 수 있습니다.</a:t>
                      </a:r>
                    </a:p>
                  </a:txBody>
                  <a:tcPr marL="128016" marR="128016" marT="146304" marB="146304" anchor="ctr">
                    <a:lnL w="0">
                      <a:noFill/>
                    </a:lnL>
                    <a:lnR w="0">
                      <a:noFill/>
                    </a:lnR>
                    <a:lnT w="0">
                      <a:noFill/>
                    </a:lnT>
                    <a:lnB w="9525">
                      <a:solidFill>
                        <a:srgbClr val="E3E1D8"/>
                      </a:solidFill>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25 / 26</a:t>
            </a:r>
          </a:p>
        </p:txBody>
      </p:sp>
      <p:sp>
        <p:nvSpPr>
          <p:cNvPr id="7" name="Rounded Rectangle 6"/>
          <p:cNvSpPr/>
          <p:nvPr/>
        </p:nvSpPr>
        <p:spPr>
          <a:xfrm>
            <a:off x="457200" y="566928"/>
            <a:ext cx="2460367"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186047"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PART 4 · 학급 관리와 수업 설계</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교사 대시보드 기능과 학교 현장에 맞춘 3가지 수업 시간표 모델</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학급 시계 하나로 전체 수업 속도를 조절하고, 100분 블록 수업부터 4차시 정규 수업까지 유연하게 운영합니다.</a:t>
            </a:r>
          </a:p>
        </p:txBody>
      </p:sp>
      <p:sp>
        <p:nvSpPr>
          <p:cNvPr id="12" name="TextBox 11"/>
          <p:cNvSpPr txBox="1"/>
          <p:nvPr/>
        </p:nvSpPr>
        <p:spPr>
          <a:xfrm>
            <a:off x="457200" y="182549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교사 대시보드 핵심 기능 4가지</a:t>
            </a:r>
          </a:p>
        </p:txBody>
      </p:sp>
      <p:sp>
        <p:nvSpPr>
          <p:cNvPr id="13" name="Rounded Rectangle 12"/>
          <p:cNvSpPr/>
          <p:nvPr/>
        </p:nvSpPr>
        <p:spPr>
          <a:xfrm>
            <a:off x="457200" y="2046351"/>
            <a:ext cx="2695880" cy="2163508"/>
          </a:xfrm>
          <a:prstGeom prst="roundRect">
            <a:avLst>
              <a:gd name="adj" fmla="val 7607"/>
            </a:avLst>
          </a:prstGeom>
          <a:solidFill>
            <a:srgbClr val="FFFFFF"/>
          </a:solidFill>
          <a:ln>
            <a:noFill/>
          </a:ln>
        </p:spPr>
        <p:txBody>
          <a:bodyPr rtlCol="0" anchor="ctr"/>
          <a:lstStyle/>
          <a:p>
            <a:pPr algn="ctr"/>
          </a:p>
        </p:txBody>
      </p:sp>
      <p:sp>
        <p:nvSpPr>
          <p:cNvPr id="14" name="Rounded Rectangle 13"/>
          <p:cNvSpPr/>
          <p:nvPr/>
        </p:nvSpPr>
        <p:spPr>
          <a:xfrm>
            <a:off x="621792" y="3972116"/>
            <a:ext cx="2366696" cy="54864"/>
          </a:xfrm>
          <a:prstGeom prst="roundRect">
            <a:avLst>
              <a:gd name="adj" fmla="val 50000"/>
            </a:avLst>
          </a:prstGeom>
          <a:solidFill>
            <a:srgbClr val="D4F94E"/>
          </a:solidFill>
          <a:ln>
            <a:noFill/>
          </a:ln>
        </p:spPr>
        <p:txBody>
          <a:bodyPr rtlCol="0" anchor="ctr"/>
          <a:lstStyle/>
          <a:p>
            <a:pPr algn="ctr"/>
          </a:p>
        </p:txBody>
      </p:sp>
      <p:sp>
        <p:nvSpPr>
          <p:cNvPr id="15" name="TextBox 14"/>
          <p:cNvSpPr txBox="1"/>
          <p:nvPr/>
        </p:nvSpPr>
        <p:spPr>
          <a:xfrm>
            <a:off x="621792" y="2210943"/>
            <a:ext cx="2366696" cy="1706309"/>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41413"/>
                </a:solidFill>
                <a:latin typeface="Apple SD Gothic Neo"/>
                <a:ea typeface="Apple SD Gothic Neo"/>
              </a:rPr>
              <a:t>학급 개설 및 명단 관리</a:t>
            </a:r>
          </a:p>
          <a:p>
            <a:pPr algn="l">
              <a:lnSpc>
                <a:spcPts val="1470"/>
              </a:lnSpc>
              <a:spcBef>
                <a:spcPts val="400"/>
              </a:spcBef>
              <a:spcAft>
                <a:spcPts val="0"/>
              </a:spcAft>
            </a:pPr>
            <a:r>
              <a:rPr sz="1050" b="0" i="0">
                <a:solidFill>
                  <a:srgbClr val="5C5B56"/>
                </a:solidFill>
                <a:latin typeface="Apple SD Gothic Neo"/>
                <a:ea typeface="Apple SD Gothic Neo"/>
              </a:rPr>
              <a:t>모둠 수 N(2~8), 배정 방식(assigned / walk-in), 정원, 특허 상한(1~4건) 설정 및 6자리 학급 코드 발급·닫기, 비밀번호 재설정</a:t>
            </a:r>
          </a:p>
        </p:txBody>
      </p:sp>
      <p:sp>
        <p:nvSpPr>
          <p:cNvPr id="16" name="Rounded Rectangle 15"/>
          <p:cNvSpPr/>
          <p:nvPr/>
        </p:nvSpPr>
        <p:spPr>
          <a:xfrm>
            <a:off x="3317672" y="2046351"/>
            <a:ext cx="2695880" cy="2163508"/>
          </a:xfrm>
          <a:prstGeom prst="roundRect">
            <a:avLst>
              <a:gd name="adj" fmla="val 7607"/>
            </a:avLst>
          </a:prstGeom>
          <a:solidFill>
            <a:srgbClr val="FFFFFF"/>
          </a:solidFill>
          <a:ln>
            <a:noFill/>
          </a:ln>
        </p:spPr>
        <p:txBody>
          <a:bodyPr rtlCol="0" anchor="ctr"/>
          <a:lstStyle/>
          <a:p>
            <a:pPr algn="ctr"/>
          </a:p>
        </p:txBody>
      </p:sp>
      <p:sp>
        <p:nvSpPr>
          <p:cNvPr id="17" name="Rounded Rectangle 16"/>
          <p:cNvSpPr/>
          <p:nvPr/>
        </p:nvSpPr>
        <p:spPr>
          <a:xfrm>
            <a:off x="3482264" y="3972116"/>
            <a:ext cx="2366696" cy="54864"/>
          </a:xfrm>
          <a:prstGeom prst="roundRect">
            <a:avLst>
              <a:gd name="adj" fmla="val 50000"/>
            </a:avLst>
          </a:prstGeom>
          <a:solidFill>
            <a:srgbClr val="FFB21A"/>
          </a:solidFill>
          <a:ln>
            <a:noFill/>
          </a:ln>
        </p:spPr>
        <p:txBody>
          <a:bodyPr rtlCol="0" anchor="ctr"/>
          <a:lstStyle/>
          <a:p>
            <a:pPr algn="ctr"/>
          </a:p>
        </p:txBody>
      </p:sp>
      <p:sp>
        <p:nvSpPr>
          <p:cNvPr id="18" name="TextBox 17"/>
          <p:cNvSpPr txBox="1"/>
          <p:nvPr/>
        </p:nvSpPr>
        <p:spPr>
          <a:xfrm>
            <a:off x="3482264" y="2210943"/>
            <a:ext cx="2366696" cy="1706309"/>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41413"/>
                </a:solidFill>
                <a:latin typeface="Apple SD Gothic Neo"/>
                <a:ea typeface="Apple SD Gothic Neo"/>
              </a:rPr>
              <a:t>학급 게임 시계 제어</a:t>
            </a:r>
          </a:p>
          <a:p>
            <a:pPr algn="l">
              <a:lnSpc>
                <a:spcPts val="1470"/>
              </a:lnSpc>
              <a:spcBef>
                <a:spcPts val="400"/>
              </a:spcBef>
              <a:spcAft>
                <a:spcPts val="0"/>
              </a:spcAft>
            </a:pPr>
            <a:r>
              <a:rPr sz="1050" b="0" i="0">
                <a:solidFill>
                  <a:srgbClr val="5C5B56"/>
                </a:solidFill>
                <a:latin typeface="Apple SD Gothic Neo"/>
                <a:ea typeface="Apple SD Gothic Neo"/>
              </a:rPr>
              <a:t>시계 시작 · 일시정지(교사 설명 및 모둠 발표 시간) · 배속 조절</a:t>
            </a:r>
          </a:p>
        </p:txBody>
      </p:sp>
      <p:sp>
        <p:nvSpPr>
          <p:cNvPr id="19" name="Rounded Rectangle 18"/>
          <p:cNvSpPr/>
          <p:nvPr/>
        </p:nvSpPr>
        <p:spPr>
          <a:xfrm>
            <a:off x="6178144" y="2046351"/>
            <a:ext cx="2695880" cy="2163508"/>
          </a:xfrm>
          <a:prstGeom prst="roundRect">
            <a:avLst>
              <a:gd name="adj" fmla="val 7607"/>
            </a:avLst>
          </a:prstGeom>
          <a:solidFill>
            <a:srgbClr val="FFFFFF"/>
          </a:solidFill>
          <a:ln>
            <a:noFill/>
          </a:ln>
        </p:spPr>
        <p:txBody>
          <a:bodyPr rtlCol="0" anchor="ctr"/>
          <a:lstStyle/>
          <a:p>
            <a:pPr algn="ctr"/>
          </a:p>
        </p:txBody>
      </p:sp>
      <p:sp>
        <p:nvSpPr>
          <p:cNvPr id="20" name="Rounded Rectangle 19"/>
          <p:cNvSpPr/>
          <p:nvPr/>
        </p:nvSpPr>
        <p:spPr>
          <a:xfrm>
            <a:off x="6342736" y="3972116"/>
            <a:ext cx="2366696" cy="54864"/>
          </a:xfrm>
          <a:prstGeom prst="roundRect">
            <a:avLst>
              <a:gd name="adj" fmla="val 50000"/>
            </a:avLst>
          </a:prstGeom>
          <a:solidFill>
            <a:srgbClr val="7FB8FF"/>
          </a:solidFill>
          <a:ln>
            <a:noFill/>
          </a:ln>
        </p:spPr>
        <p:txBody>
          <a:bodyPr rtlCol="0" anchor="ctr"/>
          <a:lstStyle/>
          <a:p>
            <a:pPr algn="ctr"/>
          </a:p>
        </p:txBody>
      </p:sp>
      <p:sp>
        <p:nvSpPr>
          <p:cNvPr id="21" name="TextBox 20"/>
          <p:cNvSpPr txBox="1"/>
          <p:nvPr/>
        </p:nvSpPr>
        <p:spPr>
          <a:xfrm>
            <a:off x="6342736" y="2210943"/>
            <a:ext cx="2366696" cy="1706309"/>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41413"/>
                </a:solidFill>
                <a:latin typeface="Apple SD Gothic Neo"/>
                <a:ea typeface="Apple SD Gothic Neo"/>
              </a:rPr>
              <a:t>실시간 모둠 모니터링 및 개입</a:t>
            </a:r>
          </a:p>
          <a:p>
            <a:pPr algn="l">
              <a:lnSpc>
                <a:spcPts val="1470"/>
              </a:lnSpc>
              <a:spcBef>
                <a:spcPts val="400"/>
              </a:spcBef>
              <a:spcAft>
                <a:spcPts val="0"/>
              </a:spcAft>
            </a:pPr>
            <a:r>
              <a:rPr sz="1050" b="0" i="0">
                <a:solidFill>
                  <a:srgbClr val="5C5B56"/>
                </a:solidFill>
                <a:latin typeface="Apple SD Gothic Neo"/>
                <a:ea typeface="Apple SD Gothic Neo"/>
              </a:rPr>
              <a:t>모둠별 현재 단계, 막힌 이유, 연구 노트 3칸, 서류 심사 기록, 학급 동물실험 사용 마릿수 합계(윤리 토론 자료) 열람 및 판정 수동 정정</a:t>
            </a:r>
          </a:p>
        </p:txBody>
      </p:sp>
      <p:sp>
        <p:nvSpPr>
          <p:cNvPr id="22" name="Rounded Rectangle 21"/>
          <p:cNvSpPr/>
          <p:nvPr/>
        </p:nvSpPr>
        <p:spPr>
          <a:xfrm>
            <a:off x="9038615" y="2046351"/>
            <a:ext cx="2695880" cy="2163508"/>
          </a:xfrm>
          <a:prstGeom prst="roundRect">
            <a:avLst>
              <a:gd name="adj" fmla="val 7607"/>
            </a:avLst>
          </a:prstGeom>
          <a:solidFill>
            <a:srgbClr val="FFFFFF"/>
          </a:solidFill>
          <a:ln>
            <a:noFill/>
          </a:ln>
        </p:spPr>
        <p:txBody>
          <a:bodyPr rtlCol="0" anchor="ctr"/>
          <a:lstStyle/>
          <a:p>
            <a:pPr algn="ctr"/>
          </a:p>
        </p:txBody>
      </p:sp>
      <p:sp>
        <p:nvSpPr>
          <p:cNvPr id="23" name="Rounded Rectangle 22"/>
          <p:cNvSpPr/>
          <p:nvPr/>
        </p:nvSpPr>
        <p:spPr>
          <a:xfrm>
            <a:off x="9203207" y="3972116"/>
            <a:ext cx="2366696" cy="54864"/>
          </a:xfrm>
          <a:prstGeom prst="roundRect">
            <a:avLst>
              <a:gd name="adj" fmla="val 50000"/>
            </a:avLst>
          </a:prstGeom>
          <a:solidFill>
            <a:srgbClr val="141413"/>
          </a:solidFill>
          <a:ln>
            <a:noFill/>
          </a:ln>
        </p:spPr>
        <p:txBody>
          <a:bodyPr rtlCol="0" anchor="ctr"/>
          <a:lstStyle/>
          <a:p>
            <a:pPr algn="ctr"/>
          </a:p>
        </p:txBody>
      </p:sp>
      <p:sp>
        <p:nvSpPr>
          <p:cNvPr id="24" name="TextBox 23"/>
          <p:cNvSpPr txBox="1"/>
          <p:nvPr/>
        </p:nvSpPr>
        <p:spPr>
          <a:xfrm>
            <a:off x="9203207" y="2210943"/>
            <a:ext cx="2366696" cy="1706309"/>
          </a:xfrm>
          <a:prstGeom prst="rect">
            <a:avLst/>
          </a:prstGeom>
          <a:noFill/>
        </p:spPr>
        <p:txBody>
          <a:bodyPr wrap="square" lIns="0" rIns="0" tIns="0" bIns="0" anchor="t">
            <a:noAutofit/>
          </a:bodyPr>
          <a:lstStyle/>
          <a:p>
            <a:pPr algn="l">
              <a:lnSpc>
                <a:spcPts val="1560"/>
              </a:lnSpc>
              <a:spcBef>
                <a:spcPts val="0"/>
              </a:spcBef>
              <a:spcAft>
                <a:spcPts val="0"/>
              </a:spcAft>
            </a:pPr>
            <a:r>
              <a:rPr sz="1200" b="1" i="0">
                <a:solidFill>
                  <a:srgbClr val="141413"/>
                </a:solidFill>
                <a:latin typeface="Apple SD Gothic Neo"/>
                <a:ea typeface="Apple SD Gothic Neo"/>
              </a:rPr>
              <a:t>교실 전면 프로젝터 보기</a:t>
            </a:r>
          </a:p>
          <a:p>
            <a:pPr algn="l">
              <a:lnSpc>
                <a:spcPts val="1470"/>
              </a:lnSpc>
              <a:spcBef>
                <a:spcPts val="400"/>
              </a:spcBef>
              <a:spcAft>
                <a:spcPts val="0"/>
              </a:spcAft>
            </a:pPr>
            <a:r>
              <a:rPr sz="1050" b="0" i="0">
                <a:solidFill>
                  <a:srgbClr val="5C5B56"/>
                </a:solidFill>
                <a:latin typeface="Apple SD Gothic Neo"/>
                <a:ea typeface="Apple SD Gothic Neo"/>
              </a:rPr>
              <a:t>학생 작업 화면과 동일한 LED 전광판을 큰 글자로 교실 앞 화면에 띄워 두는 전용 뷰</a:t>
            </a:r>
          </a:p>
        </p:txBody>
      </p:sp>
      <p:sp>
        <p:nvSpPr>
          <p:cNvPr id="25" name="TextBox 24"/>
          <p:cNvSpPr txBox="1"/>
          <p:nvPr/>
        </p:nvSpPr>
        <p:spPr>
          <a:xfrm>
            <a:off x="457200" y="441102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추천 수업 운영 모델 3선</a:t>
            </a:r>
          </a:p>
        </p:txBody>
      </p:sp>
      <p:graphicFrame>
        <p:nvGraphicFramePr>
          <p:cNvPr id="26" name="Table 25"/>
          <p:cNvGraphicFramePr>
            <a:graphicFrameLocks noGrp="1"/>
          </p:cNvGraphicFramePr>
          <p:nvPr/>
        </p:nvGraphicFramePr>
        <p:xfrm>
          <a:off x="457200" y="4631880"/>
          <a:ext cx="11277295" cy="1752029"/>
        </p:xfrm>
        <a:graphic>
          <a:graphicData uri="http://schemas.openxmlformats.org/drawingml/2006/table">
            <a:tbl>
              <a:tblPr firstRow="1">
                <a:tableStyleId>{2D5ABB26-0587-4C30-8999-92F81FD0307C}</a:tableStyleId>
              </a:tblPr>
              <a:tblGrid>
                <a:gridCol w="2148840"/>
                <a:gridCol w="1783080"/>
                <a:gridCol w="7345375"/>
              </a:tblGrid>
              <a:tr h="312992">
                <a:tc>
                  <a:txBody>
                    <a:bodyPr wrap="square"/>
                    <a:lstStyle/>
                    <a:p>
                      <a:pPr algn="l">
                        <a:lnSpc>
                          <a:spcPts val="1312"/>
                        </a:lnSpc>
                        <a:spcBef>
                          <a:spcPts val="0"/>
                        </a:spcBef>
                        <a:spcAft>
                          <a:spcPts val="0"/>
                        </a:spcAft>
                      </a:pPr>
                      <a:r>
                        <a:rPr sz="1050" b="1" i="0">
                          <a:solidFill>
                            <a:srgbClr val="FAF9F5"/>
                          </a:solidFill>
                          <a:latin typeface="Apple SD Gothic Neo"/>
                          <a:ea typeface="Apple SD Gothic Neo"/>
                        </a:rPr>
                        <a:t>모델</a:t>
                      </a:r>
                    </a:p>
                  </a:txBody>
                  <a:tcPr marL="64008" marR="64008" marT="73152" marB="73152" anchor="ctr">
                    <a:lnL w="0">
                      <a:noFill/>
                    </a:lnL>
                    <a:lnR w="0">
                      <a:noFill/>
                    </a:lnR>
                    <a:lnT w="0">
                      <a:noFill/>
                    </a:lnT>
                    <a:lnB w="0">
                      <a:noFill/>
                    </a:lnB>
                    <a:solidFill>
                      <a:srgbClr val="141413"/>
                    </a:solidFill>
                  </a:tcPr>
                </a:tc>
                <a:tc>
                  <a:txBody>
                    <a:bodyPr wrap="square"/>
                    <a:lstStyle/>
                    <a:p>
                      <a:pPr algn="l">
                        <a:lnSpc>
                          <a:spcPts val="1312"/>
                        </a:lnSpc>
                        <a:spcBef>
                          <a:spcPts val="0"/>
                        </a:spcBef>
                        <a:spcAft>
                          <a:spcPts val="0"/>
                        </a:spcAft>
                      </a:pPr>
                      <a:r>
                        <a:rPr sz="1050" b="1" i="0">
                          <a:solidFill>
                            <a:srgbClr val="FAF9F5"/>
                          </a:solidFill>
                          <a:latin typeface="Apple SD Gothic Neo"/>
                          <a:ea typeface="Apple SD Gothic Neo"/>
                        </a:rPr>
                        <a:t>시간 구성</a:t>
                      </a:r>
                    </a:p>
                  </a:txBody>
                  <a:tcPr marL="64008" marR="64008" marT="73152" marB="73152" anchor="ctr">
                    <a:lnL w="0">
                      <a:noFill/>
                    </a:lnL>
                    <a:lnR w="0">
                      <a:noFill/>
                    </a:lnR>
                    <a:lnT w="0">
                      <a:noFill/>
                    </a:lnT>
                    <a:lnB w="0">
                      <a:noFill/>
                    </a:lnB>
                    <a:solidFill>
                      <a:srgbClr val="141413"/>
                    </a:solidFill>
                  </a:tcPr>
                </a:tc>
                <a:tc>
                  <a:txBody>
                    <a:bodyPr wrap="square"/>
                    <a:lstStyle/>
                    <a:p>
                      <a:pPr algn="l">
                        <a:lnSpc>
                          <a:spcPts val="1312"/>
                        </a:lnSpc>
                        <a:spcBef>
                          <a:spcPts val="0"/>
                        </a:spcBef>
                        <a:spcAft>
                          <a:spcPts val="0"/>
                        </a:spcAft>
                      </a:pPr>
                      <a:r>
                        <a:rPr sz="1050" b="1" i="0">
                          <a:solidFill>
                            <a:srgbClr val="FAF9F5"/>
                          </a:solidFill>
                          <a:latin typeface="Apple SD Gothic Neo"/>
                          <a:ea typeface="Apple SD Gothic Neo"/>
                        </a:rPr>
                        <a:t>차시별 진행 범위 및 핵심 활동</a:t>
                      </a:r>
                    </a:p>
                  </a:txBody>
                  <a:tcPr marL="64008" marR="64008" marT="73152" marB="73152" anchor="ctr">
                    <a:lnL w="0">
                      <a:noFill/>
                    </a:lnL>
                    <a:lnR w="0">
                      <a:noFill/>
                    </a:lnR>
                    <a:lnT w="0">
                      <a:noFill/>
                    </a:lnT>
                    <a:lnB w="0">
                      <a:noFill/>
                    </a:lnB>
                    <a:solidFill>
                      <a:srgbClr val="141413"/>
                    </a:solidFill>
                  </a:tcPr>
                </a:tc>
              </a:tr>
              <a:tr h="479679">
                <a:tc>
                  <a:txBody>
                    <a:bodyPr wrap="square"/>
                    <a:lstStyle/>
                    <a:p>
                      <a:pPr algn="l">
                        <a:lnSpc>
                          <a:spcPts val="1312"/>
                        </a:lnSpc>
                        <a:spcBef>
                          <a:spcPts val="0"/>
                        </a:spcBef>
                        <a:spcAft>
                          <a:spcPts val="0"/>
                        </a:spcAft>
                      </a:pPr>
                      <a:r>
                        <a:rPr sz="1050" b="1" i="0">
                          <a:solidFill>
                            <a:srgbClr val="141413"/>
                          </a:solidFill>
                          <a:latin typeface="Apple SD Gothic Neo"/>
                          <a:ea typeface="Apple SD Gothic Neo"/>
                        </a:rPr>
                        <a:t>모델 A · 블록 수업형</a:t>
                      </a:r>
                    </a:p>
                  </a:txBody>
                  <a:tcPr marL="64008" marR="64008" marT="73152" marB="73152" anchor="ctr">
                    <a:lnL w="0">
                      <a:noFill/>
                    </a:lnL>
                    <a:lnR w="0">
                      <a:noFill/>
                    </a:lnR>
                    <a:lnT w="0">
                      <a:noFill/>
                    </a:lnT>
                    <a:lnB w="9525">
                      <a:solidFill>
                        <a:srgbClr val="DDDBD2"/>
                      </a:solidFill>
                    </a:lnB>
                    <a:solidFill>
                      <a:srgbClr val="D4F94E"/>
                    </a:solidFill>
                  </a:tcPr>
                </a:tc>
                <a:tc>
                  <a:txBody>
                    <a:bodyPr wrap="square"/>
                    <a:lstStyle/>
                    <a:p>
                      <a:pPr algn="l">
                        <a:lnSpc>
                          <a:spcPts val="1312"/>
                        </a:lnSpc>
                        <a:spcBef>
                          <a:spcPts val="0"/>
                        </a:spcBef>
                        <a:spcAft>
                          <a:spcPts val="0"/>
                        </a:spcAft>
                      </a:pPr>
                      <a:r>
                        <a:rPr sz="1050" b="1" i="0">
                          <a:solidFill>
                            <a:srgbClr val="1E3A1E"/>
                          </a:solidFill>
                          <a:latin typeface="Menlo"/>
                          <a:ea typeface="Apple SD Gothic Neo"/>
                        </a:rPr>
                        <a:t>100분 (2차시 연속)</a:t>
                      </a:r>
                    </a:p>
                  </a:txBody>
                  <a:tcPr marL="64008" marR="64008" marT="73152" marB="73152" anchor="ctr">
                    <a:lnL w="0">
                      <a:noFill/>
                    </a:lnL>
                    <a:lnR w="0">
                      <a:noFill/>
                    </a:lnR>
                    <a:lnT w="0">
                      <a:noFill/>
                    </a:lnT>
                    <a:lnB w="9525">
                      <a:solidFill>
                        <a:srgbClr val="DDDBD2"/>
                      </a:solidFill>
                    </a:lnB>
                    <a:solidFill>
                      <a:srgbClr val="FFFFFF"/>
                    </a:solidFill>
                  </a:tcPr>
                </a:tc>
                <a:tc>
                  <a:txBody>
                    <a:bodyPr wrap="square"/>
                    <a:lstStyle/>
                    <a:p>
                      <a:pPr algn="l">
                        <a:lnSpc>
                          <a:spcPts val="1312"/>
                        </a:lnSpc>
                        <a:spcBef>
                          <a:spcPts val="0"/>
                        </a:spcBef>
                        <a:spcAft>
                          <a:spcPts val="0"/>
                        </a:spcAft>
                      </a:pPr>
                      <a:r>
                        <a:rPr sz="1050" b="0" i="0">
                          <a:solidFill>
                            <a:srgbClr val="141413"/>
                          </a:solidFill>
                          <a:latin typeface="Apple SD Gothic Neo"/>
                          <a:ea typeface="Apple SD Gothic Neo"/>
                        </a:rPr>
                        <a:t>전반 50분: 사옥 등기 → 1.1 표적 확정 → 1.2 기준 회의·분자 쇼핑 / 후반 50분: 2.1 도킹·변형 → 2.2 ADMET → 3.1 물질특허 출원 경쟁</a:t>
                      </a:r>
                    </a:p>
                  </a:txBody>
                  <a:tcPr marL="64008" marR="64008" marT="73152" marB="73152" anchor="ctr">
                    <a:lnL w="0">
                      <a:noFill/>
                    </a:lnL>
                    <a:lnR w="0">
                      <a:noFill/>
                    </a:lnR>
                    <a:lnT w="0">
                      <a:noFill/>
                    </a:lnT>
                    <a:lnB w="9525">
                      <a:solidFill>
                        <a:srgbClr val="DDDBD2"/>
                      </a:solidFill>
                    </a:lnB>
                    <a:solidFill>
                      <a:srgbClr val="FFFFFF"/>
                    </a:solidFill>
                  </a:tcPr>
                </a:tc>
              </a:tr>
              <a:tr h="479679">
                <a:tc>
                  <a:txBody>
                    <a:bodyPr wrap="square"/>
                    <a:lstStyle/>
                    <a:p>
                      <a:pPr algn="l">
                        <a:lnSpc>
                          <a:spcPts val="1312"/>
                        </a:lnSpc>
                        <a:spcBef>
                          <a:spcPts val="0"/>
                        </a:spcBef>
                        <a:spcAft>
                          <a:spcPts val="0"/>
                        </a:spcAft>
                      </a:pPr>
                      <a:r>
                        <a:rPr sz="1050" b="1" i="0">
                          <a:solidFill>
                            <a:srgbClr val="141413"/>
                          </a:solidFill>
                          <a:latin typeface="Apple SD Gothic Neo"/>
                          <a:ea typeface="Apple SD Gothic Neo"/>
                        </a:rPr>
                        <a:t>모델 B · 정규 4차시형</a:t>
                      </a:r>
                    </a:p>
                  </a:txBody>
                  <a:tcPr marL="64008" marR="64008" marT="73152" marB="73152" anchor="ctr">
                    <a:lnL w="0">
                      <a:noFill/>
                    </a:lnL>
                    <a:lnR w="0">
                      <a:noFill/>
                    </a:lnR>
                    <a:lnT w="0">
                      <a:noFill/>
                    </a:lnT>
                    <a:lnB w="9525">
                      <a:solidFill>
                        <a:srgbClr val="DDDBD2"/>
                      </a:solidFill>
                    </a:lnB>
                    <a:solidFill>
                      <a:srgbClr val="FFE3A8"/>
                    </a:solidFill>
                  </a:tcPr>
                </a:tc>
                <a:tc>
                  <a:txBody>
                    <a:bodyPr wrap="square"/>
                    <a:lstStyle/>
                    <a:p>
                      <a:pPr algn="l">
                        <a:lnSpc>
                          <a:spcPts val="1312"/>
                        </a:lnSpc>
                        <a:spcBef>
                          <a:spcPts val="0"/>
                        </a:spcBef>
                        <a:spcAft>
                          <a:spcPts val="0"/>
                        </a:spcAft>
                      </a:pPr>
                      <a:r>
                        <a:rPr sz="1050" b="1" i="0">
                          <a:solidFill>
                            <a:srgbClr val="1E3A1E"/>
                          </a:solidFill>
                          <a:latin typeface="Menlo"/>
                          <a:ea typeface="Apple SD Gothic Neo"/>
                        </a:rPr>
                        <a:t>50분 × 4차시</a:t>
                      </a:r>
                    </a:p>
                  </a:txBody>
                  <a:tcPr marL="64008" marR="64008" marT="73152" marB="73152" anchor="ctr">
                    <a:lnL w="0">
                      <a:noFill/>
                    </a:lnL>
                    <a:lnR w="0">
                      <a:noFill/>
                    </a:lnR>
                    <a:lnT w="0">
                      <a:noFill/>
                    </a:lnT>
                    <a:lnB w="9525">
                      <a:solidFill>
                        <a:srgbClr val="DDDBD2"/>
                      </a:solidFill>
                    </a:lnB>
                    <a:solidFill>
                      <a:srgbClr val="FFFFFF"/>
                    </a:solidFill>
                  </a:tcPr>
                </a:tc>
                <a:tc>
                  <a:txBody>
                    <a:bodyPr wrap="square"/>
                    <a:lstStyle/>
                    <a:p>
                      <a:pPr algn="l">
                        <a:lnSpc>
                          <a:spcPts val="1312"/>
                        </a:lnSpc>
                        <a:spcBef>
                          <a:spcPts val="0"/>
                        </a:spcBef>
                        <a:spcAft>
                          <a:spcPts val="0"/>
                        </a:spcAft>
                      </a:pPr>
                      <a:r>
                        <a:rPr sz="1050" b="0" i="0">
                          <a:solidFill>
                            <a:srgbClr val="141413"/>
                          </a:solidFill>
                          <a:latin typeface="Apple SD Gothic Neo"/>
                          <a:ea typeface="Apple SD Gothic Neo"/>
                        </a:rPr>
                        <a:t>1차시: 발견(1.1~1.2) · 2차시: 최적화(2.1~2.2) · 3차시: 특허 및 동물실험 윤리·MRSD(3.1~3.2) · 4차시: IND 신청·임상·허가(3.3~4.2) 및 학급 주주총회 발표</a:t>
                      </a:r>
                    </a:p>
                  </a:txBody>
                  <a:tcPr marL="64008" marR="64008" marT="73152" marB="73152" anchor="ctr">
                    <a:lnL w="0">
                      <a:noFill/>
                    </a:lnL>
                    <a:lnR w="0">
                      <a:noFill/>
                    </a:lnR>
                    <a:lnT w="0">
                      <a:noFill/>
                    </a:lnT>
                    <a:lnB w="9525">
                      <a:solidFill>
                        <a:srgbClr val="DDDBD2"/>
                      </a:solidFill>
                    </a:lnB>
                    <a:solidFill>
                      <a:srgbClr val="FFFFFF"/>
                    </a:solidFill>
                  </a:tcPr>
                </a:tc>
              </a:tr>
              <a:tr h="479679">
                <a:tc>
                  <a:txBody>
                    <a:bodyPr wrap="square"/>
                    <a:lstStyle/>
                    <a:p>
                      <a:pPr algn="l">
                        <a:lnSpc>
                          <a:spcPts val="1312"/>
                        </a:lnSpc>
                        <a:spcBef>
                          <a:spcPts val="0"/>
                        </a:spcBef>
                        <a:spcAft>
                          <a:spcPts val="0"/>
                        </a:spcAft>
                      </a:pPr>
                      <a:r>
                        <a:rPr sz="1050" b="1" i="0">
                          <a:solidFill>
                            <a:srgbClr val="141413"/>
                          </a:solidFill>
                          <a:latin typeface="Apple SD Gothic Neo"/>
                          <a:ea typeface="Apple SD Gothic Neo"/>
                        </a:rPr>
                        <a:t>모델 C · 동아리/탐구형</a:t>
                      </a:r>
                    </a:p>
                  </a:txBody>
                  <a:tcPr marL="64008" marR="64008" marT="73152" marB="73152" anchor="ctr">
                    <a:lnL w="0">
                      <a:noFill/>
                    </a:lnL>
                    <a:lnR w="0">
                      <a:noFill/>
                    </a:lnR>
                    <a:lnT w="0">
                      <a:noFill/>
                    </a:lnT>
                    <a:lnB w="9525">
                      <a:solidFill>
                        <a:srgbClr val="DDDBD2"/>
                      </a:solidFill>
                    </a:lnB>
                    <a:solidFill>
                      <a:srgbClr val="D6E8FF"/>
                    </a:solidFill>
                  </a:tcPr>
                </a:tc>
                <a:tc>
                  <a:txBody>
                    <a:bodyPr wrap="square"/>
                    <a:lstStyle/>
                    <a:p>
                      <a:pPr algn="l">
                        <a:lnSpc>
                          <a:spcPts val="1312"/>
                        </a:lnSpc>
                        <a:spcBef>
                          <a:spcPts val="0"/>
                        </a:spcBef>
                        <a:spcAft>
                          <a:spcPts val="0"/>
                        </a:spcAft>
                      </a:pPr>
                      <a:r>
                        <a:rPr sz="1050" b="1" i="0">
                          <a:solidFill>
                            <a:srgbClr val="1E3A1E"/>
                          </a:solidFill>
                          <a:latin typeface="Menlo"/>
                          <a:ea typeface="Apple SD Gothic Neo"/>
                        </a:rPr>
                        <a:t>4~6차시 심화</a:t>
                      </a:r>
                    </a:p>
                  </a:txBody>
                  <a:tcPr marL="64008" marR="64008" marT="73152" marB="73152" anchor="ctr">
                    <a:lnL w="0">
                      <a:noFill/>
                    </a:lnL>
                    <a:lnR w="0">
                      <a:noFill/>
                    </a:lnR>
                    <a:lnT w="0">
                      <a:noFill/>
                    </a:lnT>
                    <a:lnB w="9525">
                      <a:solidFill>
                        <a:srgbClr val="DDDBD2"/>
                      </a:solidFill>
                    </a:lnB>
                    <a:solidFill>
                      <a:srgbClr val="FFFFFF"/>
                    </a:solidFill>
                  </a:tcPr>
                </a:tc>
                <a:tc>
                  <a:txBody>
                    <a:bodyPr wrap="square"/>
                    <a:lstStyle/>
                    <a:p>
                      <a:pPr algn="l">
                        <a:lnSpc>
                          <a:spcPts val="1312"/>
                        </a:lnSpc>
                        <a:spcBef>
                          <a:spcPts val="0"/>
                        </a:spcBef>
                        <a:spcAft>
                          <a:spcPts val="0"/>
                        </a:spcAft>
                      </a:pPr>
                      <a:r>
                        <a:rPr sz="1050" b="0" i="0">
                          <a:solidFill>
                            <a:srgbClr val="141413"/>
                          </a:solidFill>
                          <a:latin typeface="Apple SD Gothic Neo"/>
                          <a:ea typeface="Apple SD Gothic Neo"/>
                        </a:rPr>
                        <a:t>트랙 1(저분자 파이프라인 전 과정 완주 + 백업 재도전) 완료 후 트랙 2(항체 신약 ProteinMPNN · AlphaFold-Multimer 노트북) 연계 탐구</a:t>
                      </a:r>
                    </a:p>
                  </a:txBody>
                  <a:tcPr marL="64008" marR="64008" marT="73152" marB="73152" anchor="ctr">
                    <a:lnL w="0">
                      <a:noFill/>
                    </a:lnL>
                    <a:lnR w="0">
                      <a:noFill/>
                    </a:lnR>
                    <a:lnT w="0">
                      <a:noFill/>
                    </a:lnT>
                    <a:lnB w="9525">
                      <a:solidFill>
                        <a:srgbClr val="DDDBD2"/>
                      </a:solidFill>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EFE9"/>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FAF9F5"/>
          </a:solidFill>
          <a:ln>
            <a:noFill/>
          </a:ln>
        </p:spPr>
        <p:txBody>
          <a:bodyPr rtlCol="0" anchor="ctr"/>
          <a:lstStyle/>
          <a:p>
            <a:pPr algn="ctr"/>
          </a:p>
        </p:txBody>
      </p:sp>
      <p:sp>
        <p:nvSpPr>
          <p:cNvPr id="3" name="Rectangle 2"/>
          <p:cNvSpPr/>
          <p:nvPr/>
        </p:nvSpPr>
        <p:spPr>
          <a:xfrm>
            <a:off x="0" y="384048"/>
            <a:ext cx="12191695" cy="10973"/>
          </a:xfrm>
          <a:prstGeom prst="rect">
            <a:avLst/>
          </a:prstGeom>
          <a:solidFill>
            <a:srgbClr val="CFCDC4"/>
          </a:solidFill>
          <a:ln>
            <a:noFill/>
          </a:ln>
        </p:spPr>
        <p:txBody>
          <a:bodyPr rtlCol="0" anchor="ctr"/>
          <a:lstStyle/>
          <a:p>
            <a:pPr algn="ctr"/>
          </a:p>
        </p:txBody>
      </p:sp>
      <p:sp>
        <p:nvSpPr>
          <p:cNvPr id="4" name="Rounded Rectangle 3"/>
          <p:cNvSpPr/>
          <p:nvPr/>
        </p:nvSpPr>
        <p:spPr>
          <a:xfrm>
            <a:off x="457200" y="128016"/>
            <a:ext cx="128016" cy="128016"/>
          </a:xfrm>
          <a:prstGeom prst="roundRect">
            <a:avLst>
              <a:gd name="adj" fmla="val 21428"/>
            </a:avLst>
          </a:prstGeom>
          <a:solidFill>
            <a:srgbClr val="D4F94E"/>
          </a:solidFill>
          <a:ln>
            <a:noFill/>
          </a:ln>
        </p:spPr>
        <p:txBody>
          <a:bodyPr rtlCol="0" anchor="ctr"/>
          <a:lstStyle/>
          <a:p>
            <a:pPr algn="ctr"/>
          </a:p>
        </p:txBody>
      </p:sp>
      <p:sp>
        <p:nvSpPr>
          <p:cNvPr id="5" name="TextBox 4"/>
          <p:cNvSpPr txBox="1"/>
          <p:nvPr/>
        </p:nvSpPr>
        <p:spPr>
          <a:xfrm>
            <a:off x="676656" y="73152"/>
            <a:ext cx="3657600" cy="237744"/>
          </a:xfrm>
          <a:prstGeom prst="rect">
            <a:avLst/>
          </a:prstGeom>
          <a:noFill/>
        </p:spPr>
        <p:txBody>
          <a:bodyPr wrap="square" lIns="0" rIns="0" tIns="0" bIns="0" anchor="ctr">
            <a:noAutofit/>
          </a:bodyPr>
          <a:lstStyle/>
          <a:p>
            <a:pPr algn="l">
              <a:lnSpc>
                <a:spcPts val="1170"/>
              </a:lnSpc>
              <a:spcBef>
                <a:spcPts val="0"/>
              </a:spcBef>
              <a:spcAft>
                <a:spcPts val="0"/>
              </a:spcAft>
            </a:pPr>
            <a:r>
              <a:rPr sz="900" b="1" i="0" spc="100">
                <a:solidFill>
                  <a:srgbClr val="141413"/>
                </a:solidFill>
                <a:latin typeface="Menlo"/>
                <a:ea typeface="Apple SD Gothic Neo"/>
              </a:rPr>
              <a:t>CRISTA PIPELINE LAB</a:t>
            </a:r>
          </a:p>
        </p:txBody>
      </p:sp>
      <p:sp>
        <p:nvSpPr>
          <p:cNvPr id="6" name="TextBox 5"/>
          <p:cNvSpPr txBox="1"/>
          <p:nvPr/>
        </p:nvSpPr>
        <p:spPr>
          <a:xfrm>
            <a:off x="9905695" y="73152"/>
            <a:ext cx="1828800" cy="237744"/>
          </a:xfrm>
          <a:prstGeom prst="rect">
            <a:avLst/>
          </a:prstGeom>
          <a:noFill/>
        </p:spPr>
        <p:txBody>
          <a:bodyPr wrap="square" lIns="0" rIns="0" tIns="0" bIns="0" anchor="ctr">
            <a:noAutofit/>
          </a:bodyPr>
          <a:lstStyle/>
          <a:p>
            <a:pPr algn="r">
              <a:lnSpc>
                <a:spcPts val="1170"/>
              </a:lnSpc>
              <a:spcBef>
                <a:spcPts val="0"/>
              </a:spcBef>
              <a:spcAft>
                <a:spcPts val="0"/>
              </a:spcAft>
            </a:pPr>
            <a:r>
              <a:rPr sz="900" b="1" i="0">
                <a:solidFill>
                  <a:srgbClr val="5C5B56"/>
                </a:solidFill>
                <a:latin typeface="Menlo"/>
                <a:ea typeface="Apple SD Gothic Neo"/>
              </a:rPr>
              <a:t>26 / 26</a:t>
            </a:r>
          </a:p>
        </p:txBody>
      </p:sp>
      <p:sp>
        <p:nvSpPr>
          <p:cNvPr id="7" name="Rounded Rectangle 6"/>
          <p:cNvSpPr/>
          <p:nvPr/>
        </p:nvSpPr>
        <p:spPr>
          <a:xfrm>
            <a:off x="457200" y="566928"/>
            <a:ext cx="2305948" cy="292608"/>
          </a:xfrm>
          <a:prstGeom prst="roundRect">
            <a:avLst>
              <a:gd name="adj" fmla="val 50000"/>
            </a:avLst>
          </a:prstGeom>
          <a:solidFill>
            <a:srgbClr val="141413"/>
          </a:solidFill>
          <a:ln>
            <a:noFill/>
          </a:ln>
        </p:spPr>
        <p:txBody>
          <a:bodyPr rtlCol="0" anchor="ctr"/>
          <a:lstStyle/>
          <a:p>
            <a:pPr algn="ctr"/>
          </a:p>
        </p:txBody>
      </p:sp>
      <p:sp>
        <p:nvSpPr>
          <p:cNvPr id="8" name="Oval 7"/>
          <p:cNvSpPr/>
          <p:nvPr/>
        </p:nvSpPr>
        <p:spPr>
          <a:xfrm>
            <a:off x="585216" y="681228"/>
            <a:ext cx="64008" cy="64008"/>
          </a:xfrm>
          <a:prstGeom prst="ellipse">
            <a:avLst/>
          </a:prstGeom>
          <a:solidFill>
            <a:srgbClr val="FF6B4A"/>
          </a:solidFill>
          <a:ln>
            <a:noFill/>
          </a:ln>
        </p:spPr>
        <p:txBody>
          <a:bodyPr rtlCol="0" anchor="ctr"/>
          <a:lstStyle/>
          <a:p>
            <a:pPr algn="ctr"/>
          </a:p>
        </p:txBody>
      </p:sp>
      <p:sp>
        <p:nvSpPr>
          <p:cNvPr id="9" name="TextBox 8"/>
          <p:cNvSpPr txBox="1"/>
          <p:nvPr/>
        </p:nvSpPr>
        <p:spPr>
          <a:xfrm>
            <a:off x="713232" y="566928"/>
            <a:ext cx="2031628" cy="292608"/>
          </a:xfrm>
          <a:prstGeom prst="rect">
            <a:avLst/>
          </a:prstGeom>
          <a:noFill/>
        </p:spPr>
        <p:txBody>
          <a:bodyPr wrap="square" lIns="0" rIns="0" tIns="0" bIns="0" anchor="ctr">
            <a:noAutofit/>
          </a:bodyPr>
          <a:lstStyle/>
          <a:p>
            <a:pPr algn="l">
              <a:lnSpc>
                <a:spcPts val="1235"/>
              </a:lnSpc>
              <a:spcBef>
                <a:spcPts val="0"/>
              </a:spcBef>
              <a:spcAft>
                <a:spcPts val="0"/>
              </a:spcAft>
            </a:pPr>
            <a:r>
              <a:rPr sz="950" b="1" i="0" spc="80">
                <a:solidFill>
                  <a:srgbClr val="FFB21A"/>
                </a:solidFill>
                <a:latin typeface="Menlo"/>
                <a:ea typeface="Apple SD Gothic Neo"/>
              </a:rPr>
              <a:t>HANDS-ON · 선생님 직접 체험</a:t>
            </a:r>
          </a:p>
        </p:txBody>
      </p:sp>
      <p:sp>
        <p:nvSpPr>
          <p:cNvPr id="10" name="TextBox 9"/>
          <p:cNvSpPr txBox="1"/>
          <p:nvPr/>
        </p:nvSpPr>
        <p:spPr>
          <a:xfrm>
            <a:off x="457200" y="969264"/>
            <a:ext cx="11277295" cy="368300"/>
          </a:xfrm>
          <a:prstGeom prst="rect">
            <a:avLst/>
          </a:prstGeom>
          <a:noFill/>
        </p:spPr>
        <p:txBody>
          <a:bodyPr wrap="square" lIns="0" rIns="0" tIns="0" bIns="0" anchor="t">
            <a:noAutofit/>
          </a:bodyPr>
          <a:lstStyle/>
          <a:p>
            <a:pPr algn="l">
              <a:lnSpc>
                <a:spcPts val="2684"/>
              </a:lnSpc>
              <a:spcBef>
                <a:spcPts val="0"/>
              </a:spcBef>
              <a:spcAft>
                <a:spcPts val="0"/>
              </a:spcAft>
            </a:pPr>
            <a:r>
              <a:rPr sz="2200" b="1" i="0">
                <a:solidFill>
                  <a:srgbClr val="141413"/>
                </a:solidFill>
                <a:latin typeface="Apple SD Gothic Neo"/>
                <a:ea typeface="Apple SD Gothic Neo"/>
              </a:rPr>
              <a:t>[연수 실습] 지금 6자리 학급 코드로 접속해 바이오 스타트업을 세워 봅시다</a:t>
            </a:r>
          </a:p>
        </p:txBody>
      </p:sp>
      <p:sp>
        <p:nvSpPr>
          <p:cNvPr id="11" name="TextBox 10"/>
          <p:cNvSpPr txBox="1"/>
          <p:nvPr/>
        </p:nvSpPr>
        <p:spPr>
          <a:xfrm>
            <a:off x="457200" y="1374140"/>
            <a:ext cx="11277295" cy="231902"/>
          </a:xfrm>
          <a:prstGeom prst="rect">
            <a:avLst/>
          </a:prstGeom>
          <a:noFill/>
        </p:spPr>
        <p:txBody>
          <a:bodyPr wrap="square" lIns="0" rIns="0" tIns="0" bIns="0" anchor="t">
            <a:noAutofit/>
          </a:bodyPr>
          <a:lstStyle/>
          <a:p>
            <a:pPr algn="l">
              <a:lnSpc>
                <a:spcPts val="1609"/>
              </a:lnSpc>
              <a:spcBef>
                <a:spcPts val="0"/>
              </a:spcBef>
              <a:spcAft>
                <a:spcPts val="0"/>
              </a:spcAft>
            </a:pPr>
            <a:r>
              <a:rPr sz="1150" b="0" i="0">
                <a:solidFill>
                  <a:srgbClr val="5C5B56"/>
                </a:solidFill>
                <a:latin typeface="Apple SD Gothic Neo"/>
                <a:ea typeface="Apple SD Gothic Neo"/>
              </a:rPr>
              <a:t>선생님 네 분이 한 모둠이 되어 학생 화면 그대로 1.1 표적 선정부터 3.3 IND 신청까지 핵심 흐름을 체험합니다.</a:t>
            </a:r>
          </a:p>
        </p:txBody>
      </p:sp>
      <p:sp>
        <p:nvSpPr>
          <p:cNvPr id="12" name="TextBox 11"/>
          <p:cNvSpPr txBox="1"/>
          <p:nvPr/>
        </p:nvSpPr>
        <p:spPr>
          <a:xfrm>
            <a:off x="457200" y="1825498"/>
            <a:ext cx="11277295" cy="184277"/>
          </a:xfrm>
          <a:prstGeom prst="rect">
            <a:avLst/>
          </a:prstGeom>
          <a:noFill/>
        </p:spPr>
        <p:txBody>
          <a:bodyPr wrap="square" lIns="0" rIns="0" tIns="0" bIns="0" anchor="t">
            <a:noAutofit/>
          </a:bodyPr>
          <a:lstStyle/>
          <a:p>
            <a:pPr algn="l">
              <a:lnSpc>
                <a:spcPts val="1235"/>
              </a:lnSpc>
              <a:spcBef>
                <a:spcPts val="0"/>
              </a:spcBef>
              <a:spcAft>
                <a:spcPts val="0"/>
              </a:spcAft>
            </a:pPr>
            <a:r>
              <a:rPr sz="950" b="1" i="0" spc="50">
                <a:solidFill>
                  <a:srgbClr val="5C5B56"/>
                </a:solidFill>
                <a:latin typeface="Menlo"/>
                <a:ea typeface="Apple SD Gothic Neo"/>
              </a:rPr>
              <a:t>실습 4단계 체크리스트 (25분)</a:t>
            </a:r>
          </a:p>
        </p:txBody>
      </p:sp>
      <p:sp>
        <p:nvSpPr>
          <p:cNvPr id="13" name="Rounded Rectangle 12"/>
          <p:cNvSpPr/>
          <p:nvPr/>
        </p:nvSpPr>
        <p:spPr>
          <a:xfrm>
            <a:off x="457200" y="2082927"/>
            <a:ext cx="1298411" cy="128016"/>
          </a:xfrm>
          <a:prstGeom prst="roundRect">
            <a:avLst>
              <a:gd name="adj" fmla="val 50000"/>
            </a:avLst>
          </a:prstGeom>
          <a:solidFill>
            <a:srgbClr val="D4F94E"/>
          </a:solidFill>
          <a:ln>
            <a:noFill/>
          </a:ln>
        </p:spPr>
        <p:txBody>
          <a:bodyPr rtlCol="0" anchor="ctr"/>
          <a:lstStyle/>
          <a:p>
            <a:pPr algn="ctr"/>
          </a:p>
        </p:txBody>
      </p:sp>
      <p:sp>
        <p:nvSpPr>
          <p:cNvPr id="14" name="Rounded Rectangle 13"/>
          <p:cNvSpPr/>
          <p:nvPr/>
        </p:nvSpPr>
        <p:spPr>
          <a:xfrm>
            <a:off x="1837907" y="2082927"/>
            <a:ext cx="3102779" cy="128016"/>
          </a:xfrm>
          <a:prstGeom prst="roundRect">
            <a:avLst>
              <a:gd name="adj" fmla="val 50000"/>
            </a:avLst>
          </a:prstGeom>
          <a:solidFill>
            <a:srgbClr val="FFB21A"/>
          </a:solidFill>
          <a:ln>
            <a:noFill/>
          </a:ln>
        </p:spPr>
        <p:txBody>
          <a:bodyPr rtlCol="0" anchor="ctr"/>
          <a:lstStyle/>
          <a:p>
            <a:pPr algn="ctr"/>
          </a:p>
        </p:txBody>
      </p:sp>
      <p:sp>
        <p:nvSpPr>
          <p:cNvPr id="15" name="Rounded Rectangle 14"/>
          <p:cNvSpPr/>
          <p:nvPr/>
        </p:nvSpPr>
        <p:spPr>
          <a:xfrm>
            <a:off x="4995550" y="2082927"/>
            <a:ext cx="3102779" cy="128016"/>
          </a:xfrm>
          <a:prstGeom prst="roundRect">
            <a:avLst>
              <a:gd name="adj" fmla="val 50000"/>
            </a:avLst>
          </a:prstGeom>
          <a:solidFill>
            <a:srgbClr val="7FB8FF"/>
          </a:solidFill>
          <a:ln>
            <a:noFill/>
          </a:ln>
        </p:spPr>
        <p:txBody>
          <a:bodyPr rtlCol="0" anchor="ctr"/>
          <a:lstStyle/>
          <a:p>
            <a:pPr algn="ctr"/>
          </a:p>
        </p:txBody>
      </p:sp>
      <p:sp>
        <p:nvSpPr>
          <p:cNvPr id="16" name="Rounded Rectangle 15"/>
          <p:cNvSpPr/>
          <p:nvPr/>
        </p:nvSpPr>
        <p:spPr>
          <a:xfrm>
            <a:off x="8153193" y="2082927"/>
            <a:ext cx="3581302" cy="128016"/>
          </a:xfrm>
          <a:prstGeom prst="roundRect">
            <a:avLst>
              <a:gd name="adj" fmla="val 50000"/>
            </a:avLst>
          </a:prstGeom>
          <a:solidFill>
            <a:srgbClr val="B79CFF"/>
          </a:solidFill>
          <a:ln>
            <a:noFill/>
          </a:ln>
        </p:spPr>
        <p:txBody>
          <a:bodyPr rtlCol="0" anchor="ctr"/>
          <a:lstStyle/>
          <a:p>
            <a:pPr algn="ctr"/>
          </a:p>
        </p:txBody>
      </p:sp>
      <p:sp>
        <p:nvSpPr>
          <p:cNvPr id="17" name="Rounded Rectangle 16"/>
          <p:cNvSpPr/>
          <p:nvPr/>
        </p:nvSpPr>
        <p:spPr>
          <a:xfrm>
            <a:off x="457200" y="2357247"/>
            <a:ext cx="11277295" cy="933164"/>
          </a:xfrm>
          <a:prstGeom prst="roundRect">
            <a:avLst>
              <a:gd name="adj" fmla="val 17638"/>
            </a:avLst>
          </a:prstGeom>
          <a:solidFill>
            <a:srgbClr val="FFFFFF"/>
          </a:solidFill>
          <a:ln>
            <a:noFill/>
          </a:ln>
        </p:spPr>
        <p:txBody>
          <a:bodyPr rtlCol="0" anchor="ctr"/>
          <a:lstStyle/>
          <a:p>
            <a:pPr algn="ctr"/>
          </a:p>
        </p:txBody>
      </p:sp>
      <p:sp>
        <p:nvSpPr>
          <p:cNvPr id="18" name="Rectangle 17"/>
          <p:cNvSpPr/>
          <p:nvPr/>
        </p:nvSpPr>
        <p:spPr>
          <a:xfrm>
            <a:off x="457200" y="2540127"/>
            <a:ext cx="73152" cy="567404"/>
          </a:xfrm>
          <a:prstGeom prst="rect">
            <a:avLst/>
          </a:prstGeom>
          <a:solidFill>
            <a:srgbClr val="D4F94E"/>
          </a:solidFill>
          <a:ln>
            <a:noFill/>
          </a:ln>
        </p:spPr>
        <p:txBody>
          <a:bodyPr rtlCol="0" anchor="ctr"/>
          <a:lstStyle/>
          <a:p>
            <a:pPr algn="ctr"/>
          </a:p>
        </p:txBody>
      </p:sp>
      <p:sp>
        <p:nvSpPr>
          <p:cNvPr id="19" name="Rounded Rectangle 18"/>
          <p:cNvSpPr/>
          <p:nvPr/>
        </p:nvSpPr>
        <p:spPr>
          <a:xfrm>
            <a:off x="731520" y="2686669"/>
            <a:ext cx="274320" cy="274320"/>
          </a:xfrm>
          <a:prstGeom prst="roundRect">
            <a:avLst>
              <a:gd name="adj" fmla="val 20000"/>
            </a:avLst>
          </a:prstGeom>
          <a:solidFill>
            <a:srgbClr val="FFFFFF"/>
          </a:solidFill>
          <a:ln w="19050">
            <a:solidFill>
              <a:srgbClr val="141413"/>
            </a:solidFill>
          </a:ln>
        </p:spPr>
        <p:txBody>
          <a:bodyPr rtlCol="0" anchor="ctr"/>
          <a:lstStyle/>
          <a:p>
            <a:pPr algn="ctr"/>
          </a:p>
        </p:txBody>
      </p:sp>
      <p:sp>
        <p:nvSpPr>
          <p:cNvPr id="20" name="TextBox 19"/>
          <p:cNvSpPr txBox="1"/>
          <p:nvPr/>
        </p:nvSpPr>
        <p:spPr>
          <a:xfrm>
            <a:off x="1207008" y="2357247"/>
            <a:ext cx="3291840" cy="933164"/>
          </a:xfrm>
          <a:prstGeom prst="rect">
            <a:avLst/>
          </a:prstGeom>
          <a:noFill/>
        </p:spPr>
        <p:txBody>
          <a:bodyPr wrap="square" lIns="0" rIns="0" tIns="0" bIns="0" anchor="ctr">
            <a:noAutofit/>
          </a:bodyPr>
          <a:lstStyle/>
          <a:p>
            <a:pPr algn="l">
              <a:lnSpc>
                <a:spcPts val="1690"/>
              </a:lnSpc>
              <a:spcBef>
                <a:spcPts val="0"/>
              </a:spcBef>
              <a:spcAft>
                <a:spcPts val="0"/>
              </a:spcAft>
            </a:pPr>
            <a:r>
              <a:rPr sz="1300" b="1" i="0">
                <a:solidFill>
                  <a:srgbClr val="141413"/>
                </a:solidFill>
                <a:latin typeface="Apple SD Gothic Neo"/>
                <a:ea typeface="Apple SD Gothic Neo"/>
              </a:rPr>
              <a:t>Step 1 · 입사와 설립 등기 (3분)</a:t>
            </a:r>
          </a:p>
        </p:txBody>
      </p:sp>
      <p:sp>
        <p:nvSpPr>
          <p:cNvPr id="21" name="TextBox 20"/>
          <p:cNvSpPr txBox="1"/>
          <p:nvPr/>
        </p:nvSpPr>
        <p:spPr>
          <a:xfrm>
            <a:off x="4663440" y="2357247"/>
            <a:ext cx="6842455" cy="933164"/>
          </a:xfrm>
          <a:prstGeom prst="rect">
            <a:avLst/>
          </a:prstGeom>
          <a:noFill/>
        </p:spPr>
        <p:txBody>
          <a:bodyPr wrap="square" lIns="0" rIns="0" tIns="0" bIns="0" anchor="ctr">
            <a:noAutofit/>
          </a:bodyPr>
          <a:lstStyle/>
          <a:p>
            <a:pPr algn="l">
              <a:lnSpc>
                <a:spcPts val="1667"/>
              </a:lnSpc>
              <a:spcBef>
                <a:spcPts val="0"/>
              </a:spcBef>
              <a:spcAft>
                <a:spcPts val="0"/>
              </a:spcAft>
            </a:pPr>
            <a:r>
              <a:rPr sz="1150" b="0" i="0">
                <a:solidFill>
                  <a:srgbClr val="5C5B56"/>
                </a:solidFill>
                <a:latin typeface="Apple SD Gothic Neo"/>
                <a:ea typeface="Apple SD Gothic Neo"/>
              </a:rPr>
              <a:t>연수용 학급 코드 입력 → CEO·CSO·CTO·CMO 직책 선택 → 사옥 지구에서 우리 모둠 사옥 입사 → 스타트업 이름·티커 등기 후 전광판 상장 소식 확인</a:t>
            </a:r>
          </a:p>
        </p:txBody>
      </p:sp>
      <p:sp>
        <p:nvSpPr>
          <p:cNvPr id="22" name="Rounded Rectangle 21"/>
          <p:cNvSpPr/>
          <p:nvPr/>
        </p:nvSpPr>
        <p:spPr>
          <a:xfrm>
            <a:off x="457200" y="3418427"/>
            <a:ext cx="11277295" cy="933164"/>
          </a:xfrm>
          <a:prstGeom prst="roundRect">
            <a:avLst>
              <a:gd name="adj" fmla="val 17638"/>
            </a:avLst>
          </a:prstGeom>
          <a:solidFill>
            <a:srgbClr val="FFFFFF"/>
          </a:solidFill>
          <a:ln>
            <a:noFill/>
          </a:ln>
        </p:spPr>
        <p:txBody>
          <a:bodyPr rtlCol="0" anchor="ctr"/>
          <a:lstStyle/>
          <a:p>
            <a:pPr algn="ctr"/>
          </a:p>
        </p:txBody>
      </p:sp>
      <p:sp>
        <p:nvSpPr>
          <p:cNvPr id="23" name="Rectangle 22"/>
          <p:cNvSpPr/>
          <p:nvPr/>
        </p:nvSpPr>
        <p:spPr>
          <a:xfrm>
            <a:off x="457200" y="3601307"/>
            <a:ext cx="73152" cy="567404"/>
          </a:xfrm>
          <a:prstGeom prst="rect">
            <a:avLst/>
          </a:prstGeom>
          <a:solidFill>
            <a:srgbClr val="FFB21A"/>
          </a:solidFill>
          <a:ln>
            <a:noFill/>
          </a:ln>
        </p:spPr>
        <p:txBody>
          <a:bodyPr rtlCol="0" anchor="ctr"/>
          <a:lstStyle/>
          <a:p>
            <a:pPr algn="ctr"/>
          </a:p>
        </p:txBody>
      </p:sp>
      <p:sp>
        <p:nvSpPr>
          <p:cNvPr id="24" name="Rounded Rectangle 23"/>
          <p:cNvSpPr/>
          <p:nvPr/>
        </p:nvSpPr>
        <p:spPr>
          <a:xfrm>
            <a:off x="731520" y="3747849"/>
            <a:ext cx="274320" cy="274320"/>
          </a:xfrm>
          <a:prstGeom prst="roundRect">
            <a:avLst>
              <a:gd name="adj" fmla="val 20000"/>
            </a:avLst>
          </a:prstGeom>
          <a:solidFill>
            <a:srgbClr val="FFFFFF"/>
          </a:solidFill>
          <a:ln w="19050">
            <a:solidFill>
              <a:srgbClr val="141413"/>
            </a:solidFill>
          </a:ln>
        </p:spPr>
        <p:txBody>
          <a:bodyPr rtlCol="0" anchor="ctr"/>
          <a:lstStyle/>
          <a:p>
            <a:pPr algn="ctr"/>
          </a:p>
        </p:txBody>
      </p:sp>
      <p:sp>
        <p:nvSpPr>
          <p:cNvPr id="25" name="TextBox 24"/>
          <p:cNvSpPr txBox="1"/>
          <p:nvPr/>
        </p:nvSpPr>
        <p:spPr>
          <a:xfrm>
            <a:off x="1207008" y="3418427"/>
            <a:ext cx="3291840" cy="933164"/>
          </a:xfrm>
          <a:prstGeom prst="rect">
            <a:avLst/>
          </a:prstGeom>
          <a:noFill/>
        </p:spPr>
        <p:txBody>
          <a:bodyPr wrap="square" lIns="0" rIns="0" tIns="0" bIns="0" anchor="ctr">
            <a:noAutofit/>
          </a:bodyPr>
          <a:lstStyle/>
          <a:p>
            <a:pPr algn="l">
              <a:lnSpc>
                <a:spcPts val="1690"/>
              </a:lnSpc>
              <a:spcBef>
                <a:spcPts val="0"/>
              </a:spcBef>
              <a:spcAft>
                <a:spcPts val="0"/>
              </a:spcAft>
            </a:pPr>
            <a:r>
              <a:rPr sz="1300" b="1" i="0">
                <a:solidFill>
                  <a:srgbClr val="141413"/>
                </a:solidFill>
                <a:latin typeface="Apple SD Gothic Neo"/>
                <a:ea typeface="Apple SD Gothic Neo"/>
              </a:rPr>
              <a:t>Step 2 · 표적 선정과 스크리닝 기준 회의 (7분)</a:t>
            </a:r>
          </a:p>
        </p:txBody>
      </p:sp>
      <p:sp>
        <p:nvSpPr>
          <p:cNvPr id="26" name="TextBox 25"/>
          <p:cNvSpPr txBox="1"/>
          <p:nvPr/>
        </p:nvSpPr>
        <p:spPr>
          <a:xfrm>
            <a:off x="4663440" y="3418427"/>
            <a:ext cx="6842455" cy="933164"/>
          </a:xfrm>
          <a:prstGeom prst="rect">
            <a:avLst/>
          </a:prstGeom>
          <a:noFill/>
        </p:spPr>
        <p:txBody>
          <a:bodyPr wrap="square" lIns="0" rIns="0" tIns="0" bIns="0" anchor="ctr">
            <a:noAutofit/>
          </a:bodyPr>
          <a:lstStyle/>
          <a:p>
            <a:pPr algn="l">
              <a:lnSpc>
                <a:spcPts val="1667"/>
              </a:lnSpc>
              <a:spcBef>
                <a:spcPts val="0"/>
              </a:spcBef>
              <a:spcAft>
                <a:spcPts val="0"/>
              </a:spcAft>
            </a:pPr>
            <a:r>
              <a:rPr sz="1150" b="0" i="0">
                <a:solidFill>
                  <a:srgbClr val="5C5B56"/>
                </a:solidFill>
                <a:latin typeface="Apple SD Gothic Neo"/>
                <a:ea typeface="Apple SD Gothic Neo"/>
              </a:rPr>
              <a:t>1.1에서 4대 질환군을 한 분씩 맡아 탐색 후 표적 확정 → 1.2 내 작업대 '기준 설계실'과 '화학 공간 울타리'에서 220종 분포·농축도 확인 → 6개 안건 제안·과반 투표 합의 → 통과 분자 1인 2개씩 근거 골라 찜</a:t>
            </a:r>
          </a:p>
        </p:txBody>
      </p:sp>
      <p:sp>
        <p:nvSpPr>
          <p:cNvPr id="27" name="Rounded Rectangle 26"/>
          <p:cNvSpPr/>
          <p:nvPr/>
        </p:nvSpPr>
        <p:spPr>
          <a:xfrm>
            <a:off x="457200" y="4479608"/>
            <a:ext cx="11277295" cy="933164"/>
          </a:xfrm>
          <a:prstGeom prst="roundRect">
            <a:avLst>
              <a:gd name="adj" fmla="val 17638"/>
            </a:avLst>
          </a:prstGeom>
          <a:solidFill>
            <a:srgbClr val="FFFFFF"/>
          </a:solidFill>
          <a:ln>
            <a:noFill/>
          </a:ln>
        </p:spPr>
        <p:txBody>
          <a:bodyPr rtlCol="0" anchor="ctr"/>
          <a:lstStyle/>
          <a:p>
            <a:pPr algn="ctr"/>
          </a:p>
        </p:txBody>
      </p:sp>
      <p:sp>
        <p:nvSpPr>
          <p:cNvPr id="28" name="Rectangle 27"/>
          <p:cNvSpPr/>
          <p:nvPr/>
        </p:nvSpPr>
        <p:spPr>
          <a:xfrm>
            <a:off x="457200" y="4662488"/>
            <a:ext cx="73152" cy="567404"/>
          </a:xfrm>
          <a:prstGeom prst="rect">
            <a:avLst/>
          </a:prstGeom>
          <a:solidFill>
            <a:srgbClr val="7FB8FF"/>
          </a:solidFill>
          <a:ln>
            <a:noFill/>
          </a:ln>
        </p:spPr>
        <p:txBody>
          <a:bodyPr rtlCol="0" anchor="ctr"/>
          <a:lstStyle/>
          <a:p>
            <a:pPr algn="ctr"/>
          </a:p>
        </p:txBody>
      </p:sp>
      <p:sp>
        <p:nvSpPr>
          <p:cNvPr id="29" name="Rounded Rectangle 28"/>
          <p:cNvSpPr/>
          <p:nvPr/>
        </p:nvSpPr>
        <p:spPr>
          <a:xfrm>
            <a:off x="731520" y="4809030"/>
            <a:ext cx="274320" cy="274320"/>
          </a:xfrm>
          <a:prstGeom prst="roundRect">
            <a:avLst>
              <a:gd name="adj" fmla="val 20000"/>
            </a:avLst>
          </a:prstGeom>
          <a:solidFill>
            <a:srgbClr val="FFFFFF"/>
          </a:solidFill>
          <a:ln w="19050">
            <a:solidFill>
              <a:srgbClr val="141413"/>
            </a:solidFill>
          </a:ln>
        </p:spPr>
        <p:txBody>
          <a:bodyPr rtlCol="0" anchor="ctr"/>
          <a:lstStyle/>
          <a:p>
            <a:pPr algn="ctr"/>
          </a:p>
        </p:txBody>
      </p:sp>
      <p:sp>
        <p:nvSpPr>
          <p:cNvPr id="30" name="TextBox 29"/>
          <p:cNvSpPr txBox="1"/>
          <p:nvPr/>
        </p:nvSpPr>
        <p:spPr>
          <a:xfrm>
            <a:off x="1207008" y="4479608"/>
            <a:ext cx="3291840" cy="933164"/>
          </a:xfrm>
          <a:prstGeom prst="rect">
            <a:avLst/>
          </a:prstGeom>
          <a:noFill/>
        </p:spPr>
        <p:txBody>
          <a:bodyPr wrap="square" lIns="0" rIns="0" tIns="0" bIns="0" anchor="ctr">
            <a:noAutofit/>
          </a:bodyPr>
          <a:lstStyle/>
          <a:p>
            <a:pPr algn="l">
              <a:lnSpc>
                <a:spcPts val="1690"/>
              </a:lnSpc>
              <a:spcBef>
                <a:spcPts val="0"/>
              </a:spcBef>
              <a:spcAft>
                <a:spcPts val="0"/>
              </a:spcAft>
            </a:pPr>
            <a:r>
              <a:rPr sz="1300" b="1" i="0">
                <a:solidFill>
                  <a:srgbClr val="141413"/>
                </a:solidFill>
                <a:latin typeface="Apple SD Gothic Neo"/>
                <a:ea typeface="Apple SD Gothic Neo"/>
              </a:rPr>
              <a:t>Step 3 · 도킹·변형과 ADMET 특허 후보 선정 (7분)</a:t>
            </a:r>
          </a:p>
        </p:txBody>
      </p:sp>
      <p:sp>
        <p:nvSpPr>
          <p:cNvPr id="31" name="TextBox 30"/>
          <p:cNvSpPr txBox="1"/>
          <p:nvPr/>
        </p:nvSpPr>
        <p:spPr>
          <a:xfrm>
            <a:off x="4663440" y="4479608"/>
            <a:ext cx="6842455" cy="933164"/>
          </a:xfrm>
          <a:prstGeom prst="rect">
            <a:avLst/>
          </a:prstGeom>
          <a:noFill/>
        </p:spPr>
        <p:txBody>
          <a:bodyPr wrap="square" lIns="0" rIns="0" tIns="0" bIns="0" anchor="ctr">
            <a:noAutofit/>
          </a:bodyPr>
          <a:lstStyle/>
          <a:p>
            <a:pPr algn="l">
              <a:lnSpc>
                <a:spcPts val="1667"/>
              </a:lnSpc>
              <a:spcBef>
                <a:spcPts val="0"/>
              </a:spcBef>
              <a:spcAft>
                <a:spcPts val="0"/>
              </a:spcAft>
            </a:pPr>
            <a:r>
              <a:rPr sz="1150" b="0" i="0">
                <a:solidFill>
                  <a:srgbClr val="5C5B56"/>
                </a:solidFill>
                <a:latin typeface="Apple SD Gothic Neo"/>
                <a:ea typeface="Apple SD Gothic Neo"/>
              </a:rPr>
              <a:t>2.1에서 찜한 후보 도킹 실행 → 수심계 눈금·10배 계단 확인 및 작용기 변형 재도킹 → 2.2 신호등 표·몸속 여행 지도로 특허 후보 추천</a:t>
            </a:r>
          </a:p>
        </p:txBody>
      </p:sp>
      <p:sp>
        <p:nvSpPr>
          <p:cNvPr id="32" name="Rounded Rectangle 31"/>
          <p:cNvSpPr/>
          <p:nvPr/>
        </p:nvSpPr>
        <p:spPr>
          <a:xfrm>
            <a:off x="457200" y="5540788"/>
            <a:ext cx="11277295" cy="933164"/>
          </a:xfrm>
          <a:prstGeom prst="roundRect">
            <a:avLst>
              <a:gd name="adj" fmla="val 17638"/>
            </a:avLst>
          </a:prstGeom>
          <a:solidFill>
            <a:srgbClr val="FFFFFF"/>
          </a:solidFill>
          <a:ln>
            <a:noFill/>
          </a:ln>
        </p:spPr>
        <p:txBody>
          <a:bodyPr rtlCol="0" anchor="ctr"/>
          <a:lstStyle/>
          <a:p>
            <a:pPr algn="ctr"/>
          </a:p>
        </p:txBody>
      </p:sp>
      <p:sp>
        <p:nvSpPr>
          <p:cNvPr id="33" name="Rectangle 32"/>
          <p:cNvSpPr/>
          <p:nvPr/>
        </p:nvSpPr>
        <p:spPr>
          <a:xfrm>
            <a:off x="457200" y="5723668"/>
            <a:ext cx="73152" cy="567404"/>
          </a:xfrm>
          <a:prstGeom prst="rect">
            <a:avLst/>
          </a:prstGeom>
          <a:solidFill>
            <a:srgbClr val="B79CFF"/>
          </a:solidFill>
          <a:ln>
            <a:noFill/>
          </a:ln>
        </p:spPr>
        <p:txBody>
          <a:bodyPr rtlCol="0" anchor="ctr"/>
          <a:lstStyle/>
          <a:p>
            <a:pPr algn="ctr"/>
          </a:p>
        </p:txBody>
      </p:sp>
      <p:sp>
        <p:nvSpPr>
          <p:cNvPr id="34" name="Rounded Rectangle 33"/>
          <p:cNvSpPr/>
          <p:nvPr/>
        </p:nvSpPr>
        <p:spPr>
          <a:xfrm>
            <a:off x="731520" y="5870210"/>
            <a:ext cx="274320" cy="274320"/>
          </a:xfrm>
          <a:prstGeom prst="roundRect">
            <a:avLst>
              <a:gd name="adj" fmla="val 20000"/>
            </a:avLst>
          </a:prstGeom>
          <a:solidFill>
            <a:srgbClr val="FFFFFF"/>
          </a:solidFill>
          <a:ln w="19050">
            <a:solidFill>
              <a:srgbClr val="141413"/>
            </a:solidFill>
          </a:ln>
        </p:spPr>
        <p:txBody>
          <a:bodyPr rtlCol="0" anchor="ctr"/>
          <a:lstStyle/>
          <a:p>
            <a:pPr algn="ctr"/>
          </a:p>
        </p:txBody>
      </p:sp>
      <p:sp>
        <p:nvSpPr>
          <p:cNvPr id="35" name="TextBox 34"/>
          <p:cNvSpPr txBox="1"/>
          <p:nvPr/>
        </p:nvSpPr>
        <p:spPr>
          <a:xfrm>
            <a:off x="1207008" y="5540788"/>
            <a:ext cx="3291840" cy="933164"/>
          </a:xfrm>
          <a:prstGeom prst="rect">
            <a:avLst/>
          </a:prstGeom>
          <a:noFill/>
        </p:spPr>
        <p:txBody>
          <a:bodyPr wrap="square" lIns="0" rIns="0" tIns="0" bIns="0" anchor="ctr">
            <a:noAutofit/>
          </a:bodyPr>
          <a:lstStyle/>
          <a:p>
            <a:pPr algn="l">
              <a:lnSpc>
                <a:spcPts val="1690"/>
              </a:lnSpc>
              <a:spcBef>
                <a:spcPts val="0"/>
              </a:spcBef>
              <a:spcAft>
                <a:spcPts val="0"/>
              </a:spcAft>
            </a:pPr>
            <a:r>
              <a:rPr sz="1300" b="1" i="0">
                <a:solidFill>
                  <a:srgbClr val="141413"/>
                </a:solidFill>
                <a:latin typeface="Apple SD Gothic Neo"/>
                <a:ea typeface="Apple SD Gothic Neo"/>
              </a:rPr>
              <a:t>Step 4 · 물질특허 출원 · 동물실험 윤리(MRSD) · IND 신청 (8분)</a:t>
            </a:r>
          </a:p>
        </p:txBody>
      </p:sp>
      <p:sp>
        <p:nvSpPr>
          <p:cNvPr id="36" name="TextBox 35"/>
          <p:cNvSpPr txBox="1"/>
          <p:nvPr/>
        </p:nvSpPr>
        <p:spPr>
          <a:xfrm>
            <a:off x="4663440" y="5540788"/>
            <a:ext cx="6842455" cy="933164"/>
          </a:xfrm>
          <a:prstGeom prst="rect">
            <a:avLst/>
          </a:prstGeom>
          <a:noFill/>
        </p:spPr>
        <p:txBody>
          <a:bodyPr wrap="square" lIns="0" rIns="0" tIns="0" bIns="0" anchor="ctr">
            <a:noAutofit/>
          </a:bodyPr>
          <a:lstStyle/>
          <a:p>
            <a:pPr algn="l">
              <a:lnSpc>
                <a:spcPts val="1667"/>
              </a:lnSpc>
              <a:spcBef>
                <a:spcPts val="0"/>
              </a:spcBef>
              <a:spcAft>
                <a:spcPts val="0"/>
              </a:spcAft>
            </a:pPr>
            <a:r>
              <a:rPr sz="1150" b="0" i="0">
                <a:solidFill>
                  <a:srgbClr val="5C5B56"/>
                </a:solidFill>
                <a:latin typeface="Apple SD Gothic Neo"/>
                <a:ea typeface="Apple SD Gothic Neo"/>
              </a:rPr>
              <a:t>3.1 코드명 해부도와 출원서 칸 분담 작성 후 학급 특허 원장 등재 확인 → 3.2 윤리 교육·계획서 심의 및 MRSD 계산 → 3.3 what-if 실험실로 제형·용량 설계 후 IND 신청서 제출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CRISTA 파이프라인 랩 — 교사 연수</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